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307" r:id="rId4"/>
    <p:sldId id="258" r:id="rId5"/>
    <p:sldId id="259" r:id="rId6"/>
    <p:sldId id="289" r:id="rId7"/>
    <p:sldId id="337" r:id="rId8"/>
    <p:sldId id="260" r:id="rId9"/>
    <p:sldId id="261" r:id="rId10"/>
    <p:sldId id="262" r:id="rId11"/>
    <p:sldId id="264" r:id="rId12"/>
    <p:sldId id="265" r:id="rId13"/>
    <p:sldId id="266" r:id="rId14"/>
    <p:sldId id="267" r:id="rId15"/>
    <p:sldId id="326" r:id="rId16"/>
    <p:sldId id="268" r:id="rId17"/>
    <p:sldId id="269" r:id="rId18"/>
    <p:sldId id="327" r:id="rId19"/>
    <p:sldId id="324" r:id="rId20"/>
    <p:sldId id="270" r:id="rId21"/>
    <p:sldId id="271" r:id="rId22"/>
    <p:sldId id="325" r:id="rId23"/>
    <p:sldId id="333" r:id="rId24"/>
    <p:sldId id="334" r:id="rId25"/>
    <p:sldId id="272" r:id="rId26"/>
    <p:sldId id="273" r:id="rId27"/>
    <p:sldId id="274" r:id="rId28"/>
    <p:sldId id="275" r:id="rId29"/>
    <p:sldId id="332" r:id="rId30"/>
    <p:sldId id="276" r:id="rId31"/>
    <p:sldId id="335" r:id="rId32"/>
    <p:sldId id="282" r:id="rId33"/>
    <p:sldId id="340" r:id="rId34"/>
    <p:sldId id="277" r:id="rId35"/>
    <p:sldId id="278" r:id="rId36"/>
    <p:sldId id="279" r:id="rId37"/>
    <p:sldId id="280" r:id="rId38"/>
    <p:sldId id="338" r:id="rId39"/>
    <p:sldId id="285" r:id="rId40"/>
    <p:sldId id="281" r:id="rId41"/>
    <p:sldId id="284" r:id="rId42"/>
    <p:sldId id="283" r:id="rId43"/>
    <p:sldId id="287" r:id="rId44"/>
    <p:sldId id="288" r:id="rId45"/>
    <p:sldId id="336" r:id="rId46"/>
    <p:sldId id="339" r:id="rId47"/>
    <p:sldId id="331"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6" r:id="rId61"/>
    <p:sldId id="308" r:id="rId62"/>
    <p:sldId id="309" r:id="rId63"/>
    <p:sldId id="310" r:id="rId64"/>
    <p:sldId id="311" r:id="rId65"/>
    <p:sldId id="312" r:id="rId66"/>
    <p:sldId id="313" r:id="rId67"/>
    <p:sldId id="302" r:id="rId68"/>
    <p:sldId id="319" r:id="rId69"/>
    <p:sldId id="317" r:id="rId70"/>
    <p:sldId id="318" r:id="rId71"/>
    <p:sldId id="303" r:id="rId72"/>
    <p:sldId id="314" r:id="rId73"/>
    <p:sldId id="315" r:id="rId74"/>
    <p:sldId id="316" r:id="rId75"/>
    <p:sldId id="305" r:id="rId76"/>
    <p:sldId id="304" r:id="rId77"/>
    <p:sldId id="320" r:id="rId78"/>
    <p:sldId id="321" r:id="rId79"/>
    <p:sldId id="322" r:id="rId80"/>
    <p:sldId id="323" r:id="rId81"/>
    <p:sldId id="328" r:id="rId82"/>
    <p:sldId id="329" r:id="rId83"/>
    <p:sldId id="330" r:id="rId8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379931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7825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2276405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3F79F581-B3F2-4A84-A61B-0CB00E8A29A5}" type="datetimeFigureOut">
              <a:rPr lang="es-ES" smtClean="0"/>
              <a:t>27/10/2015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791068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3F79F581-B3F2-4A84-A61B-0CB00E8A29A5}" type="datetimeFigureOut">
              <a:rPr lang="es-ES" smtClean="0"/>
              <a:t>27/10/2015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315970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3F79F581-B3F2-4A84-A61B-0CB00E8A29A5}" type="datetimeFigureOut">
              <a:rPr lang="es-ES" smtClean="0"/>
              <a:t>27/10/2015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2327637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79F581-B3F2-4A84-A61B-0CB00E8A29A5}" type="datetimeFigureOut">
              <a:rPr lang="es-ES" smtClean="0"/>
              <a:t>27/10/2015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3236970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F79F581-B3F2-4A84-A61B-0CB00E8A29A5}" type="datetimeFigureOut">
              <a:rPr lang="es-ES" smtClean="0"/>
              <a:t>27/10/2015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3133359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F79F581-B3F2-4A84-A61B-0CB00E8A29A5}" type="datetimeFigureOut">
              <a:rPr lang="es-ES" smtClean="0"/>
              <a:t>27/10/2015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958841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4095999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1028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3979593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68255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569624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535472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27/10/2015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42713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F79F581-B3F2-4A84-A61B-0CB00E8A29A5}" type="datetimeFigureOut">
              <a:rPr lang="es-ES" smtClean="0"/>
              <a:t>27/10/2015</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91A1F7F-15E0-4A5B-BB2B-735CA9DCD61E}" type="slidenum">
              <a:rPr lang="es-ES" smtClean="0"/>
              <a:t>‹Nº›</a:t>
            </a:fld>
            <a:endParaRPr lang="es-ES"/>
          </a:p>
        </p:txBody>
      </p:sp>
    </p:spTree>
    <p:extLst>
      <p:ext uri="{BB962C8B-B14F-4D97-AF65-F5344CB8AC3E}">
        <p14:creationId xmlns:p14="http://schemas.microsoft.com/office/powerpoint/2010/main" val="245758090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toral@us.es" TargetMode="External"/><Relationship Id="rId2" Type="http://schemas.openxmlformats.org/officeDocument/2006/relationships/hyperlink" Target="mailto:dgutierrezreina@us.es"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www.python.org/downloads/release/python-2710/" TargetMode="External"/><Relationship Id="rId5" Type="http://schemas.openxmlformats.org/officeDocument/2006/relationships/hyperlink" Target="https://www.continuum.io/downloads#_windows" TargetMode="External"/><Relationship Id="rId4" Type="http://schemas.openxmlformats.org/officeDocument/2006/relationships/hyperlink" Target="http://www.scipy.or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tutorial/datastructure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library/math.htm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library/random.html"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iki.python.org/moin/UsefulModule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pandas.pydata.org/" TargetMode="External"/><Relationship Id="rId7" Type="http://schemas.openxmlformats.org/officeDocument/2006/relationships/hyperlink" Target="http://www.pygame.org/hifi.html" TargetMode="External"/><Relationship Id="rId2" Type="http://schemas.openxmlformats.org/officeDocument/2006/relationships/hyperlink" Target="http://www.numpy.org/" TargetMode="External"/><Relationship Id="rId1" Type="http://schemas.openxmlformats.org/officeDocument/2006/relationships/slideLayout" Target="../slideLayouts/slideLayout2.xml"/><Relationship Id="rId6" Type="http://schemas.openxmlformats.org/officeDocument/2006/relationships/hyperlink" Target="https://networkx.github.io/" TargetMode="External"/><Relationship Id="rId5" Type="http://schemas.openxmlformats.org/officeDocument/2006/relationships/hyperlink" Target="http://deap.gel.ulaval.ca/doc/default/index.html" TargetMode="External"/><Relationship Id="rId4" Type="http://schemas.openxmlformats.org/officeDocument/2006/relationships/hyperlink" Target="http://matplotlib.org/"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pypi.python.org/pypi/pymatlab"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python-course.eu/matplotlib.php" TargetMode="External"/><Relationship Id="rId2" Type="http://schemas.openxmlformats.org/officeDocument/2006/relationships/hyperlink" Target="http://matplotlib.org/"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ocs.scipy.org/doc/scipy-0.16.0/reference/tutorial/index.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initRepeat"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base.html#toolbox"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module-deap.tools"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selTournament"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selRoulette"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selBest"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cxOnePoint"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cxTwoPoint"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deap.gel.ulaval.ca/doc/default/api/tools.html#deap.tools.mutFlipBit"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deap.gel.ulaval.ca/doc/default/api/tools.html#deap.tools.mutShuffleIndexes"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deap.gel.ulaval.ca/doc/default/api/tools.html#deap.tools.mutUniformInt"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deap.gel.ulaval.ca/doc/default/api/tools.html#deap.tools.HallOfFame" TargetMode="External"/><Relationship Id="rId2" Type="http://schemas.openxmlformats.org/officeDocument/2006/relationships/hyperlink" Target="http://deap.gel.ulaval.ca/doc/default/api/algo.html"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deap.gel.ulaval.ca/doc/default/api/tools.html#deap.tools.mutPolynomialBounded" TargetMode="External"/><Relationship Id="rId2" Type="http://schemas.openxmlformats.org/officeDocument/2006/relationships/hyperlink" Target="http://deap.gel.ulaval.ca/doc/default/api/tools.html#deap.tools.cxSimulatedBinaryBounded"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statistics"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deap.gel.ulaval.ca/doc/default/api/benchmarks.html?highlight=diversity#deap.benchmarks.tools.diversity" TargetMode="External"/><Relationship Id="rId2" Type="http://schemas.openxmlformats.org/officeDocument/2006/relationships/hyperlink" Target="http://deap.gel.ulaval.ca/doc/default/api/tools.html#logbook"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deap.gel.ulaval.ca/doc/default/api/benchmarks.html#deap.benchmarks.h1" TargetMode="External"/><Relationship Id="rId2" Type="http://schemas.openxmlformats.org/officeDocument/2006/relationships/hyperlink" Target="https://docs.python.org/2/library/operator.html"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oop.readthedocs.org/en/latest/usage.html"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library/subproces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lgn="l"/>
            <a:r>
              <a:rPr lang="es-ES" sz="4000" dirty="0" smtClean="0"/>
              <a:t>INTRODUCCIÓN </a:t>
            </a:r>
            <a:r>
              <a:rPr lang="es-ES" sz="4000" dirty="0"/>
              <a:t>Y APLICACIÓN DE TÉCNICAS DE OPTIMIZACIÓN BASADAS EN INTELIGENCIA COMPUTACIONAL EN PYTHON </a:t>
            </a:r>
          </a:p>
        </p:txBody>
      </p:sp>
      <p:sp>
        <p:nvSpPr>
          <p:cNvPr id="3" name="Subtítulo 2"/>
          <p:cNvSpPr>
            <a:spLocks noGrp="1"/>
          </p:cNvSpPr>
          <p:nvPr>
            <p:ph type="subTitle" idx="1"/>
          </p:nvPr>
        </p:nvSpPr>
        <p:spPr/>
        <p:txBody>
          <a:bodyPr/>
          <a:lstStyle/>
          <a:p>
            <a:pPr algn="l"/>
            <a:r>
              <a:rPr lang="es-ES" dirty="0" smtClean="0"/>
              <a:t>Daniel Gutiérrez Reina, </a:t>
            </a:r>
            <a:r>
              <a:rPr lang="es-ES" dirty="0" smtClean="0">
                <a:hlinkClick r:id="rId2"/>
              </a:rPr>
              <a:t>dgutierrezreina@us.es</a:t>
            </a:r>
            <a:endParaRPr lang="es-ES" dirty="0" smtClean="0"/>
          </a:p>
          <a:p>
            <a:pPr algn="l"/>
            <a:r>
              <a:rPr lang="es-ES" dirty="0" smtClean="0"/>
              <a:t>Sergio Toral Marín, </a:t>
            </a:r>
            <a:r>
              <a:rPr lang="es-ES" dirty="0" smtClean="0">
                <a:hlinkClick r:id="rId3"/>
              </a:rPr>
              <a:t>storal@us.es</a:t>
            </a:r>
            <a:endParaRPr lang="es-ES" dirty="0" smtClean="0"/>
          </a:p>
          <a:p>
            <a:pPr algn="l"/>
            <a:endParaRPr lang="es-ES" dirty="0" smtClean="0"/>
          </a:p>
          <a:p>
            <a:pPr algn="l"/>
            <a:endParaRPr lang="es-ES" dirty="0"/>
          </a:p>
        </p:txBody>
      </p:sp>
      <p:pic>
        <p:nvPicPr>
          <p:cNvPr id="4" name="1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691" y="5517904"/>
            <a:ext cx="1252134" cy="1237490"/>
          </a:xfrm>
          <a:prstGeom prst="rect">
            <a:avLst/>
          </a:prstGeom>
        </p:spPr>
      </p:pic>
      <p:sp>
        <p:nvSpPr>
          <p:cNvPr id="5" name="3 CuadroTexto"/>
          <p:cNvSpPr txBox="1"/>
          <p:nvPr/>
        </p:nvSpPr>
        <p:spPr>
          <a:xfrm>
            <a:off x="1664861" y="5492146"/>
            <a:ext cx="2922595" cy="1200329"/>
          </a:xfrm>
          <a:prstGeom prst="rect">
            <a:avLst/>
          </a:prstGeom>
          <a:noFill/>
        </p:spPr>
        <p:txBody>
          <a:bodyPr wrap="none" rtlCol="0">
            <a:spAutoFit/>
          </a:bodyPr>
          <a:lstStyle/>
          <a:p>
            <a:r>
              <a:rPr lang="es-ES" sz="7200" b="1" dirty="0" smtClean="0">
                <a:latin typeface="Adobe Fan Heiti Std B" pitchFamily="34" charset="-128"/>
                <a:ea typeface="Adobe Fan Heiti Std B" pitchFamily="34" charset="-128"/>
              </a:rPr>
              <a:t>ACE-TI</a:t>
            </a:r>
            <a:endParaRPr lang="es-ES" sz="7200" b="1" dirty="0">
              <a:latin typeface="Adobe Fan Heiti Std B" pitchFamily="34" charset="-128"/>
              <a:ea typeface="Adobe Fan Heiti Std B" pitchFamily="34" charset="-128"/>
            </a:endParaRPr>
          </a:p>
        </p:txBody>
      </p:sp>
      <p:grpSp>
        <p:nvGrpSpPr>
          <p:cNvPr id="6" name="Grupo 5"/>
          <p:cNvGrpSpPr/>
          <p:nvPr/>
        </p:nvGrpSpPr>
        <p:grpSpPr>
          <a:xfrm>
            <a:off x="10643462" y="0"/>
            <a:ext cx="1439996" cy="1439996"/>
            <a:chOff x="560818" y="2323106"/>
            <a:chExt cx="1439996" cy="1439996"/>
          </a:xfrm>
        </p:grpSpPr>
        <p:sp>
          <p:nvSpPr>
            <p:cNvPr id="7" name="Rectángulo redondeado 6"/>
            <p:cNvSpPr/>
            <p:nvPr/>
          </p:nvSpPr>
          <p:spPr>
            <a:xfrm>
              <a:off x="560818" y="2323106"/>
              <a:ext cx="1439996" cy="1439996"/>
            </a:xfrm>
            <a:prstGeom prst="roundRect">
              <a:avLst/>
            </a:prstGeom>
            <a:blipFill rotWithShape="0">
              <a:blip r:embed="rId5"/>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8" name="Rectángulo 7"/>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7444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Índice</a:t>
            </a:r>
            <a:endParaRPr lang="es-ES" dirty="0"/>
          </a:p>
        </p:txBody>
      </p:sp>
      <p:sp>
        <p:nvSpPr>
          <p:cNvPr id="3" name="Marcador de contenido 2"/>
          <p:cNvSpPr>
            <a:spLocks noGrp="1"/>
          </p:cNvSpPr>
          <p:nvPr>
            <p:ph idx="1"/>
          </p:nvPr>
        </p:nvSpPr>
        <p:spPr>
          <a:xfrm>
            <a:off x="677334" y="1761341"/>
            <a:ext cx="8596668" cy="3880773"/>
          </a:xfrm>
        </p:spPr>
        <p:txBody>
          <a:bodyPr>
            <a:noAutofit/>
          </a:bodyPr>
          <a:lstStyle/>
          <a:p>
            <a:pPr marL="514350" indent="-514350">
              <a:buFont typeface="+mj-lt"/>
              <a:buAutoNum type="arabicParenR"/>
            </a:pPr>
            <a:r>
              <a:rPr lang="es-ES" sz="3200" dirty="0" smtClean="0"/>
              <a:t>Introducción al lenguaje de programación Python (2 días).</a:t>
            </a:r>
          </a:p>
          <a:p>
            <a:pPr marL="514350" indent="-514350">
              <a:buFont typeface="+mj-lt"/>
              <a:buAutoNum type="arabicParenR"/>
            </a:pPr>
            <a:r>
              <a:rPr lang="es-ES" sz="3200" dirty="0" smtClean="0"/>
              <a:t>Técnicas de optimización basadas en algoritmos evolutivos (1 día).</a:t>
            </a:r>
          </a:p>
          <a:p>
            <a:pPr marL="514350" indent="-514350">
              <a:buFont typeface="+mj-lt"/>
              <a:buAutoNum type="arabicParenR"/>
            </a:pPr>
            <a:r>
              <a:rPr lang="es-ES" sz="3200" dirty="0" smtClean="0"/>
              <a:t>Paquete de optimización DEAP (1 día).</a:t>
            </a:r>
          </a:p>
          <a:p>
            <a:pPr marL="514350" indent="-514350">
              <a:buFont typeface="+mj-lt"/>
              <a:buAutoNum type="arabicParenR"/>
            </a:pPr>
            <a:r>
              <a:rPr lang="es-ES" sz="3200" dirty="0" smtClean="0"/>
              <a:t>Ejemplos de problemas de optimización (1 día).</a:t>
            </a:r>
            <a:endParaRPr lang="es-ES" sz="3200" dirty="0"/>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94313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32326"/>
            <a:ext cx="8596668" cy="1320800"/>
          </a:xfrm>
        </p:spPr>
        <p:txBody>
          <a:bodyPr/>
          <a:lstStyle/>
          <a:p>
            <a:r>
              <a:rPr lang="es-ES" dirty="0" smtClean="0"/>
              <a:t>Introducción a Python</a:t>
            </a:r>
            <a:endParaRPr lang="es-ES" dirty="0"/>
          </a:p>
        </p:txBody>
      </p:sp>
      <p:sp>
        <p:nvSpPr>
          <p:cNvPr id="3" name="Marcador de contenido 2"/>
          <p:cNvSpPr>
            <a:spLocks noGrp="1"/>
          </p:cNvSpPr>
          <p:nvPr>
            <p:ph idx="1"/>
          </p:nvPr>
        </p:nvSpPr>
        <p:spPr>
          <a:xfrm>
            <a:off x="677334" y="1503761"/>
            <a:ext cx="8596668" cy="4201580"/>
          </a:xfrm>
        </p:spPr>
        <p:txBody>
          <a:bodyPr>
            <a:normAutofit/>
          </a:bodyPr>
          <a:lstStyle/>
          <a:p>
            <a:pPr marL="0" indent="0">
              <a:buNone/>
            </a:pPr>
            <a:r>
              <a:rPr lang="es-ES" b="1" u="sng" dirty="0" smtClean="0"/>
              <a:t>OBJETIVOS DEL CURSO:</a:t>
            </a:r>
          </a:p>
          <a:p>
            <a:r>
              <a:rPr lang="es-ES" dirty="0" smtClean="0"/>
              <a:t>Aprender nociones básicas sobre programación en Python. </a:t>
            </a:r>
            <a:endParaRPr lang="es-ES" dirty="0"/>
          </a:p>
          <a:p>
            <a:r>
              <a:rPr lang="es-ES" dirty="0" smtClean="0"/>
              <a:t>Introducción a los algoritmos evolutivos: algoritmos genéticos, </a:t>
            </a:r>
            <a:r>
              <a:rPr lang="es-ES" dirty="0" err="1" smtClean="0"/>
              <a:t>particle</a:t>
            </a:r>
            <a:r>
              <a:rPr lang="es-ES" dirty="0" smtClean="0"/>
              <a:t> </a:t>
            </a:r>
            <a:r>
              <a:rPr lang="es-ES" dirty="0" err="1" smtClean="0"/>
              <a:t>swarm</a:t>
            </a:r>
            <a:r>
              <a:rPr lang="es-ES" dirty="0" smtClean="0"/>
              <a:t> </a:t>
            </a:r>
            <a:r>
              <a:rPr lang="es-ES" dirty="0" err="1" smtClean="0"/>
              <a:t>optimization</a:t>
            </a:r>
            <a:r>
              <a:rPr lang="es-ES" dirty="0" smtClean="0"/>
              <a:t>. (single </a:t>
            </a:r>
            <a:r>
              <a:rPr lang="es-ES" dirty="0" err="1" smtClean="0"/>
              <a:t>objective</a:t>
            </a:r>
            <a:r>
              <a:rPr lang="es-ES" dirty="0" smtClean="0"/>
              <a:t> and </a:t>
            </a:r>
            <a:r>
              <a:rPr lang="es-ES" dirty="0" err="1" smtClean="0"/>
              <a:t>multi-objective</a:t>
            </a:r>
            <a:r>
              <a:rPr lang="es-ES" dirty="0" smtClean="0"/>
              <a:t>)</a:t>
            </a:r>
            <a:endParaRPr lang="es-ES" dirty="0" smtClean="0">
              <a:sym typeface="Wingdings" panose="05000000000000000000" pitchFamily="2" charset="2"/>
            </a:endParaRPr>
          </a:p>
          <a:p>
            <a:r>
              <a:rPr lang="es-ES" dirty="0" smtClean="0">
                <a:sym typeface="Wingdings" panose="05000000000000000000" pitchFamily="2" charset="2"/>
              </a:rPr>
              <a:t>Utilizar el paquete DEAP de Python para poder usar de forma sencilla algoritmos evolutivos. </a:t>
            </a:r>
          </a:p>
          <a:p>
            <a:r>
              <a:rPr lang="es-ES" dirty="0" smtClean="0">
                <a:sym typeface="Wingdings" panose="05000000000000000000" pitchFamily="2" charset="2"/>
              </a:rPr>
              <a:t>Modelar un problema (trabajo).</a:t>
            </a:r>
          </a:p>
          <a:p>
            <a:pPr marL="0" indent="0">
              <a:buNone/>
            </a:pPr>
            <a:endParaRPr lang="es-ES" dirty="0">
              <a:sym typeface="Wingdings" panose="05000000000000000000" pitchFamily="2" charset="2"/>
            </a:endParaRPr>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15449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32326"/>
            <a:ext cx="8596668" cy="1320800"/>
          </a:xfrm>
        </p:spPr>
        <p:txBody>
          <a:bodyPr/>
          <a:lstStyle/>
          <a:p>
            <a:r>
              <a:rPr lang="es-ES" dirty="0" smtClean="0"/>
              <a:t>Introducción a Python</a:t>
            </a:r>
            <a:endParaRPr lang="es-ES" dirty="0"/>
          </a:p>
        </p:txBody>
      </p:sp>
      <p:sp>
        <p:nvSpPr>
          <p:cNvPr id="3" name="Marcador de contenido 2"/>
          <p:cNvSpPr>
            <a:spLocks noGrp="1"/>
          </p:cNvSpPr>
          <p:nvPr>
            <p:ph idx="1"/>
          </p:nvPr>
        </p:nvSpPr>
        <p:spPr>
          <a:xfrm>
            <a:off x="677334" y="1503761"/>
            <a:ext cx="8596668" cy="4201580"/>
          </a:xfrm>
        </p:spPr>
        <p:txBody>
          <a:bodyPr>
            <a:normAutofit lnSpcReduction="10000"/>
          </a:bodyPr>
          <a:lstStyle/>
          <a:p>
            <a:pPr marL="0" indent="0">
              <a:buNone/>
            </a:pPr>
            <a:r>
              <a:rPr lang="es-ES" b="1" u="sng" dirty="0" smtClean="0"/>
              <a:t>CONSIDERACIONES PREVIAS:</a:t>
            </a:r>
          </a:p>
          <a:p>
            <a:r>
              <a:rPr lang="es-ES" dirty="0" smtClean="0"/>
              <a:t>Creado en </a:t>
            </a:r>
            <a:r>
              <a:rPr lang="es-ES" dirty="0"/>
              <a:t>los años 90s </a:t>
            </a:r>
            <a:r>
              <a:rPr lang="es-ES" dirty="0" smtClean="0"/>
              <a:t>por el holandés </a:t>
            </a:r>
            <a:r>
              <a:rPr lang="es-ES" dirty="0"/>
              <a:t>Guido van </a:t>
            </a:r>
            <a:r>
              <a:rPr lang="es-ES" dirty="0" err="1" smtClean="0"/>
              <a:t>Rossum</a:t>
            </a:r>
            <a:r>
              <a:rPr lang="es-ES" dirty="0" smtClean="0"/>
              <a:t>. El nombre se debe al grupo de humoristas </a:t>
            </a:r>
            <a:r>
              <a:rPr lang="es-ES" i="1" dirty="0" err="1"/>
              <a:t>Monty</a:t>
            </a:r>
            <a:r>
              <a:rPr lang="es-ES" i="1" dirty="0"/>
              <a:t> </a:t>
            </a:r>
            <a:r>
              <a:rPr lang="es-ES" i="1" dirty="0" smtClean="0"/>
              <a:t>Python</a:t>
            </a:r>
            <a:r>
              <a:rPr lang="es-ES" dirty="0" smtClean="0"/>
              <a:t>.</a:t>
            </a:r>
            <a:endParaRPr lang="es-ES" dirty="0"/>
          </a:p>
          <a:p>
            <a:r>
              <a:rPr lang="es-ES" dirty="0" smtClean="0"/>
              <a:t>Python es un lenguaje de programación interpretado (Lenguajes interpretados Vs Lenguajes compilados).</a:t>
            </a:r>
          </a:p>
          <a:p>
            <a:pPr lvl="1"/>
            <a:r>
              <a:rPr lang="es-ES" dirty="0" smtClean="0"/>
              <a:t>C es un lenguaje compilado </a:t>
            </a:r>
            <a:r>
              <a:rPr lang="es-ES" dirty="0" smtClean="0">
                <a:sym typeface="Wingdings" panose="05000000000000000000" pitchFamily="2" charset="2"/>
              </a:rPr>
              <a:t> Errores en tiempo de compilación.</a:t>
            </a:r>
          </a:p>
          <a:p>
            <a:pPr lvl="1"/>
            <a:r>
              <a:rPr lang="es-ES" dirty="0" smtClean="0">
                <a:sym typeface="Wingdings" panose="05000000000000000000" pitchFamily="2" charset="2"/>
              </a:rPr>
              <a:t>Python  Los errores saltan en tiempo de ejecución.</a:t>
            </a:r>
          </a:p>
          <a:p>
            <a:r>
              <a:rPr lang="es-ES" dirty="0" smtClean="0">
                <a:sym typeface="Wingdings" panose="05000000000000000000" pitchFamily="2" charset="2"/>
              </a:rPr>
              <a:t>Lenguaje multiplataforma (Windows, Linux, Mac)  La distribuciones de Linux suelen venir con el interprete de Python ya incorporado.</a:t>
            </a:r>
          </a:p>
          <a:p>
            <a:r>
              <a:rPr lang="es-ES" dirty="0" smtClean="0">
                <a:sym typeface="Wingdings" panose="05000000000000000000" pitchFamily="2" charset="2"/>
              </a:rPr>
              <a:t>Open </a:t>
            </a:r>
            <a:r>
              <a:rPr lang="es-ES" dirty="0" err="1" smtClean="0">
                <a:sym typeface="Wingdings" panose="05000000000000000000" pitchFamily="2" charset="2"/>
              </a:rPr>
              <a:t>source</a:t>
            </a:r>
            <a:r>
              <a:rPr lang="es-ES" dirty="0" smtClean="0">
                <a:sym typeface="Wingdings" panose="05000000000000000000" pitchFamily="2" charset="2"/>
              </a:rPr>
              <a:t> (gratis).</a:t>
            </a:r>
          </a:p>
          <a:p>
            <a:r>
              <a:rPr lang="es-ES" dirty="0" smtClean="0">
                <a:sym typeface="Wingdings" panose="05000000000000000000" pitchFamily="2" charset="2"/>
              </a:rPr>
              <a:t> Está ganando mucha importancia en los último años (diseños web y análisis de datos).</a:t>
            </a:r>
            <a:endParaRPr lang="es-ES" dirty="0">
              <a:sym typeface="Wingdings" panose="05000000000000000000" pitchFamily="2" charset="2"/>
            </a:endParaRPr>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490557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848" y="2294584"/>
            <a:ext cx="6657702" cy="3951668"/>
          </a:xfrm>
          <a:prstGeom prst="rect">
            <a:avLst/>
          </a:prstGeom>
        </p:spPr>
      </p:pic>
      <p:sp>
        <p:nvSpPr>
          <p:cNvPr id="5" name="CuadroTexto 4"/>
          <p:cNvSpPr txBox="1"/>
          <p:nvPr/>
        </p:nvSpPr>
        <p:spPr>
          <a:xfrm>
            <a:off x="4597757" y="1899494"/>
            <a:ext cx="1548822" cy="369332"/>
          </a:xfrm>
          <a:prstGeom prst="rect">
            <a:avLst/>
          </a:prstGeom>
          <a:noFill/>
        </p:spPr>
        <p:txBody>
          <a:bodyPr wrap="none" rtlCol="0">
            <a:spAutoFit/>
          </a:bodyPr>
          <a:lstStyle/>
          <a:p>
            <a:r>
              <a:rPr lang="es-ES" dirty="0" smtClean="0">
                <a:solidFill>
                  <a:srgbClr val="92D050"/>
                </a:solidFill>
              </a:rPr>
              <a:t>Ranking 2015</a:t>
            </a:r>
            <a:endParaRPr lang="es-ES" dirty="0">
              <a:solidFill>
                <a:srgbClr val="92D050"/>
              </a:solidFill>
            </a:endParaRPr>
          </a:p>
        </p:txBody>
      </p:sp>
      <p:sp>
        <p:nvSpPr>
          <p:cNvPr id="6" name="CuadroTexto 5"/>
          <p:cNvSpPr txBox="1"/>
          <p:nvPr/>
        </p:nvSpPr>
        <p:spPr>
          <a:xfrm>
            <a:off x="6707744" y="1897346"/>
            <a:ext cx="1548822" cy="369332"/>
          </a:xfrm>
          <a:prstGeom prst="rect">
            <a:avLst/>
          </a:prstGeom>
          <a:noFill/>
        </p:spPr>
        <p:txBody>
          <a:bodyPr wrap="none" rtlCol="0">
            <a:spAutoFit/>
          </a:bodyPr>
          <a:lstStyle/>
          <a:p>
            <a:r>
              <a:rPr lang="es-ES" dirty="0" smtClean="0">
                <a:solidFill>
                  <a:srgbClr val="92D050"/>
                </a:solidFill>
              </a:rPr>
              <a:t>Ranking 2014</a:t>
            </a:r>
            <a:endParaRPr lang="es-ES" dirty="0">
              <a:solidFill>
                <a:srgbClr val="92D050"/>
              </a:solidFill>
            </a:endParaRPr>
          </a:p>
        </p:txBody>
      </p:sp>
      <p:sp>
        <p:nvSpPr>
          <p:cNvPr id="7" name="Rectángulo 6"/>
          <p:cNvSpPr/>
          <p:nvPr/>
        </p:nvSpPr>
        <p:spPr>
          <a:xfrm>
            <a:off x="677334" y="1365161"/>
            <a:ext cx="9000734" cy="369332"/>
          </a:xfrm>
          <a:prstGeom prst="rect">
            <a:avLst/>
          </a:prstGeom>
        </p:spPr>
        <p:txBody>
          <a:bodyPr wrap="none">
            <a:spAutoFit/>
          </a:bodyPr>
          <a:lstStyle/>
          <a:p>
            <a:r>
              <a:rPr lang="es-ES" b="1" u="sng" dirty="0" smtClean="0"/>
              <a:t>Popularidad de los lenguajes de programación (Publicado en IEEE </a:t>
            </a:r>
            <a:r>
              <a:rPr lang="es-ES" b="1" u="sng" dirty="0" err="1" smtClean="0"/>
              <a:t>Spectrum</a:t>
            </a:r>
            <a:r>
              <a:rPr lang="es-ES" b="1" u="sng" dirty="0" smtClean="0"/>
              <a:t> 2015):</a:t>
            </a:r>
            <a:endParaRPr lang="es-ES" b="1" u="sng" dirty="0"/>
          </a:p>
        </p:txBody>
      </p:sp>
      <p:grpSp>
        <p:nvGrpSpPr>
          <p:cNvPr id="8" name="Grupo 7"/>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942394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4656146" cy="369332"/>
          </a:xfrm>
          <a:prstGeom prst="rect">
            <a:avLst/>
          </a:prstGeom>
        </p:spPr>
        <p:txBody>
          <a:bodyPr wrap="none">
            <a:spAutoFit/>
          </a:bodyPr>
          <a:lstStyle/>
          <a:p>
            <a:r>
              <a:rPr lang="es-ES" b="1" u="sng" dirty="0" smtClean="0"/>
              <a:t>¿CÓMO VAMOS A TRABAJAR EN EL CURSO?</a:t>
            </a:r>
            <a:endParaRPr lang="es-ES" b="1" u="sng" dirty="0"/>
          </a:p>
        </p:txBody>
      </p:sp>
      <p:grpSp>
        <p:nvGrpSpPr>
          <p:cNvPr id="8" name="Grupo 7"/>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1" name="CuadroTexto 10"/>
          <p:cNvSpPr txBox="1"/>
          <p:nvPr/>
        </p:nvSpPr>
        <p:spPr>
          <a:xfrm>
            <a:off x="677334" y="1734493"/>
            <a:ext cx="8363635" cy="3693319"/>
          </a:xfrm>
          <a:prstGeom prst="rect">
            <a:avLst/>
          </a:prstGeom>
          <a:noFill/>
        </p:spPr>
        <p:txBody>
          <a:bodyPr wrap="square" rtlCol="0">
            <a:spAutoFit/>
          </a:bodyPr>
          <a:lstStyle/>
          <a:p>
            <a:r>
              <a:rPr lang="es-ES" dirty="0" smtClean="0">
                <a:sym typeface="Wingdings" panose="05000000000000000000" pitchFamily="2" charset="2"/>
              </a:rPr>
              <a:t>Máquina virtual  Permite tener otro sistema operativo en nuestro PC. En nuestro caso Linux en Windows o MAC</a:t>
            </a:r>
          </a:p>
          <a:p>
            <a:endParaRPr lang="es-ES" dirty="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La máquina virtual tiene todo lo que necesitáis para realizar el curso (paquetes). Además de los scripts que iremos utilizando.</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Los scripts sirven para ilustrar las características de Python. </a:t>
            </a:r>
            <a:endParaRPr lang="es-ES" dirty="0">
              <a:sym typeface="Wingdings" panose="05000000000000000000" pitchFamily="2" charset="2"/>
            </a:endParaRPr>
          </a:p>
          <a:p>
            <a:pPr marL="285750" indent="-285750">
              <a:buFont typeface="Wingdings" panose="05000000000000000000" pitchFamily="2" charset="2"/>
              <a:buChar char="à"/>
            </a:pPr>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Tiempo para “jugar” vosotros.</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Si alguien tiene interés en algún módulo concreto de Python que me lo diga y lo vemos también (dentro de </a:t>
            </a:r>
            <a:r>
              <a:rPr lang="es-ES" smtClean="0">
                <a:sym typeface="Wingdings" panose="05000000000000000000" pitchFamily="2" charset="2"/>
              </a:rPr>
              <a:t>mis posibilidades  ). </a:t>
            </a:r>
            <a:endParaRPr lang="es-ES" dirty="0" smtClean="0">
              <a:sym typeface="Wingdings" panose="05000000000000000000" pitchFamily="2" charset="2"/>
            </a:endParaRPr>
          </a:p>
          <a:p>
            <a:endParaRPr lang="es-ES" dirty="0" smtClean="0">
              <a:sym typeface="Wingdings" panose="05000000000000000000" pitchFamily="2" charset="2"/>
            </a:endParaRPr>
          </a:p>
        </p:txBody>
      </p:sp>
    </p:spTree>
    <p:extLst>
      <p:ext uri="{BB962C8B-B14F-4D97-AF65-F5344CB8AC3E}">
        <p14:creationId xmlns:p14="http://schemas.microsoft.com/office/powerpoint/2010/main" val="3443966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553904" cy="369332"/>
          </a:xfrm>
          <a:prstGeom prst="rect">
            <a:avLst/>
          </a:prstGeom>
        </p:spPr>
        <p:txBody>
          <a:bodyPr wrap="none">
            <a:spAutoFit/>
          </a:bodyPr>
          <a:lstStyle/>
          <a:p>
            <a:r>
              <a:rPr lang="es-ES" b="1" u="sng" dirty="0" smtClean="0"/>
              <a:t>PYTHON EN WINDOWS</a:t>
            </a:r>
            <a:endParaRPr lang="es-ES" b="1" u="sng" dirty="0"/>
          </a:p>
        </p:txBody>
      </p:sp>
      <p:grpSp>
        <p:nvGrpSpPr>
          <p:cNvPr id="8" name="Grupo 7"/>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1" name="CuadroTexto 10"/>
          <p:cNvSpPr txBox="1"/>
          <p:nvPr/>
        </p:nvSpPr>
        <p:spPr>
          <a:xfrm>
            <a:off x="677334" y="1734493"/>
            <a:ext cx="8363635" cy="5632311"/>
          </a:xfrm>
          <a:prstGeom prst="rect">
            <a:avLst/>
          </a:prstGeom>
          <a:noFill/>
        </p:spPr>
        <p:txBody>
          <a:bodyPr wrap="square" rtlCol="0">
            <a:spAutoFit/>
          </a:bodyPr>
          <a:lstStyle/>
          <a:p>
            <a:r>
              <a:rPr lang="es-ES" dirty="0" smtClean="0">
                <a:sym typeface="Wingdings" panose="05000000000000000000" pitchFamily="2" charset="2"/>
              </a:rPr>
              <a:t>Enlace para descargar </a:t>
            </a:r>
            <a:r>
              <a:rPr lang="es-ES" dirty="0" smtClean="0">
                <a:sym typeface="Wingdings" panose="05000000000000000000" pitchFamily="2" charset="2"/>
              </a:rPr>
              <a:t>P</a:t>
            </a:r>
            <a:r>
              <a:rPr lang="es-ES" dirty="0" smtClean="0">
                <a:sym typeface="Wingdings" panose="05000000000000000000" pitchFamily="2" charset="2"/>
              </a:rPr>
              <a:t>ython (descargar versión 2.7):</a:t>
            </a:r>
            <a:endParaRPr lang="es-ES" dirty="0" smtClean="0">
              <a:sym typeface="Wingdings" panose="05000000000000000000" pitchFamily="2" charset="2"/>
            </a:endParaRPr>
          </a:p>
          <a:p>
            <a:r>
              <a:rPr lang="es-ES" dirty="0">
                <a:sym typeface="Wingdings" panose="05000000000000000000" pitchFamily="2" charset="2"/>
                <a:hlinkClick r:id="rId3"/>
              </a:rPr>
              <a:t>https://www.python.org/downloads</a:t>
            </a:r>
            <a:r>
              <a:rPr lang="es-ES" dirty="0" smtClean="0">
                <a:sym typeface="Wingdings" panose="05000000000000000000" pitchFamily="2" charset="2"/>
                <a:hlinkClick r:id="rId3"/>
              </a:rPr>
              <a:t>/</a:t>
            </a:r>
            <a:endParaRPr lang="es-ES" dirty="0" smtClean="0">
              <a:sym typeface="Wingdings" panose="05000000000000000000" pitchFamily="2" charset="2"/>
            </a:endParaRPr>
          </a:p>
          <a:p>
            <a:endParaRPr lang="es-ES" dirty="0" smtClean="0">
              <a:sym typeface="Wingdings" panose="05000000000000000000" pitchFamily="2" charset="2"/>
            </a:endParaRPr>
          </a:p>
          <a:p>
            <a:r>
              <a:rPr lang="es-ES" b="1" u="sng" dirty="0" err="1" smtClean="0">
                <a:sym typeface="Wingdings" panose="05000000000000000000" pitchFamily="2" charset="2"/>
              </a:rPr>
              <a:t>Scipy</a:t>
            </a:r>
            <a:r>
              <a:rPr lang="es-ES" b="1" u="sng" dirty="0" smtClean="0">
                <a:sym typeface="Wingdings" panose="05000000000000000000" pitchFamily="2" charset="2"/>
              </a:rPr>
              <a:t>:</a:t>
            </a:r>
            <a:endParaRPr lang="es-ES" b="1" u="sng" dirty="0">
              <a:sym typeface="Wingdings" panose="05000000000000000000" pitchFamily="2" charset="2"/>
            </a:endParaRPr>
          </a:p>
          <a:p>
            <a:r>
              <a:rPr lang="es-ES" dirty="0" smtClean="0">
                <a:sym typeface="Wingdings" panose="05000000000000000000" pitchFamily="2" charset="2"/>
              </a:rPr>
              <a:t>Conjunto de paquetes para matemáticas, computación e ingeniería.</a:t>
            </a:r>
          </a:p>
          <a:p>
            <a:r>
              <a:rPr lang="es-ES" dirty="0">
                <a:sym typeface="Wingdings" panose="05000000000000000000" pitchFamily="2" charset="2"/>
                <a:hlinkClick r:id="rId4"/>
              </a:rPr>
              <a:t>http://www.scipy.org</a:t>
            </a:r>
            <a:r>
              <a:rPr lang="es-ES" dirty="0" smtClean="0">
                <a:sym typeface="Wingdings" panose="05000000000000000000" pitchFamily="2" charset="2"/>
                <a:hlinkClick r:id="rId4"/>
              </a:rPr>
              <a:t>/</a:t>
            </a:r>
            <a:endParaRPr lang="es-ES" dirty="0" smtClean="0">
              <a:sym typeface="Wingdings" panose="05000000000000000000" pitchFamily="2" charset="2"/>
            </a:endParaRPr>
          </a:p>
          <a:p>
            <a:endParaRPr lang="es-ES" dirty="0" smtClean="0">
              <a:sym typeface="Wingdings" panose="05000000000000000000" pitchFamily="2" charset="2"/>
            </a:endParaRPr>
          </a:p>
          <a:p>
            <a:r>
              <a:rPr lang="es-ES" b="1" u="sng" dirty="0">
                <a:sym typeface="Wingdings" panose="05000000000000000000" pitchFamily="2" charset="2"/>
              </a:rPr>
              <a:t>Anaconda:</a:t>
            </a:r>
          </a:p>
          <a:p>
            <a:r>
              <a:rPr lang="es-ES" dirty="0">
                <a:sym typeface="Wingdings" panose="05000000000000000000" pitchFamily="2" charset="2"/>
              </a:rPr>
              <a:t>Distribución de Python que contiene más de 300 paquetes. Entre ellos, </a:t>
            </a:r>
            <a:r>
              <a:rPr lang="es-ES" dirty="0" err="1">
                <a:sym typeface="Wingdings" panose="05000000000000000000" pitchFamily="2" charset="2"/>
              </a:rPr>
              <a:t>numpy</a:t>
            </a:r>
            <a:r>
              <a:rPr lang="es-ES" dirty="0">
                <a:sym typeface="Wingdings" panose="05000000000000000000" pitchFamily="2" charset="2"/>
              </a:rPr>
              <a:t>, </a:t>
            </a:r>
            <a:r>
              <a:rPr lang="es-ES" dirty="0" err="1">
                <a:sym typeface="Wingdings" panose="05000000000000000000" pitchFamily="2" charset="2"/>
              </a:rPr>
              <a:t>matplotlib</a:t>
            </a:r>
            <a:r>
              <a:rPr lang="es-ES" dirty="0">
                <a:sym typeface="Wingdings" panose="05000000000000000000" pitchFamily="2" charset="2"/>
              </a:rPr>
              <a:t>, etc.</a:t>
            </a:r>
          </a:p>
          <a:p>
            <a:endParaRPr lang="es-ES" dirty="0">
              <a:sym typeface="Wingdings" panose="05000000000000000000" pitchFamily="2" charset="2"/>
            </a:endParaRPr>
          </a:p>
          <a:p>
            <a:r>
              <a:rPr lang="es-ES" dirty="0">
                <a:sym typeface="Wingdings" panose="05000000000000000000" pitchFamily="2" charset="2"/>
                <a:hlinkClick r:id="rId5"/>
              </a:rPr>
              <a:t>https://www.continuum.io/downloads#_</a:t>
            </a:r>
            <a:r>
              <a:rPr lang="es-ES" dirty="0" smtClean="0">
                <a:sym typeface="Wingdings" panose="05000000000000000000" pitchFamily="2" charset="2"/>
                <a:hlinkClick r:id="rId5"/>
              </a:rPr>
              <a:t>windows</a:t>
            </a:r>
            <a:endParaRPr lang="es-ES" dirty="0" smtClean="0">
              <a:sym typeface="Wingdings" panose="05000000000000000000" pitchFamily="2" charset="2"/>
            </a:endParaRPr>
          </a:p>
          <a:p>
            <a:endParaRPr lang="es-ES" dirty="0">
              <a:sym typeface="Wingdings" panose="05000000000000000000" pitchFamily="2" charset="2"/>
            </a:endParaRPr>
          </a:p>
          <a:p>
            <a:r>
              <a:rPr lang="es-ES" b="1" u="sng" dirty="0" smtClean="0">
                <a:sym typeface="Wingdings" panose="05000000000000000000" pitchFamily="2" charset="2"/>
              </a:rPr>
              <a:t>PYTHON EN MAC OS:</a:t>
            </a:r>
          </a:p>
          <a:p>
            <a:r>
              <a:rPr lang="es-ES" dirty="0">
                <a:sym typeface="Wingdings" panose="05000000000000000000" pitchFamily="2" charset="2"/>
                <a:hlinkClick r:id="rId6"/>
              </a:rPr>
              <a:t>https://www.python.org/downloads/release/python-2710</a:t>
            </a:r>
            <a:r>
              <a:rPr lang="es-ES" dirty="0" smtClean="0">
                <a:sym typeface="Wingdings" panose="05000000000000000000" pitchFamily="2" charset="2"/>
                <a:hlinkClick r:id="rId6"/>
              </a:rPr>
              <a: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spTree>
    <p:extLst>
      <p:ext uri="{BB962C8B-B14F-4D97-AF65-F5344CB8AC3E}">
        <p14:creationId xmlns:p14="http://schemas.microsoft.com/office/powerpoint/2010/main" val="2309148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483198" cy="369332"/>
          </a:xfrm>
          <a:prstGeom prst="rect">
            <a:avLst/>
          </a:prstGeom>
        </p:spPr>
        <p:txBody>
          <a:bodyPr wrap="none">
            <a:spAutoFit/>
          </a:bodyPr>
          <a:lstStyle/>
          <a:p>
            <a:r>
              <a:rPr lang="es-ES" b="1" u="sng" dirty="0" smtClean="0"/>
              <a:t>Formas de trabajas en Python:</a:t>
            </a:r>
            <a:endParaRPr lang="es-ES" b="1" u="sng"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2423" y="2659878"/>
            <a:ext cx="7011378" cy="3057952"/>
          </a:xfrm>
          <a:prstGeom prst="rect">
            <a:avLst/>
          </a:prstGeom>
        </p:spPr>
      </p:pic>
      <p:sp>
        <p:nvSpPr>
          <p:cNvPr id="8" name="CuadroTexto 7"/>
          <p:cNvSpPr txBox="1"/>
          <p:nvPr/>
        </p:nvSpPr>
        <p:spPr>
          <a:xfrm>
            <a:off x="785611" y="1999640"/>
            <a:ext cx="3712876" cy="369332"/>
          </a:xfrm>
          <a:prstGeom prst="rect">
            <a:avLst/>
          </a:prstGeom>
          <a:noFill/>
        </p:spPr>
        <p:txBody>
          <a:bodyPr wrap="none" rtlCol="0">
            <a:spAutoFit/>
          </a:bodyPr>
          <a:lstStyle/>
          <a:p>
            <a:r>
              <a:rPr lang="es-ES" dirty="0" smtClean="0"/>
              <a:t>1) Con el interprete directamente</a:t>
            </a:r>
            <a:endParaRPr lang="es-ES" dirty="0"/>
          </a:p>
        </p:txBody>
      </p:sp>
      <p:grpSp>
        <p:nvGrpSpPr>
          <p:cNvPr id="6" name="Grupo 5"/>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67572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483198" cy="369332"/>
          </a:xfrm>
          <a:prstGeom prst="rect">
            <a:avLst/>
          </a:prstGeom>
        </p:spPr>
        <p:txBody>
          <a:bodyPr wrap="none">
            <a:spAutoFit/>
          </a:bodyPr>
          <a:lstStyle/>
          <a:p>
            <a:r>
              <a:rPr lang="es-ES" b="1" u="sng" dirty="0" smtClean="0"/>
              <a:t>Formas de trabajas en Python:</a:t>
            </a:r>
            <a:endParaRPr lang="es-ES" b="1" u="sng" dirty="0"/>
          </a:p>
        </p:txBody>
      </p:sp>
      <p:sp>
        <p:nvSpPr>
          <p:cNvPr id="8" name="CuadroTexto 7"/>
          <p:cNvSpPr txBox="1"/>
          <p:nvPr/>
        </p:nvSpPr>
        <p:spPr>
          <a:xfrm>
            <a:off x="785611" y="1999640"/>
            <a:ext cx="8255358" cy="4524315"/>
          </a:xfrm>
          <a:prstGeom prst="rect">
            <a:avLst/>
          </a:prstGeom>
          <a:noFill/>
        </p:spPr>
        <p:txBody>
          <a:bodyPr wrap="square" rtlCol="0">
            <a:spAutoFit/>
          </a:bodyPr>
          <a:lstStyle/>
          <a:p>
            <a:r>
              <a:rPr lang="es-ES" dirty="0"/>
              <a:t>2</a:t>
            </a:r>
            <a:r>
              <a:rPr lang="es-ES" dirty="0" smtClean="0"/>
              <a:t>) Procesador de texto, creamos scripts (.</a:t>
            </a:r>
            <a:r>
              <a:rPr lang="es-ES" dirty="0" err="1" smtClean="0"/>
              <a:t>py</a:t>
            </a:r>
            <a:r>
              <a:rPr lang="es-ES" dirty="0" smtClean="0"/>
              <a:t>) </a:t>
            </a:r>
            <a:r>
              <a:rPr lang="es-ES" dirty="0" smtClean="0">
                <a:sym typeface="Wingdings" panose="05000000000000000000" pitchFamily="2" charset="2"/>
              </a:rPr>
              <a:t> Por ejemplo </a:t>
            </a:r>
            <a:r>
              <a:rPr lang="es-ES" dirty="0" err="1" smtClean="0">
                <a:sym typeface="Wingdings" panose="05000000000000000000" pitchFamily="2" charset="2"/>
              </a:rPr>
              <a:t>gedit</a:t>
            </a:r>
            <a:r>
              <a:rPr lang="es-ES" dirty="0" smtClean="0">
                <a:sym typeface="Wingdings" panose="05000000000000000000" pitchFamily="2" charset="2"/>
              </a:rPr>
              <a:t> (Linux)</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ym typeface="Wingdings" panose="05000000000000000000" pitchFamily="2" charset="2"/>
              </a:rPr>
              <a:t>Las instrucciones se interpretan una a una. Si hay un error nos saltará</a:t>
            </a:r>
          </a:p>
          <a:p>
            <a:endParaRPr lang="es-ES" dirty="0">
              <a:sym typeface="Wingdings" panose="05000000000000000000" pitchFamily="2" charset="2"/>
            </a:endParaRPr>
          </a:p>
          <a:p>
            <a:r>
              <a:rPr lang="es-ES" dirty="0" smtClean="0">
                <a:sym typeface="Wingdings" panose="05000000000000000000" pitchFamily="2" charset="2"/>
              </a:rPr>
              <a:t>Para lanzar el script ponemos en el terminal:</a:t>
            </a:r>
          </a:p>
          <a:p>
            <a:endParaRPr lang="es-ES" dirty="0">
              <a:sym typeface="Wingdings" panose="05000000000000000000" pitchFamily="2" charset="2"/>
            </a:endParaRPr>
          </a:p>
          <a:p>
            <a:r>
              <a:rPr lang="es-ES" dirty="0" err="1" smtClean="0">
                <a:sym typeface="Wingdings" panose="05000000000000000000" pitchFamily="2" charset="2"/>
              </a:rPr>
              <a:t>python</a:t>
            </a:r>
            <a:r>
              <a:rPr lang="es-ES" dirty="0" smtClean="0">
                <a:sym typeface="Wingdings" panose="05000000000000000000" pitchFamily="2" charset="2"/>
              </a:rPr>
              <a:t> ejemplo.py  </a:t>
            </a:r>
          </a:p>
          <a:p>
            <a:endParaRPr lang="es-ES" dirty="0">
              <a:sym typeface="Wingdings" panose="05000000000000000000" pitchFamily="2" charset="2"/>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742" y="2629962"/>
            <a:ext cx="6173061" cy="2076740"/>
          </a:xfrm>
          <a:prstGeom prst="rect">
            <a:avLst/>
          </a:prstGeom>
        </p:spPr>
      </p:pic>
      <p:grpSp>
        <p:nvGrpSpPr>
          <p:cNvPr id="6" name="Grupo 5"/>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76871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483198" cy="369332"/>
          </a:xfrm>
          <a:prstGeom prst="rect">
            <a:avLst/>
          </a:prstGeom>
        </p:spPr>
        <p:txBody>
          <a:bodyPr wrap="none">
            <a:spAutoFit/>
          </a:bodyPr>
          <a:lstStyle/>
          <a:p>
            <a:r>
              <a:rPr lang="es-ES" b="1" u="sng" dirty="0" smtClean="0"/>
              <a:t>Formas de trabajas en Python:</a:t>
            </a:r>
            <a:endParaRPr lang="es-ES" b="1" u="sng" dirty="0"/>
          </a:p>
        </p:txBody>
      </p:sp>
      <p:sp>
        <p:nvSpPr>
          <p:cNvPr id="8" name="CuadroTexto 7"/>
          <p:cNvSpPr txBox="1"/>
          <p:nvPr/>
        </p:nvSpPr>
        <p:spPr>
          <a:xfrm>
            <a:off x="785611" y="1999640"/>
            <a:ext cx="8255358" cy="4801314"/>
          </a:xfrm>
          <a:prstGeom prst="rect">
            <a:avLst/>
          </a:prstGeom>
          <a:noFill/>
        </p:spPr>
        <p:txBody>
          <a:bodyPr wrap="square" rtlCol="0">
            <a:spAutoFit/>
          </a:bodyPr>
          <a:lstStyle/>
          <a:p>
            <a:r>
              <a:rPr lang="es-ES" dirty="0" smtClean="0"/>
              <a:t>3) Lanzamos el script como un programa</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Tenemos que dar permisos de ejecución al script mediante el comando:</a:t>
            </a:r>
          </a:p>
          <a:p>
            <a:endParaRPr lang="es-ES" dirty="0">
              <a:sym typeface="Wingdings" panose="05000000000000000000" pitchFamily="2" charset="2"/>
            </a:endParaRPr>
          </a:p>
          <a:p>
            <a:r>
              <a:rPr lang="es-ES" dirty="0" err="1" smtClean="0">
                <a:sym typeface="Wingdings" panose="05000000000000000000" pitchFamily="2" charset="2"/>
              </a:rPr>
              <a:t>chmod</a:t>
            </a:r>
            <a:r>
              <a:rPr lang="es-ES" dirty="0" smtClean="0">
                <a:sym typeface="Wingdings" panose="05000000000000000000" pitchFamily="2" charset="2"/>
              </a:rPr>
              <a:t> +x ejemplo.py</a:t>
            </a:r>
          </a:p>
          <a:p>
            <a:endParaRPr lang="es-ES" dirty="0">
              <a:sym typeface="Wingdings" panose="05000000000000000000" pitchFamily="2" charset="2"/>
            </a:endParaRPr>
          </a:p>
          <a:p>
            <a:r>
              <a:rPr lang="es-ES" dirty="0" smtClean="0"/>
              <a:t>Ahora podemos lanzar el script de la siguiente forma:</a:t>
            </a:r>
          </a:p>
          <a:p>
            <a:endParaRPr lang="es-ES" dirty="0" smtClean="0"/>
          </a:p>
          <a:p>
            <a:r>
              <a:rPr lang="es-ES" dirty="0" smtClean="0"/>
              <a:t>./ejemplo.py</a:t>
            </a:r>
            <a:endParaRPr lang="es-ES"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5719" y="2494537"/>
            <a:ext cx="6755661" cy="2154733"/>
          </a:xfrm>
          <a:prstGeom prst="rect">
            <a:avLst/>
          </a:prstGeom>
        </p:spPr>
      </p:pic>
      <p:grpSp>
        <p:nvGrpSpPr>
          <p:cNvPr id="6" name="Grupo 5"/>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15004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406941" cy="369332"/>
          </a:xfrm>
          <a:prstGeom prst="rect">
            <a:avLst/>
          </a:prstGeom>
        </p:spPr>
        <p:txBody>
          <a:bodyPr wrap="none">
            <a:spAutoFit/>
          </a:bodyPr>
          <a:lstStyle/>
          <a:p>
            <a:r>
              <a:rPr lang="es-ES" b="1" u="sng" dirty="0" smtClean="0"/>
              <a:t>Variables en Python:</a:t>
            </a:r>
            <a:endParaRPr lang="es-ES" b="1" u="sng" dirty="0"/>
          </a:p>
        </p:txBody>
      </p:sp>
      <p:sp>
        <p:nvSpPr>
          <p:cNvPr id="8" name="CuadroTexto 7"/>
          <p:cNvSpPr txBox="1"/>
          <p:nvPr/>
        </p:nvSpPr>
        <p:spPr>
          <a:xfrm>
            <a:off x="677334" y="1734493"/>
            <a:ext cx="8363635" cy="7571303"/>
          </a:xfrm>
          <a:prstGeom prst="rect">
            <a:avLst/>
          </a:prstGeom>
          <a:noFill/>
        </p:spPr>
        <p:txBody>
          <a:bodyPr wrap="square" rtlCol="0">
            <a:spAutoFit/>
          </a:bodyPr>
          <a:lstStyle/>
          <a:p>
            <a:r>
              <a:rPr lang="es-ES" dirty="0" smtClean="0">
                <a:sym typeface="Wingdings" panose="05000000000000000000" pitchFamily="2" charset="2"/>
              </a:rPr>
              <a:t>Las variables no tienen tipo  El tipo se asigna cuando se declara y el tipo se puede cambiar sobre la marcha (TIPADO DINÁMICO). </a:t>
            </a:r>
          </a:p>
          <a:p>
            <a:endParaRPr lang="es-ES" dirty="0">
              <a:sym typeface="Wingdings" panose="05000000000000000000" pitchFamily="2" charset="2"/>
            </a:endParaRPr>
          </a:p>
          <a:p>
            <a:r>
              <a:rPr lang="es-ES" dirty="0" smtClean="0">
                <a:sym typeface="Wingdings" panose="05000000000000000000" pitchFamily="2" charset="2"/>
              </a:rPr>
              <a:t>Todas la variables en realidad son objetos.</a:t>
            </a:r>
          </a:p>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a:sym typeface="Wingdings" panose="05000000000000000000" pitchFamily="2" charset="2"/>
            </a:endParaRPr>
          </a:p>
          <a:p>
            <a:r>
              <a:rPr lang="es-ES" dirty="0" smtClean="0">
                <a:sym typeface="Wingdings" panose="05000000000000000000" pitchFamily="2" charset="2"/>
              </a:rPr>
              <a:t>entero  = 1 # variable entera que le asignamos el valor 1</a:t>
            </a:r>
          </a:p>
          <a:p>
            <a:endParaRPr lang="es-ES" dirty="0" smtClean="0">
              <a:sym typeface="Wingdings" panose="05000000000000000000" pitchFamily="2" charset="2"/>
            </a:endParaRPr>
          </a:p>
          <a:p>
            <a:r>
              <a:rPr lang="es-ES" dirty="0" smtClean="0">
                <a:sym typeface="Wingdings" panose="05000000000000000000" pitchFamily="2" charset="2"/>
              </a:rPr>
              <a:t>flotante  = 1.234 </a:t>
            </a:r>
          </a:p>
          <a:p>
            <a:endParaRPr lang="es-ES" dirty="0">
              <a:sym typeface="Wingdings" panose="05000000000000000000" pitchFamily="2" charset="2"/>
            </a:endParaRPr>
          </a:p>
          <a:p>
            <a:r>
              <a:rPr lang="es-ES" dirty="0" smtClean="0">
                <a:sym typeface="Wingdings" panose="05000000000000000000" pitchFamily="2" charset="2"/>
              </a:rPr>
              <a:t>cadena = “hola mundo”</a:t>
            </a:r>
          </a:p>
          <a:p>
            <a:endParaRPr lang="es-ES" dirty="0">
              <a:sym typeface="Wingdings" panose="05000000000000000000" pitchFamily="2" charset="2"/>
            </a:endParaRPr>
          </a:p>
          <a:p>
            <a:r>
              <a:rPr lang="es-ES" dirty="0" smtClean="0">
                <a:sym typeface="Wingdings" panose="05000000000000000000" pitchFamily="2" charset="2"/>
              </a:rPr>
              <a:t>liasta1 = [1, 2, 3, 5]</a:t>
            </a:r>
          </a:p>
          <a:p>
            <a:endParaRPr lang="es-ES" dirty="0">
              <a:sym typeface="Wingdings" panose="05000000000000000000" pitchFamily="2" charset="2"/>
            </a:endParaRPr>
          </a:p>
          <a:p>
            <a:r>
              <a:rPr lang="es-ES" dirty="0" smtClean="0">
                <a:sym typeface="Wingdings" panose="05000000000000000000" pitchFamily="2" charset="2"/>
              </a:rPr>
              <a:t>lista2 = [1, “hola mundo”, [1, 2]]</a:t>
            </a:r>
          </a:p>
          <a:p>
            <a:endParaRPr lang="es-ES" dirty="0">
              <a:sym typeface="Wingdings" panose="05000000000000000000" pitchFamily="2" charset="2"/>
            </a:endParaRPr>
          </a:p>
          <a:p>
            <a:r>
              <a:rPr lang="es-ES" dirty="0" smtClean="0">
                <a:solidFill>
                  <a:srgbClr val="0070C0"/>
                </a:solidFill>
                <a:sym typeface="Wingdings" panose="05000000000000000000" pitchFamily="2" charset="2"/>
              </a:rPr>
              <a:t># Símbolo que se utilizan para los comentarios</a:t>
            </a:r>
            <a:endParaRPr lang="es-ES" dirty="0">
              <a:solidFill>
                <a:srgbClr val="0070C0"/>
              </a:solidFill>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881602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406941" cy="369332"/>
          </a:xfrm>
          <a:prstGeom prst="rect">
            <a:avLst/>
          </a:prstGeom>
        </p:spPr>
        <p:txBody>
          <a:bodyPr wrap="none">
            <a:spAutoFit/>
          </a:bodyPr>
          <a:lstStyle/>
          <a:p>
            <a:r>
              <a:rPr lang="es-ES" b="1" u="sng" dirty="0" smtClean="0"/>
              <a:t>Variables en Python:</a:t>
            </a:r>
            <a:endParaRPr lang="es-ES" b="1" u="sng" dirty="0"/>
          </a:p>
        </p:txBody>
      </p:sp>
      <p:sp>
        <p:nvSpPr>
          <p:cNvPr id="8" name="CuadroTexto 7"/>
          <p:cNvSpPr txBox="1"/>
          <p:nvPr/>
        </p:nvSpPr>
        <p:spPr>
          <a:xfrm>
            <a:off x="677334" y="1734493"/>
            <a:ext cx="8363635" cy="7017306"/>
          </a:xfrm>
          <a:prstGeom prst="rect">
            <a:avLst/>
          </a:prstGeom>
          <a:noFill/>
        </p:spPr>
        <p:txBody>
          <a:bodyPr wrap="square" rtlCol="0">
            <a:spAutoFit/>
          </a:bodyPr>
          <a:lstStyle/>
          <a:p>
            <a:r>
              <a:rPr lang="es-ES" dirty="0" smtClean="0">
                <a:sym typeface="Wingdings" panose="05000000000000000000" pitchFamily="2" charset="2"/>
              </a:rPr>
              <a:t>Si queremos imprimir el valor de las variables</a:t>
            </a:r>
          </a:p>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a:sym typeface="Wingdings" panose="05000000000000000000" pitchFamily="2" charset="2"/>
            </a:endParaRPr>
          </a:p>
          <a:p>
            <a:r>
              <a:rPr lang="es-ES" dirty="0" smtClean="0">
                <a:sym typeface="Wingdings" panose="05000000000000000000" pitchFamily="2" charset="2"/>
              </a:rPr>
              <a:t>entero  = 1 # variable entera que le asignamos el valor 1</a:t>
            </a:r>
          </a:p>
          <a:p>
            <a:endParaRPr lang="es-ES" dirty="0" smtClean="0">
              <a:sym typeface="Wingdings" panose="05000000000000000000" pitchFamily="2" charset="2"/>
            </a:endParaRPr>
          </a:p>
          <a:p>
            <a:r>
              <a:rPr lang="es-ES" dirty="0" err="1" smtClean="0">
                <a:sym typeface="Wingdings" panose="05000000000000000000" pitchFamily="2" charset="2"/>
              </a:rPr>
              <a:t>print</a:t>
            </a:r>
            <a:r>
              <a:rPr lang="es-ES" dirty="0" smtClean="0">
                <a:sym typeface="Wingdings" panose="05000000000000000000" pitchFamily="2" charset="2"/>
              </a:rPr>
              <a:t>  entero </a:t>
            </a:r>
          </a:p>
          <a:p>
            <a:r>
              <a:rPr lang="es-ES" dirty="0" err="1" smtClean="0">
                <a:sym typeface="Wingdings" panose="05000000000000000000" pitchFamily="2" charset="2"/>
              </a:rPr>
              <a:t>print</a:t>
            </a:r>
            <a:r>
              <a:rPr lang="es-ES" dirty="0" smtClean="0">
                <a:sym typeface="Wingdings" panose="05000000000000000000" pitchFamily="2" charset="2"/>
              </a:rPr>
              <a:t>  “El valor es %d” % entero # %d  entero, %f  flotante, %s  cadenas y vectores </a:t>
            </a:r>
          </a:p>
          <a:p>
            <a:endParaRPr lang="es-ES" dirty="0">
              <a:sym typeface="Wingdings" panose="05000000000000000000" pitchFamily="2" charset="2"/>
            </a:endParaRPr>
          </a:p>
          <a:p>
            <a:endParaRPr lang="es-ES" dirty="0" smtClean="0">
              <a:sym typeface="Wingdings" panose="05000000000000000000" pitchFamily="2" charset="2"/>
            </a:endParaRPr>
          </a:p>
          <a:p>
            <a:r>
              <a:rPr lang="es-ES" b="1" u="sng" dirty="0" smtClean="0">
                <a:sym typeface="Wingdings" panose="05000000000000000000" pitchFamily="2" charset="2"/>
              </a:rPr>
              <a:t>Errores de Programación: </a:t>
            </a:r>
            <a:endParaRPr lang="es-ES" b="1" u="sng" dirty="0">
              <a:sym typeface="Wingdings" panose="05000000000000000000" pitchFamily="2" charset="2"/>
            </a:endParaRPr>
          </a:p>
          <a:p>
            <a:endParaRPr lang="es-ES" dirty="0" smtClean="0">
              <a:sym typeface="Wingdings" panose="05000000000000000000" pitchFamily="2" charset="2"/>
            </a:endParaRPr>
          </a:p>
          <a:p>
            <a:r>
              <a:rPr lang="en-US" dirty="0">
                <a:sym typeface="Wingdings" panose="05000000000000000000" pitchFamily="2" charset="2"/>
              </a:rPr>
              <a:t>&gt;&gt;&gt; print( '</a:t>
            </a:r>
            <a:r>
              <a:rPr lang="en-US" dirty="0" err="1">
                <a:sym typeface="Wingdings" panose="05000000000000000000" pitchFamily="2" charset="2"/>
              </a:rPr>
              <a:t>fred</a:t>
            </a:r>
            <a:r>
              <a:rPr lang="en-US" dirty="0">
                <a:sym typeface="Wingdings" panose="05000000000000000000" pitchFamily="2" charset="2"/>
              </a:rPr>
              <a:t>' + 7 )</a:t>
            </a:r>
          </a:p>
          <a:p>
            <a:r>
              <a:rPr lang="en-US" dirty="0" err="1">
                <a:sym typeface="Wingdings" panose="05000000000000000000" pitchFamily="2" charset="2"/>
              </a:rPr>
              <a:t>Traceback</a:t>
            </a:r>
            <a:r>
              <a:rPr lang="en-US" dirty="0">
                <a:sym typeface="Wingdings" panose="05000000000000000000" pitchFamily="2" charset="2"/>
              </a:rPr>
              <a:t> (most recent call last):</a:t>
            </a:r>
          </a:p>
          <a:p>
            <a:r>
              <a:rPr lang="en-US" dirty="0">
                <a:sym typeface="Wingdings" panose="05000000000000000000" pitchFamily="2" charset="2"/>
              </a:rPr>
              <a:t>  File "&lt;input&gt;", line 1, in ?</a:t>
            </a:r>
          </a:p>
          <a:p>
            <a:r>
              <a:rPr lang="en-US" dirty="0" err="1">
                <a:sym typeface="Wingdings" panose="05000000000000000000" pitchFamily="2" charset="2"/>
              </a:rPr>
              <a:t>TypeError</a:t>
            </a:r>
            <a:r>
              <a:rPr lang="en-US" dirty="0">
                <a:sym typeface="Wingdings" panose="05000000000000000000" pitchFamily="2" charset="2"/>
              </a:rPr>
              <a:t>: cannot concatenate '</a:t>
            </a:r>
            <a:r>
              <a:rPr lang="en-US" dirty="0" err="1">
                <a:sym typeface="Wingdings" panose="05000000000000000000" pitchFamily="2" charset="2"/>
              </a:rPr>
              <a:t>str</a:t>
            </a:r>
            <a:r>
              <a:rPr lang="en-US" dirty="0">
                <a:sym typeface="Wingdings" panose="05000000000000000000" pitchFamily="2" charset="2"/>
              </a:rPr>
              <a:t>' and '</a:t>
            </a:r>
            <a:r>
              <a:rPr lang="en-US" dirty="0" err="1">
                <a:sym typeface="Wingdings" panose="05000000000000000000" pitchFamily="2" charset="2"/>
              </a:rPr>
              <a:t>int</a:t>
            </a:r>
            <a:r>
              <a:rPr lang="en-US" dirty="0">
                <a:sym typeface="Wingdings" panose="05000000000000000000" pitchFamily="2" charset="2"/>
              </a:rPr>
              <a:t>' objects</a:t>
            </a:r>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514381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040943" cy="369332"/>
          </a:xfrm>
          <a:prstGeom prst="rect">
            <a:avLst/>
          </a:prstGeom>
        </p:spPr>
        <p:txBody>
          <a:bodyPr wrap="none">
            <a:spAutoFit/>
          </a:bodyPr>
          <a:lstStyle/>
          <a:p>
            <a:r>
              <a:rPr lang="es-ES" b="1" u="sng" dirty="0" smtClean="0"/>
              <a:t>Listas en Python:</a:t>
            </a:r>
            <a:endParaRPr lang="es-ES" b="1" u="sng" dirty="0"/>
          </a:p>
        </p:txBody>
      </p:sp>
      <p:sp>
        <p:nvSpPr>
          <p:cNvPr id="8" name="CuadroTexto 7"/>
          <p:cNvSpPr txBox="1"/>
          <p:nvPr/>
        </p:nvSpPr>
        <p:spPr>
          <a:xfrm>
            <a:off x="677333" y="1734493"/>
            <a:ext cx="10810621" cy="7571303"/>
          </a:xfrm>
          <a:prstGeom prst="rect">
            <a:avLst/>
          </a:prstGeom>
          <a:noFill/>
        </p:spPr>
        <p:txBody>
          <a:bodyPr wrap="square" rtlCol="0">
            <a:spAutoFit/>
          </a:bodyPr>
          <a:lstStyle/>
          <a:p>
            <a:r>
              <a:rPr lang="es-ES" dirty="0" smtClean="0">
                <a:sym typeface="Wingdings" panose="05000000000000000000" pitchFamily="2" charset="2"/>
              </a:rPr>
              <a:t>Es una lista de datos, el tipo depende de como lo definamos  Se utilizan muchísimo en </a:t>
            </a:r>
            <a:r>
              <a:rPr lang="es-ES" dirty="0">
                <a:sym typeface="Wingdings" panose="05000000000000000000" pitchFamily="2" charset="2"/>
              </a:rPr>
              <a:t>P</a:t>
            </a:r>
            <a:r>
              <a:rPr lang="es-ES" dirty="0" smtClean="0">
                <a:sym typeface="Wingdings" panose="05000000000000000000" pitchFamily="2" charset="2"/>
              </a:rPr>
              <a:t>ython</a:t>
            </a:r>
          </a:p>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a:sym typeface="Wingdings" panose="05000000000000000000" pitchFamily="2" charset="2"/>
            </a:endParaRPr>
          </a:p>
          <a:p>
            <a:r>
              <a:rPr lang="es-ES" dirty="0" smtClean="0">
                <a:sym typeface="Wingdings" panose="05000000000000000000" pitchFamily="2" charset="2"/>
              </a:rPr>
              <a:t>lista  = [“nombre”, “apellidos”, 31, Portugal] # pueden haber varios tipos de datos</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Añadir un elemento  </a:t>
            </a:r>
            <a:r>
              <a:rPr lang="es-ES" dirty="0" err="1" smtClean="0">
                <a:sym typeface="Wingdings" panose="05000000000000000000" pitchFamily="2" charset="2"/>
              </a:rPr>
              <a:t>append</a:t>
            </a:r>
            <a:r>
              <a:rPr lang="es-ES" dirty="0" smtClean="0">
                <a:sym typeface="Wingdings" panose="05000000000000000000" pitchFamily="2" charset="2"/>
              </a:rPr>
              <a:t>() </a:t>
            </a:r>
          </a:p>
          <a:p>
            <a:endParaRPr lang="es-ES" dirty="0" smtClean="0">
              <a:sym typeface="Wingdings" panose="05000000000000000000" pitchFamily="2" charset="2"/>
            </a:endParaRPr>
          </a:p>
          <a:p>
            <a:r>
              <a:rPr lang="es-ES" dirty="0" err="1" smtClean="0">
                <a:sym typeface="Wingdings" panose="05000000000000000000" pitchFamily="2" charset="2"/>
              </a:rPr>
              <a:t>lista.append</a:t>
            </a:r>
            <a:r>
              <a:rPr lang="es-ES" dirty="0" smtClean="0">
                <a:sym typeface="Wingdings" panose="05000000000000000000" pitchFamily="2" charset="2"/>
              </a:rPr>
              <a:t>(“ingeniero”) # ingeniero se añade al final</a:t>
            </a:r>
          </a:p>
          <a:p>
            <a:endParaRPr lang="es-ES" dirty="0">
              <a:sym typeface="Wingdings" panose="05000000000000000000" pitchFamily="2" charset="2"/>
            </a:endParaRPr>
          </a:p>
          <a:p>
            <a:pPr marL="285750" indent="-285750">
              <a:buFont typeface="Wingdings" panose="05000000000000000000" pitchFamily="2" charset="2"/>
              <a:buChar char="v"/>
            </a:pPr>
            <a:r>
              <a:rPr lang="es-ES" dirty="0">
                <a:sym typeface="Wingdings" panose="05000000000000000000" pitchFamily="2" charset="2"/>
              </a:rPr>
              <a:t>I</a:t>
            </a:r>
            <a:r>
              <a:rPr lang="es-ES" dirty="0" smtClean="0">
                <a:sym typeface="Wingdings" panose="05000000000000000000" pitchFamily="2" charset="2"/>
              </a:rPr>
              <a:t>nsertar un elemento en una posición determinada  </a:t>
            </a:r>
            <a:r>
              <a:rPr lang="es-ES" dirty="0" err="1" smtClean="0">
                <a:sym typeface="Wingdings" panose="05000000000000000000" pitchFamily="2" charset="2"/>
              </a:rPr>
              <a:t>insert</a:t>
            </a:r>
            <a:r>
              <a:rPr lang="es-ES" dirty="0" smtClean="0">
                <a:sym typeface="Wingdings" panose="05000000000000000000" pitchFamily="2" charset="2"/>
              </a:rPr>
              <a:t>(posición, elemento)</a:t>
            </a:r>
          </a:p>
          <a:p>
            <a:pPr marL="285750" indent="-285750">
              <a:buFont typeface="Wingdings" panose="05000000000000000000" pitchFamily="2" charset="2"/>
              <a:buChar char="v"/>
            </a:pPr>
            <a:endParaRPr lang="es-ES" dirty="0">
              <a:sym typeface="Wingdings" panose="05000000000000000000" pitchFamily="2" charset="2"/>
            </a:endParaRPr>
          </a:p>
          <a:p>
            <a:r>
              <a:rPr lang="es-ES" dirty="0" err="1" smtClean="0">
                <a:sym typeface="Wingdings" panose="05000000000000000000" pitchFamily="2" charset="2"/>
              </a:rPr>
              <a:t>lista.insert</a:t>
            </a:r>
            <a:r>
              <a:rPr lang="es-ES" dirty="0" smtClean="0">
                <a:sym typeface="Wingdings" panose="05000000000000000000" pitchFamily="2" charset="2"/>
              </a:rPr>
              <a:t>(2, “en paro”)</a:t>
            </a:r>
          </a:p>
          <a:p>
            <a:endParaRPr lang="es-ES" dirty="0">
              <a:sym typeface="Wingdings" panose="05000000000000000000" pitchFamily="2" charset="2"/>
            </a:endParaRPr>
          </a:p>
          <a:p>
            <a:r>
              <a:rPr lang="es-ES" dirty="0" smtClean="0">
                <a:sym typeface="Wingdings" panose="05000000000000000000" pitchFamily="2" charset="2"/>
              </a:rPr>
              <a:t># Eliminar un elemento </a:t>
            </a:r>
            <a:r>
              <a:rPr lang="es-ES" dirty="0" err="1" smtClean="0">
                <a:sym typeface="Wingdings" panose="05000000000000000000" pitchFamily="2" charset="2"/>
              </a:rPr>
              <a:t>remove</a:t>
            </a:r>
            <a:r>
              <a:rPr lang="es-ES" dirty="0" smtClean="0">
                <a:sym typeface="Wingdings" panose="05000000000000000000" pitchFamily="2" charset="2"/>
              </a:rPr>
              <a:t>(elemento)</a:t>
            </a:r>
          </a:p>
          <a:p>
            <a:endParaRPr lang="es-ES" dirty="0">
              <a:sym typeface="Wingdings" panose="05000000000000000000" pitchFamily="2" charset="2"/>
            </a:endParaRPr>
          </a:p>
          <a:p>
            <a:r>
              <a:rPr lang="es-ES" dirty="0" err="1" smtClean="0">
                <a:sym typeface="Wingdings" panose="05000000000000000000" pitchFamily="2" charset="2"/>
              </a:rPr>
              <a:t>lista.remove</a:t>
            </a:r>
            <a:r>
              <a:rPr lang="es-ES" dirty="0" smtClean="0">
                <a:sym typeface="Wingdings" panose="05000000000000000000" pitchFamily="2" charset="2"/>
              </a:rPr>
              <a:t>(“nombre”) # eliminamos la cadena nombre de la lista, si no está el elemento  error</a:t>
            </a: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36569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040943" cy="369332"/>
          </a:xfrm>
          <a:prstGeom prst="rect">
            <a:avLst/>
          </a:prstGeom>
        </p:spPr>
        <p:txBody>
          <a:bodyPr wrap="none">
            <a:spAutoFit/>
          </a:bodyPr>
          <a:lstStyle/>
          <a:p>
            <a:r>
              <a:rPr lang="es-ES" b="1" u="sng" dirty="0" smtClean="0"/>
              <a:t>Listas en Python:</a:t>
            </a:r>
            <a:endParaRPr lang="es-ES" b="1" u="sng" dirty="0"/>
          </a:p>
        </p:txBody>
      </p:sp>
      <p:sp>
        <p:nvSpPr>
          <p:cNvPr id="8" name="CuadroTexto 7"/>
          <p:cNvSpPr txBox="1"/>
          <p:nvPr/>
        </p:nvSpPr>
        <p:spPr>
          <a:xfrm>
            <a:off x="677334" y="1734493"/>
            <a:ext cx="9703038" cy="7294305"/>
          </a:xfrm>
          <a:prstGeom prst="rect">
            <a:avLst/>
          </a:prstGeom>
          <a:noFill/>
        </p:spPr>
        <p:txBody>
          <a:bodyPr wrap="square" rtlCol="0">
            <a:spAutoFit/>
          </a:bodyPr>
          <a:lstStyle/>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Obtener el elemento de una posición de la lista </a:t>
            </a:r>
          </a:p>
          <a:p>
            <a:endParaRPr lang="es-ES" dirty="0" smtClean="0">
              <a:sym typeface="Wingdings" panose="05000000000000000000" pitchFamily="2" charset="2"/>
            </a:endParaRPr>
          </a:p>
          <a:p>
            <a:r>
              <a:rPr lang="es-ES" dirty="0">
                <a:sym typeface="Wingdings" panose="05000000000000000000" pitchFamily="2" charset="2"/>
              </a:rPr>
              <a:t>l</a:t>
            </a:r>
            <a:r>
              <a:rPr lang="es-ES" dirty="0" smtClean="0">
                <a:sym typeface="Wingdings" panose="05000000000000000000" pitchFamily="2" charset="2"/>
              </a:rPr>
              <a:t>ista[2] # obtenemos el tercer elemento de la lista, OJO con que no exista ningún elemento en dicha posición</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Sumar dos listas</a:t>
            </a:r>
          </a:p>
          <a:p>
            <a:pPr marL="285750" indent="-285750">
              <a:buFont typeface="Wingdings" panose="05000000000000000000" pitchFamily="2" charset="2"/>
              <a:buChar char="v"/>
            </a:pPr>
            <a:endParaRPr lang="es-ES" dirty="0">
              <a:sym typeface="Wingdings" panose="05000000000000000000" pitchFamily="2" charset="2"/>
            </a:endParaRPr>
          </a:p>
          <a:p>
            <a:r>
              <a:rPr lang="es-ES" dirty="0" err="1" smtClean="0">
                <a:sym typeface="Wingdings" panose="05000000000000000000" pitchFamily="2" charset="2"/>
              </a:rPr>
              <a:t>lista_resultado</a:t>
            </a:r>
            <a:r>
              <a:rPr lang="es-ES" dirty="0" smtClean="0">
                <a:sym typeface="Wingdings" panose="05000000000000000000" pitchFamily="2" charset="2"/>
              </a:rPr>
              <a:t> = lista + [1 , 4]</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Dónde puedo ver todo lo que puedo hacer con las listas (página oficial)</a:t>
            </a:r>
          </a:p>
          <a:p>
            <a:endParaRPr lang="es-ES" dirty="0">
              <a:sym typeface="Wingdings" panose="05000000000000000000" pitchFamily="2" charset="2"/>
            </a:endParaRPr>
          </a:p>
          <a:p>
            <a:r>
              <a:rPr lang="es-ES" dirty="0">
                <a:sym typeface="Wingdings" panose="05000000000000000000" pitchFamily="2" charset="2"/>
                <a:hlinkClick r:id="rId2"/>
              </a:rPr>
              <a:t>https://</a:t>
            </a:r>
            <a:r>
              <a:rPr lang="es-ES" dirty="0" smtClean="0">
                <a:sym typeface="Wingdings" panose="05000000000000000000" pitchFamily="2" charset="2"/>
                <a:hlinkClick r:id="rId2"/>
              </a:rPr>
              <a:t>docs.python.org/2/tutorial/datastructures.html</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68075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040943" cy="369332"/>
          </a:xfrm>
          <a:prstGeom prst="rect">
            <a:avLst/>
          </a:prstGeom>
        </p:spPr>
        <p:txBody>
          <a:bodyPr wrap="none">
            <a:spAutoFit/>
          </a:bodyPr>
          <a:lstStyle/>
          <a:p>
            <a:r>
              <a:rPr lang="es-ES" b="1" u="sng" dirty="0" smtClean="0"/>
              <a:t>Listas en Python:</a:t>
            </a:r>
            <a:endParaRPr lang="es-ES" b="1" u="sng" dirty="0"/>
          </a:p>
        </p:txBody>
      </p:sp>
      <p:sp>
        <p:nvSpPr>
          <p:cNvPr id="8" name="CuadroTexto 7"/>
          <p:cNvSpPr txBox="1"/>
          <p:nvPr/>
        </p:nvSpPr>
        <p:spPr>
          <a:xfrm>
            <a:off x="677334" y="1734493"/>
            <a:ext cx="9703038" cy="7294305"/>
          </a:xfrm>
          <a:prstGeom prst="rect">
            <a:avLst/>
          </a:prstGeom>
          <a:noFill/>
        </p:spPr>
        <p:txBody>
          <a:bodyPr wrap="square" rtlCol="0">
            <a:spAutoFit/>
          </a:bodyPr>
          <a:lstStyle/>
          <a:p>
            <a:endParaRPr lang="es-ES" dirty="0" smtClean="0">
              <a:sym typeface="Wingdings" panose="05000000000000000000" pitchFamily="2" charset="2"/>
            </a:endParaRPr>
          </a:p>
          <a:p>
            <a:r>
              <a:rPr lang="es-ES" b="1" u="sng" dirty="0" smtClean="0">
                <a:sym typeface="Wingdings" panose="05000000000000000000" pitchFamily="2" charset="2"/>
              </a:rPr>
              <a:t>Formas de definir una lista </a:t>
            </a:r>
            <a:r>
              <a:rPr lang="es-ES" b="1" u="sng" dirty="0" err="1" smtClean="0">
                <a:sym typeface="Wingdings" panose="05000000000000000000" pitchFamily="2" charset="2"/>
              </a:rPr>
              <a:t>vacia</a:t>
            </a:r>
            <a:endParaRPr lang="es-ES" b="1" u="sng" dirty="0" smtClean="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Lista= []</a:t>
            </a:r>
          </a:p>
          <a:p>
            <a:endParaRPr lang="es-ES" dirty="0">
              <a:sym typeface="Wingdings" panose="05000000000000000000" pitchFamily="2" charset="2"/>
            </a:endParaRPr>
          </a:p>
          <a:p>
            <a:r>
              <a:rPr lang="es-ES" dirty="0" smtClean="0">
                <a:sym typeface="Wingdings" panose="05000000000000000000" pitchFamily="2" charset="2"/>
              </a:rPr>
              <a:t>O también:</a:t>
            </a:r>
          </a:p>
          <a:p>
            <a:endParaRPr lang="es-ES" dirty="0" smtClean="0">
              <a:sym typeface="Wingdings" panose="05000000000000000000" pitchFamily="2" charset="2"/>
            </a:endParaRPr>
          </a:p>
          <a:p>
            <a:r>
              <a:rPr lang="es-ES" dirty="0" smtClean="0">
                <a:sym typeface="Wingdings" panose="05000000000000000000" pitchFamily="2" charset="2"/>
              </a:rPr>
              <a:t>Lista = </a:t>
            </a:r>
            <a:r>
              <a:rPr lang="es-ES" dirty="0" err="1" smtClean="0">
                <a:sym typeface="Wingdings" panose="05000000000000000000" pitchFamily="2" charset="2"/>
              </a:rPr>
              <a:t>list</a:t>
            </a:r>
            <a:r>
              <a:rPr lang="es-ES" dirty="0" smtClean="0">
                <a:sym typeface="Wingdings" panose="05000000000000000000" pitchFamily="2" charset="2"/>
              </a:rPr>
              <a:t>()</a:t>
            </a:r>
          </a:p>
          <a:p>
            <a:endParaRPr lang="es-ES" dirty="0" smtClean="0">
              <a:sym typeface="Wingdings" panose="05000000000000000000" pitchFamily="2" charset="2"/>
            </a:endParaRPr>
          </a:p>
          <a:p>
            <a:r>
              <a:rPr lang="es-ES" dirty="0" smtClean="0">
                <a:sym typeface="Wingdings" panose="05000000000000000000" pitchFamily="2" charset="2"/>
              </a:rPr>
              <a:t>Ejemplo:</a:t>
            </a:r>
            <a:endParaRPr lang="es-ES" dirty="0">
              <a:sym typeface="Wingdings" panose="05000000000000000000" pitchFamily="2" charset="2"/>
            </a:endParaRPr>
          </a:p>
          <a:p>
            <a:r>
              <a:rPr lang="es-ES" dirty="0">
                <a:sym typeface="Wingdings" panose="05000000000000000000" pitchFamily="2" charset="2"/>
              </a:rPr>
              <a:t>&gt;&gt;&gt; lista1 = </a:t>
            </a:r>
            <a:r>
              <a:rPr lang="es-ES" dirty="0" err="1">
                <a:sym typeface="Wingdings" panose="05000000000000000000" pitchFamily="2" charset="2"/>
              </a:rPr>
              <a:t>list</a:t>
            </a:r>
            <a:r>
              <a:rPr lang="es-ES" dirty="0">
                <a:sym typeface="Wingdings" panose="05000000000000000000" pitchFamily="2" charset="2"/>
              </a:rPr>
              <a:t>()</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(lista1)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'&gt;</a:t>
            </a:r>
          </a:p>
          <a:p>
            <a:r>
              <a:rPr lang="es-ES" dirty="0">
                <a:sym typeface="Wingdings" panose="05000000000000000000" pitchFamily="2" charset="2"/>
              </a:rPr>
              <a:t>&gt;&gt;&gt; lista2 = []</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(lista2)</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'&gt;</a:t>
            </a: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780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012363" cy="369332"/>
          </a:xfrm>
          <a:prstGeom prst="rect">
            <a:avLst/>
          </a:prstGeom>
        </p:spPr>
        <p:txBody>
          <a:bodyPr wrap="none">
            <a:spAutoFit/>
          </a:bodyPr>
          <a:lstStyle/>
          <a:p>
            <a:r>
              <a:rPr lang="es-ES" b="1" u="sng" dirty="0" err="1" smtClean="0"/>
              <a:t>Tuplas</a:t>
            </a:r>
            <a:r>
              <a:rPr lang="es-ES" b="1" u="sng" dirty="0" smtClean="0"/>
              <a:t> (</a:t>
            </a:r>
            <a:r>
              <a:rPr lang="es-ES" b="1" u="sng" dirty="0" err="1" smtClean="0"/>
              <a:t>tuples</a:t>
            </a:r>
            <a:r>
              <a:rPr lang="es-ES" b="1" u="sng" dirty="0" smtClean="0"/>
              <a:t>) en Python:</a:t>
            </a:r>
            <a:endParaRPr lang="es-ES" b="1" u="sng" dirty="0"/>
          </a:p>
        </p:txBody>
      </p:sp>
      <p:sp>
        <p:nvSpPr>
          <p:cNvPr id="8" name="CuadroTexto 7"/>
          <p:cNvSpPr txBox="1"/>
          <p:nvPr/>
        </p:nvSpPr>
        <p:spPr>
          <a:xfrm>
            <a:off x="677334" y="1734493"/>
            <a:ext cx="9703038" cy="8402300"/>
          </a:xfrm>
          <a:prstGeom prst="rect">
            <a:avLst/>
          </a:prstGeom>
          <a:noFill/>
        </p:spPr>
        <p:txBody>
          <a:bodyPr wrap="square" rtlCol="0">
            <a:spAutoFit/>
          </a:bodyPr>
          <a:lstStyle/>
          <a:p>
            <a:endParaRPr lang="es-ES" dirty="0" smtClean="0">
              <a:sym typeface="Wingdings" panose="05000000000000000000" pitchFamily="2" charset="2"/>
            </a:endParaRPr>
          </a:p>
          <a:p>
            <a:r>
              <a:rPr lang="es-ES" dirty="0" smtClean="0">
                <a:sym typeface="Wingdings" panose="05000000000000000000" pitchFamily="2" charset="2"/>
              </a:rPr>
              <a:t>Es muy similar a una lista, pero con algunas diferencias</a:t>
            </a:r>
          </a:p>
          <a:p>
            <a:endParaRPr lang="es-ES" dirty="0">
              <a:sym typeface="Wingdings" panose="05000000000000000000" pitchFamily="2" charset="2"/>
            </a:endParaRPr>
          </a:p>
          <a:p>
            <a:r>
              <a:rPr lang="es-ES" dirty="0" err="1" smtClean="0">
                <a:sym typeface="Wingdings" panose="05000000000000000000" pitchFamily="2" charset="2"/>
              </a:rPr>
              <a:t>variable_tupla</a:t>
            </a:r>
            <a:r>
              <a:rPr lang="es-ES" dirty="0" smtClean="0">
                <a:sym typeface="Wingdings" panose="05000000000000000000" pitchFamily="2" charset="2"/>
              </a:rPr>
              <a:t> = (1, 3) </a:t>
            </a:r>
          </a:p>
          <a:p>
            <a:endParaRPr lang="es-ES" dirty="0">
              <a:sym typeface="Wingdings" panose="05000000000000000000" pitchFamily="2" charset="2"/>
            </a:endParaRPr>
          </a:p>
          <a:p>
            <a:r>
              <a:rPr lang="es-ES" dirty="0" smtClean="0">
                <a:sym typeface="Wingdings" panose="05000000000000000000" pitchFamily="2" charset="2"/>
              </a:rPr>
              <a:t>Diferencias:</a:t>
            </a:r>
          </a:p>
          <a:p>
            <a:pPr marL="742950" lvl="1" indent="-285750">
              <a:buFont typeface="Wingdings" panose="05000000000000000000" pitchFamily="2" charset="2"/>
              <a:buChar char="v"/>
            </a:pPr>
            <a:r>
              <a:rPr lang="es-ES" dirty="0" smtClean="0">
                <a:sym typeface="Wingdings" panose="05000000000000000000" pitchFamily="2" charset="2"/>
              </a:rPr>
              <a:t>Van entre paréntesis (las listas van entre corchetes)</a:t>
            </a:r>
          </a:p>
          <a:p>
            <a:pPr marL="742950" lvl="1" indent="-285750">
              <a:buFont typeface="Wingdings" panose="05000000000000000000" pitchFamily="2" charset="2"/>
              <a:buChar char="v"/>
            </a:pPr>
            <a:r>
              <a:rPr lang="es-ES" dirty="0" smtClean="0">
                <a:sym typeface="Wingdings" panose="05000000000000000000" pitchFamily="2" charset="2"/>
              </a:rPr>
              <a:t>No se pueden modificar, sólo lectura</a:t>
            </a:r>
          </a:p>
          <a:p>
            <a:endParaRPr lang="es-ES" dirty="0">
              <a:sym typeface="Wingdings" panose="05000000000000000000" pitchFamily="2" charset="2"/>
            </a:endParaRPr>
          </a:p>
          <a:p>
            <a:r>
              <a:rPr lang="es-ES" dirty="0" smtClean="0">
                <a:sym typeface="Wingdings" panose="05000000000000000000" pitchFamily="2" charset="2"/>
              </a:rPr>
              <a:t>Ejemplo:</a:t>
            </a:r>
          </a:p>
          <a:p>
            <a:endParaRPr lang="es-ES" dirty="0">
              <a:sym typeface="Wingdings" panose="05000000000000000000" pitchFamily="2" charset="2"/>
            </a:endParaRPr>
          </a:p>
          <a:p>
            <a:r>
              <a:rPr lang="es-ES" dirty="0" err="1" smtClean="0">
                <a:sym typeface="Wingdings" panose="05000000000000000000" pitchFamily="2" charset="2"/>
              </a:rPr>
              <a:t>variable_tupla</a:t>
            </a:r>
            <a:r>
              <a:rPr lang="es-ES" dirty="0" smtClean="0">
                <a:sym typeface="Wingdings" panose="05000000000000000000" pitchFamily="2" charset="2"/>
              </a:rPr>
              <a:t>[0] = 5 # produciría un error ya que no podemos escribir sobre la </a:t>
            </a:r>
            <a:r>
              <a:rPr lang="es-ES" dirty="0" err="1" smtClean="0">
                <a:sym typeface="Wingdings" panose="05000000000000000000" pitchFamily="2" charset="2"/>
              </a:rPr>
              <a:t>tupla</a:t>
            </a:r>
            <a:endParaRPr lang="es-ES" dirty="0" smtClean="0">
              <a:sym typeface="Wingdings" panose="05000000000000000000" pitchFamily="2" charset="2"/>
            </a:endParaRPr>
          </a:p>
          <a:p>
            <a:endParaRPr lang="es-ES" dirty="0">
              <a:sym typeface="Wingdings" panose="05000000000000000000" pitchFamily="2" charset="2"/>
            </a:endParaRPr>
          </a:p>
          <a:p>
            <a:r>
              <a:rPr lang="en-US" dirty="0">
                <a:sym typeface="Wingdings" panose="05000000000000000000" pitchFamily="2" charset="2"/>
              </a:rPr>
              <a:t>&gt;&gt;&gt; </a:t>
            </a:r>
            <a:r>
              <a:rPr lang="en-US" dirty="0" err="1">
                <a:sym typeface="Wingdings" panose="05000000000000000000" pitchFamily="2" charset="2"/>
              </a:rPr>
              <a:t>variable_tupla</a:t>
            </a:r>
            <a:r>
              <a:rPr lang="en-US" dirty="0">
                <a:sym typeface="Wingdings" panose="05000000000000000000" pitchFamily="2" charset="2"/>
              </a:rPr>
              <a:t>[0] = 3</a:t>
            </a:r>
          </a:p>
          <a:p>
            <a:r>
              <a:rPr lang="en-US" dirty="0" err="1">
                <a:sym typeface="Wingdings" panose="05000000000000000000" pitchFamily="2" charset="2"/>
              </a:rPr>
              <a:t>Traceback</a:t>
            </a:r>
            <a:r>
              <a:rPr lang="en-US" dirty="0">
                <a:sym typeface="Wingdings" panose="05000000000000000000" pitchFamily="2" charset="2"/>
              </a:rPr>
              <a:t> (most recent call last):</a:t>
            </a:r>
          </a:p>
          <a:p>
            <a:r>
              <a:rPr lang="en-US" dirty="0">
                <a:sym typeface="Wingdings" panose="05000000000000000000" pitchFamily="2" charset="2"/>
              </a:rPr>
              <a:t>  File "&lt;</a:t>
            </a:r>
            <a:r>
              <a:rPr lang="en-US" dirty="0" err="1">
                <a:sym typeface="Wingdings" panose="05000000000000000000" pitchFamily="2" charset="2"/>
              </a:rPr>
              <a:t>stdin</a:t>
            </a:r>
            <a:r>
              <a:rPr lang="en-US" dirty="0">
                <a:sym typeface="Wingdings" panose="05000000000000000000" pitchFamily="2" charset="2"/>
              </a:rPr>
              <a:t>&gt;", line 1, in &lt;module&gt;</a:t>
            </a:r>
          </a:p>
          <a:p>
            <a:r>
              <a:rPr lang="en-US" dirty="0" err="1">
                <a:sym typeface="Wingdings" panose="05000000000000000000" pitchFamily="2" charset="2"/>
              </a:rPr>
              <a:t>TypeError</a:t>
            </a:r>
            <a:r>
              <a:rPr lang="en-US" dirty="0">
                <a:sym typeface="Wingdings" panose="05000000000000000000" pitchFamily="2" charset="2"/>
              </a:rPr>
              <a:t>: 'tuple' object does not support item assignment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09464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741456" cy="369332"/>
          </a:xfrm>
          <a:prstGeom prst="rect">
            <a:avLst/>
          </a:prstGeom>
        </p:spPr>
        <p:txBody>
          <a:bodyPr wrap="none">
            <a:spAutoFit/>
          </a:bodyPr>
          <a:lstStyle/>
          <a:p>
            <a:r>
              <a:rPr lang="es-ES" b="1" u="sng" dirty="0" smtClean="0"/>
              <a:t>Diccionarios en Python:</a:t>
            </a:r>
            <a:endParaRPr lang="es-ES" b="1" u="sng" dirty="0"/>
          </a:p>
        </p:txBody>
      </p:sp>
      <p:sp>
        <p:nvSpPr>
          <p:cNvPr id="8" name="CuadroTexto 7"/>
          <p:cNvSpPr txBox="1"/>
          <p:nvPr/>
        </p:nvSpPr>
        <p:spPr>
          <a:xfrm>
            <a:off x="677334" y="1734493"/>
            <a:ext cx="9703038" cy="4862870"/>
          </a:xfrm>
          <a:prstGeom prst="rect">
            <a:avLst/>
          </a:prstGeom>
          <a:noFill/>
        </p:spPr>
        <p:txBody>
          <a:bodyPr wrap="square" rtlCol="0">
            <a:spAutoFit/>
          </a:bodyPr>
          <a:lstStyle/>
          <a:p>
            <a:r>
              <a:rPr lang="es-ES" dirty="0" smtClean="0">
                <a:sym typeface="Wingdings" panose="05000000000000000000" pitchFamily="2" charset="2"/>
              </a:rPr>
              <a:t>Estructura de datos más compleja (hash). Parejas </a:t>
            </a:r>
            <a:r>
              <a:rPr lang="es-ES" dirty="0" err="1" smtClean="0">
                <a:sym typeface="Wingdings" panose="05000000000000000000" pitchFamily="2" charset="2"/>
              </a:rPr>
              <a:t>key-value</a:t>
            </a:r>
            <a:endParaRPr lang="es-ES" dirty="0" smtClean="0">
              <a:sym typeface="Wingdings" panose="05000000000000000000" pitchFamily="2" charset="2"/>
            </a:endParaRPr>
          </a:p>
          <a:p>
            <a:endParaRPr lang="es-ES" dirty="0">
              <a:sym typeface="Wingdings" panose="05000000000000000000" pitchFamily="2" charset="2"/>
            </a:endParaRPr>
          </a:p>
          <a:p>
            <a:r>
              <a:rPr lang="es-ES" dirty="0">
                <a:sym typeface="Wingdings" panose="05000000000000000000" pitchFamily="2" charset="2"/>
              </a:rPr>
              <a:t>diccionario = </a:t>
            </a:r>
            <a:r>
              <a:rPr lang="es-ES" dirty="0" smtClean="0">
                <a:sym typeface="Wingdings" panose="05000000000000000000" pitchFamily="2" charset="2"/>
              </a:rPr>
              <a:t>{‘clave1': valor1, 'clave2': valor2, ‘clave3': valor3'}</a:t>
            </a:r>
          </a:p>
          <a:p>
            <a:endParaRPr lang="es-ES" sz="1100" dirty="0">
              <a:sym typeface="Wingdings" panose="05000000000000000000" pitchFamily="2" charset="2"/>
            </a:endParaRPr>
          </a:p>
          <a:p>
            <a:r>
              <a:rPr lang="es-ES" dirty="0" smtClean="0">
                <a:sym typeface="Wingdings" panose="05000000000000000000" pitchFamily="2" charset="2"/>
              </a:rPr>
              <a:t>diccionario </a:t>
            </a:r>
            <a:r>
              <a:rPr lang="es-ES" dirty="0">
                <a:sym typeface="Wingdings" panose="05000000000000000000" pitchFamily="2" charset="2"/>
              </a:rPr>
              <a:t>= </a:t>
            </a:r>
            <a:r>
              <a:rPr lang="es-ES" dirty="0" smtClean="0">
                <a:sym typeface="Wingdings" panose="05000000000000000000" pitchFamily="2" charset="2"/>
              </a:rPr>
              <a:t>{‘a': 1,‘b': 2, ‘c': ‘3'}</a:t>
            </a:r>
          </a:p>
          <a:p>
            <a:endParaRPr lang="es-ES" sz="1100" dirty="0">
              <a:sym typeface="Wingdings" panose="05000000000000000000" pitchFamily="2" charset="2"/>
            </a:endParaRPr>
          </a:p>
          <a:p>
            <a:r>
              <a:rPr lang="es-ES" dirty="0" smtClean="0">
                <a:sym typeface="Wingdings" panose="05000000000000000000" pitchFamily="2" charset="2"/>
              </a:rPr>
              <a:t>Ejemplos:</a:t>
            </a:r>
          </a:p>
          <a:p>
            <a:r>
              <a:rPr lang="es-ES" dirty="0">
                <a:sym typeface="Wingdings" panose="05000000000000000000" pitchFamily="2" charset="2"/>
              </a:rPr>
              <a:t>&gt;&gt;&gt; diccionario = { 'a': 1, 'b': 2, 'c': 3</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definimos el diccionario</a:t>
            </a:r>
            <a:endParaRPr lang="es-ES" dirty="0">
              <a:sym typeface="Wingdings" panose="05000000000000000000" pitchFamily="2" charset="2"/>
            </a:endParaRPr>
          </a:p>
          <a:p>
            <a:r>
              <a:rPr lang="es-ES" dirty="0">
                <a:sym typeface="Wingdings" panose="05000000000000000000" pitchFamily="2" charset="2"/>
              </a:rPr>
              <a:t>&gt;&gt;&gt; diccionario['a']</a:t>
            </a:r>
          </a:p>
          <a:p>
            <a:r>
              <a:rPr lang="es-ES" dirty="0">
                <a:sym typeface="Wingdings" panose="05000000000000000000" pitchFamily="2" charset="2"/>
              </a:rPr>
              <a:t>1</a:t>
            </a:r>
          </a:p>
          <a:p>
            <a:r>
              <a:rPr lang="es-ES" dirty="0">
                <a:sym typeface="Wingdings" panose="05000000000000000000" pitchFamily="2" charset="2"/>
              </a:rPr>
              <a:t>&gt;&gt;&gt; diccionario['b']</a:t>
            </a:r>
          </a:p>
          <a:p>
            <a:r>
              <a:rPr lang="es-ES" dirty="0">
                <a:sym typeface="Wingdings" panose="05000000000000000000" pitchFamily="2" charset="2"/>
              </a:rPr>
              <a:t>2</a:t>
            </a:r>
          </a:p>
          <a:p>
            <a:r>
              <a:rPr lang="es-ES" dirty="0">
                <a:sym typeface="Wingdings" panose="05000000000000000000" pitchFamily="2" charset="2"/>
              </a:rPr>
              <a:t>&gt;&gt;&gt; diccionario['c']</a:t>
            </a:r>
          </a:p>
          <a:p>
            <a:r>
              <a:rPr lang="es-ES" dirty="0">
                <a:sym typeface="Wingdings" panose="05000000000000000000" pitchFamily="2" charset="2"/>
              </a:rPr>
              <a:t>3</a:t>
            </a:r>
          </a:p>
          <a:p>
            <a:r>
              <a:rPr lang="es-ES" dirty="0">
                <a:sym typeface="Wingdings" panose="05000000000000000000" pitchFamily="2" charset="2"/>
              </a:rPr>
              <a:t>&gt;&gt;&gt; diccionario['d'] = </a:t>
            </a:r>
            <a:r>
              <a:rPr lang="es-ES" dirty="0" smtClean="0">
                <a:sym typeface="Wingdings" panose="05000000000000000000" pitchFamily="2" charset="2"/>
              </a:rPr>
              <a:t>4 </a:t>
            </a:r>
            <a:r>
              <a:rPr lang="es-ES" dirty="0" smtClean="0">
                <a:solidFill>
                  <a:srgbClr val="0070C0"/>
                </a:solidFill>
                <a:sym typeface="Wingdings" panose="05000000000000000000" pitchFamily="2" charset="2"/>
              </a:rPr>
              <a:t># podemos añadir otra </a:t>
            </a:r>
            <a:r>
              <a:rPr lang="es-ES" dirty="0" err="1" smtClean="0">
                <a:solidFill>
                  <a:srgbClr val="0070C0"/>
                </a:solidFill>
                <a:sym typeface="Wingdings" panose="05000000000000000000" pitchFamily="2" charset="2"/>
              </a:rPr>
              <a:t>key-value</a:t>
            </a:r>
            <a:r>
              <a:rPr lang="es-ES" dirty="0" smtClean="0">
                <a:solidFill>
                  <a:srgbClr val="0070C0"/>
                </a:solidFill>
                <a:sym typeface="Wingdings" panose="05000000000000000000" pitchFamily="2" charset="2"/>
              </a:rPr>
              <a:t> cuando queramos</a:t>
            </a:r>
            <a:endParaRPr lang="es-ES" dirty="0">
              <a:sym typeface="Wingdings" panose="05000000000000000000" pitchFamily="2" charset="2"/>
            </a:endParaRPr>
          </a:p>
          <a:p>
            <a:r>
              <a:rPr lang="es-ES" dirty="0">
                <a:sym typeface="Wingdings" panose="05000000000000000000" pitchFamily="2" charset="2"/>
              </a:rPr>
              <a:t>&gt;&gt;&gt; diccionario</a:t>
            </a:r>
          </a:p>
          <a:p>
            <a:r>
              <a:rPr lang="es-ES" dirty="0">
                <a:sym typeface="Wingdings" panose="05000000000000000000" pitchFamily="2" charset="2"/>
              </a:rPr>
              <a:t>{'a': 1, 'c': 3, 'b': 2, 'd': 4}</a:t>
            </a: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939946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741456" cy="369332"/>
          </a:xfrm>
          <a:prstGeom prst="rect">
            <a:avLst/>
          </a:prstGeom>
        </p:spPr>
        <p:txBody>
          <a:bodyPr wrap="none">
            <a:spAutoFit/>
          </a:bodyPr>
          <a:lstStyle/>
          <a:p>
            <a:r>
              <a:rPr lang="es-ES" b="1" u="sng" dirty="0" smtClean="0"/>
              <a:t>Diccionarios en Python:</a:t>
            </a:r>
            <a:endParaRPr lang="es-ES" b="1" u="sng" dirty="0"/>
          </a:p>
        </p:txBody>
      </p:sp>
      <p:sp>
        <p:nvSpPr>
          <p:cNvPr id="8" name="CuadroTexto 7"/>
          <p:cNvSpPr txBox="1"/>
          <p:nvPr/>
        </p:nvSpPr>
        <p:spPr>
          <a:xfrm>
            <a:off x="677334" y="1734493"/>
            <a:ext cx="9703038" cy="3416320"/>
          </a:xfrm>
          <a:prstGeom prst="rect">
            <a:avLst/>
          </a:prstGeom>
          <a:noFill/>
        </p:spPr>
        <p:txBody>
          <a:bodyPr wrap="square" rtlCol="0">
            <a:spAutoFit/>
          </a:bodyPr>
          <a:lstStyle/>
          <a:p>
            <a:r>
              <a:rPr lang="es-ES" dirty="0" smtClean="0">
                <a:sym typeface="Wingdings" panose="05000000000000000000" pitchFamily="2" charset="2"/>
              </a:rPr>
              <a:t>Métodos muy útiles para el manejo de diccionarios, .ítems(), .</a:t>
            </a:r>
            <a:r>
              <a:rPr lang="es-ES" dirty="0" err="1" smtClean="0">
                <a:sym typeface="Wingdings" panose="05000000000000000000" pitchFamily="2" charset="2"/>
              </a:rPr>
              <a:t>values</a:t>
            </a:r>
            <a:r>
              <a:rPr lang="es-ES" dirty="0" smtClean="0">
                <a:sym typeface="Wingdings" panose="05000000000000000000" pitchFamily="2" charset="2"/>
              </a:rPr>
              <a:t>(), .</a:t>
            </a:r>
            <a:r>
              <a:rPr lang="es-ES" dirty="0" err="1" smtClean="0">
                <a:sym typeface="Wingdings" panose="05000000000000000000" pitchFamily="2" charset="2"/>
              </a:rPr>
              <a:t>keys</a:t>
            </a:r>
            <a:r>
              <a:rPr lang="es-ES" dirty="0" smtClean="0">
                <a:sym typeface="Wingdings" panose="05000000000000000000" pitchFamily="2" charset="2"/>
              </a:rPr>
              <a:t>()</a:t>
            </a:r>
          </a:p>
          <a:p>
            <a:endParaRPr lang="es-ES" dirty="0" smtClean="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diccionario.items</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devuelve la </a:t>
            </a:r>
            <a:r>
              <a:rPr lang="es-ES" dirty="0" err="1" smtClean="0">
                <a:solidFill>
                  <a:srgbClr val="0070C0"/>
                </a:solidFill>
                <a:sym typeface="Wingdings" panose="05000000000000000000" pitchFamily="2" charset="2"/>
              </a:rPr>
              <a:t>key-value</a:t>
            </a:r>
            <a:r>
              <a:rPr lang="es-ES" dirty="0" smtClean="0">
                <a:solidFill>
                  <a:srgbClr val="0070C0"/>
                </a:solidFill>
                <a:sym typeface="Wingdings" panose="05000000000000000000" pitchFamily="2" charset="2"/>
              </a:rPr>
              <a:t> como una lista de </a:t>
            </a:r>
            <a:r>
              <a:rPr lang="es-ES" dirty="0" err="1" smtClean="0">
                <a:solidFill>
                  <a:srgbClr val="0070C0"/>
                </a:solidFill>
                <a:sym typeface="Wingdings" panose="05000000000000000000" pitchFamily="2" charset="2"/>
              </a:rPr>
              <a:t>tuplas</a:t>
            </a:r>
            <a:endParaRPr lang="es-ES" dirty="0">
              <a:sym typeface="Wingdings" panose="05000000000000000000" pitchFamily="2" charset="2"/>
            </a:endParaRPr>
          </a:p>
          <a:p>
            <a:r>
              <a:rPr lang="es-ES" dirty="0">
                <a:sym typeface="Wingdings" panose="05000000000000000000" pitchFamily="2" charset="2"/>
              </a:rPr>
              <a:t>[('a', 1), ('c', 3), ('b', 2), ('d', 4</a:t>
            </a:r>
            <a:r>
              <a:rPr lang="es-ES" dirty="0" smtClean="0">
                <a:sym typeface="Wingdings" panose="05000000000000000000" pitchFamily="2" charset="2"/>
              </a:rPr>
              <a:t>)]</a:t>
            </a:r>
          </a:p>
          <a:p>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diccionario.values</a:t>
            </a:r>
            <a:r>
              <a:rPr lang="es-ES" dirty="0" smtClean="0">
                <a:sym typeface="Wingdings" panose="05000000000000000000" pitchFamily="2" charset="2"/>
              </a:rPr>
              <a:t>() </a:t>
            </a:r>
            <a:r>
              <a:rPr lang="es-ES" dirty="0">
                <a:solidFill>
                  <a:srgbClr val="0070C0"/>
                </a:solidFill>
                <a:sym typeface="Wingdings" panose="05000000000000000000" pitchFamily="2" charset="2"/>
              </a:rPr>
              <a:t># devuelve </a:t>
            </a:r>
            <a:r>
              <a:rPr lang="es-ES" dirty="0" err="1" smtClean="0">
                <a:solidFill>
                  <a:srgbClr val="0070C0"/>
                </a:solidFill>
                <a:sym typeface="Wingdings" panose="05000000000000000000" pitchFamily="2" charset="2"/>
              </a:rPr>
              <a:t>values</a:t>
            </a:r>
            <a:r>
              <a:rPr lang="es-ES" dirty="0" smtClean="0">
                <a:solidFill>
                  <a:srgbClr val="0070C0"/>
                </a:solidFill>
                <a:sym typeface="Wingdings" panose="05000000000000000000" pitchFamily="2" charset="2"/>
              </a:rPr>
              <a:t> </a:t>
            </a:r>
            <a:endParaRPr lang="es-ES" dirty="0">
              <a:sym typeface="Wingdings" panose="05000000000000000000" pitchFamily="2" charset="2"/>
            </a:endParaRPr>
          </a:p>
          <a:p>
            <a:r>
              <a:rPr lang="es-ES" dirty="0">
                <a:sym typeface="Wingdings" panose="05000000000000000000" pitchFamily="2" charset="2"/>
              </a:rPr>
              <a:t>[1, 3, 2, 4</a:t>
            </a:r>
            <a:r>
              <a:rPr lang="es-ES" dirty="0" smtClean="0">
                <a:sym typeface="Wingdings" panose="05000000000000000000" pitchFamily="2" charset="2"/>
              </a:rPr>
              <a:t>]</a:t>
            </a:r>
          </a:p>
          <a:p>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diccionario.keys</a:t>
            </a:r>
            <a:r>
              <a:rPr lang="es-ES" dirty="0" smtClean="0">
                <a:sym typeface="Wingdings" panose="05000000000000000000" pitchFamily="2" charset="2"/>
              </a:rPr>
              <a:t>() </a:t>
            </a:r>
            <a:r>
              <a:rPr lang="es-ES" dirty="0">
                <a:solidFill>
                  <a:srgbClr val="0070C0"/>
                </a:solidFill>
                <a:sym typeface="Wingdings" panose="05000000000000000000" pitchFamily="2" charset="2"/>
              </a:rPr>
              <a:t># devuelve </a:t>
            </a:r>
            <a:r>
              <a:rPr lang="es-ES" dirty="0" err="1">
                <a:solidFill>
                  <a:srgbClr val="0070C0"/>
                </a:solidFill>
                <a:sym typeface="Wingdings" panose="05000000000000000000" pitchFamily="2" charset="2"/>
              </a:rPr>
              <a:t>values</a:t>
            </a:r>
            <a:endParaRPr lang="es-ES" dirty="0">
              <a:sym typeface="Wingdings" panose="05000000000000000000" pitchFamily="2" charset="2"/>
            </a:endParaRPr>
          </a:p>
          <a:p>
            <a:r>
              <a:rPr lang="es-ES" dirty="0">
                <a:sym typeface="Wingdings" panose="05000000000000000000" pitchFamily="2" charset="2"/>
              </a:rPr>
              <a:t>['a', 'c', 'b', 'd']</a:t>
            </a: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29974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1671035" cy="369332"/>
          </a:xfrm>
          <a:prstGeom prst="rect">
            <a:avLst/>
          </a:prstGeom>
        </p:spPr>
        <p:txBody>
          <a:bodyPr wrap="none">
            <a:spAutoFit/>
          </a:bodyPr>
          <a:lstStyle/>
          <a:p>
            <a:r>
              <a:rPr lang="es-ES" b="1" u="sng" dirty="0" smtClean="0"/>
              <a:t>Función </a:t>
            </a:r>
            <a:r>
              <a:rPr lang="es-ES" b="1" u="sng" dirty="0" err="1" smtClean="0"/>
              <a:t>type</a:t>
            </a:r>
            <a:r>
              <a:rPr lang="es-ES" b="1" u="sng" dirty="0" smtClean="0"/>
              <a:t>:</a:t>
            </a:r>
            <a:endParaRPr lang="es-ES" b="1" u="sng" dirty="0"/>
          </a:p>
        </p:txBody>
      </p:sp>
      <p:sp>
        <p:nvSpPr>
          <p:cNvPr id="8" name="CuadroTexto 7"/>
          <p:cNvSpPr txBox="1"/>
          <p:nvPr/>
        </p:nvSpPr>
        <p:spPr>
          <a:xfrm>
            <a:off x="677334" y="1734493"/>
            <a:ext cx="9703038" cy="8402300"/>
          </a:xfrm>
          <a:prstGeom prst="rect">
            <a:avLst/>
          </a:prstGeom>
          <a:noFill/>
        </p:spPr>
        <p:txBody>
          <a:bodyPr wrap="square" rtlCol="0">
            <a:spAutoFit/>
          </a:bodyPr>
          <a:lstStyle/>
          <a:p>
            <a:endParaRPr lang="es-ES" dirty="0" smtClean="0">
              <a:sym typeface="Wingdings" panose="05000000000000000000" pitchFamily="2" charset="2"/>
            </a:endParaRPr>
          </a:p>
          <a:p>
            <a:r>
              <a:rPr lang="es-ES" dirty="0" smtClean="0">
                <a:sym typeface="Wingdings" panose="05000000000000000000" pitchFamily="2" charset="2"/>
              </a:rPr>
              <a:t>Esta función nos permite conocer el tipo de una variable</a:t>
            </a:r>
          </a:p>
          <a:p>
            <a:endParaRPr lang="es-ES" dirty="0">
              <a:sym typeface="Wingdings" panose="05000000000000000000" pitchFamily="2" charset="2"/>
            </a:endParaRPr>
          </a:p>
          <a:p>
            <a:r>
              <a:rPr lang="es-ES" dirty="0" smtClean="0">
                <a:sym typeface="Wingdings" panose="05000000000000000000" pitchFamily="2" charset="2"/>
              </a:rPr>
              <a:t>Ejemplos:</a:t>
            </a:r>
          </a:p>
          <a:p>
            <a:endParaRPr lang="es-ES" dirty="0">
              <a:sym typeface="Wingdings" panose="05000000000000000000" pitchFamily="2" charset="2"/>
            </a:endParaRPr>
          </a:p>
          <a:p>
            <a:r>
              <a:rPr lang="es-ES" dirty="0">
                <a:sym typeface="Wingdings" panose="05000000000000000000" pitchFamily="2" charset="2"/>
              </a:rPr>
              <a:t>&gt;&gt;&gt; var1 = 5</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(var1)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int</a:t>
            </a:r>
            <a:r>
              <a:rPr lang="es-ES" dirty="0">
                <a:sym typeface="Wingdings" panose="05000000000000000000" pitchFamily="2" charset="2"/>
              </a:rPr>
              <a:t>'&gt;</a:t>
            </a:r>
          </a:p>
          <a:p>
            <a:r>
              <a:rPr lang="es-ES" dirty="0">
                <a:sym typeface="Wingdings" panose="05000000000000000000" pitchFamily="2" charset="2"/>
              </a:rPr>
              <a:t>&gt;&gt;&gt; var1 = "hola mundo"</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(var1)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str</a:t>
            </a:r>
            <a:r>
              <a:rPr lang="es-ES" dirty="0">
                <a:sym typeface="Wingdings" panose="05000000000000000000" pitchFamily="2" charset="2"/>
              </a:rPr>
              <a:t>'&gt;</a:t>
            </a:r>
          </a:p>
          <a:p>
            <a:r>
              <a:rPr lang="es-ES" dirty="0">
                <a:sym typeface="Wingdings" panose="05000000000000000000" pitchFamily="2" charset="2"/>
              </a:rPr>
              <a:t>&gt;&gt;&gt; var1 = (1,2)</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(var1)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tuple</a:t>
            </a:r>
            <a:r>
              <a:rPr lang="es-ES" dirty="0">
                <a:sym typeface="Wingdings" panose="05000000000000000000" pitchFamily="2" charset="2"/>
              </a:rPr>
              <a:t>'&gt;</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806221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00766"/>
            <a:ext cx="2354299" cy="369332"/>
          </a:xfrm>
          <a:prstGeom prst="rect">
            <a:avLst/>
          </a:prstGeom>
        </p:spPr>
        <p:txBody>
          <a:bodyPr wrap="none">
            <a:spAutoFit/>
          </a:bodyPr>
          <a:lstStyle/>
          <a:p>
            <a:r>
              <a:rPr lang="es-ES" b="1" u="sng" dirty="0" smtClean="0"/>
              <a:t>Operadores básicos:</a:t>
            </a:r>
            <a:endParaRPr lang="es-ES" b="1" u="sng" dirty="0"/>
          </a:p>
        </p:txBody>
      </p:sp>
      <p:sp>
        <p:nvSpPr>
          <p:cNvPr id="8" name="CuadroTexto 7"/>
          <p:cNvSpPr txBox="1"/>
          <p:nvPr/>
        </p:nvSpPr>
        <p:spPr>
          <a:xfrm>
            <a:off x="677335" y="1734494"/>
            <a:ext cx="4899218" cy="10618291"/>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Suma y resta:</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smtClean="0">
                <a:sym typeface="Wingdings" panose="05000000000000000000" pitchFamily="2" charset="2"/>
              </a:rPr>
              <a:t>7</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-1</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Multiplicación y división:</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12</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a:t>
            </a:r>
            <a:r>
              <a:rPr lang="es-ES" dirty="0" smtClean="0">
                <a:sym typeface="Wingdings" panose="05000000000000000000" pitchFamily="2" charset="2"/>
              </a:rPr>
              <a:t>4  # </a:t>
            </a:r>
            <a:r>
              <a:rPr lang="es-ES" dirty="0" smtClean="0">
                <a:solidFill>
                  <a:srgbClr val="FF0000"/>
                </a:solidFill>
                <a:sym typeface="Wingdings" panose="05000000000000000000" pitchFamily="2" charset="2"/>
              </a:rPr>
              <a:t>OJO CON ESTE RESULTADO</a:t>
            </a:r>
            <a:endParaRPr lang="es-ES" dirty="0">
              <a:solidFill>
                <a:srgbClr val="FF0000"/>
              </a:solidFill>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smtClean="0">
                <a:sym typeface="Wingdings" panose="05000000000000000000" pitchFamily="2" charset="2"/>
              </a:rPr>
              <a:t>0</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3.0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0.75</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0" name="CuadroTexto 9"/>
          <p:cNvSpPr txBox="1"/>
          <p:nvPr/>
        </p:nvSpPr>
        <p:spPr>
          <a:xfrm>
            <a:off x="5633555" y="1680830"/>
            <a:ext cx="4899218" cy="8956298"/>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Resto:</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4 % 3</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1</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Potencias:</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2 ** 2</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4</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2 ** 3</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8</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spTree>
    <p:extLst>
      <p:ext uri="{BB962C8B-B14F-4D97-AF65-F5344CB8AC3E}">
        <p14:creationId xmlns:p14="http://schemas.microsoft.com/office/powerpoint/2010/main" val="2498034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4689874" cy="369332"/>
          </a:xfrm>
          <a:prstGeom prst="rect">
            <a:avLst/>
          </a:prstGeom>
        </p:spPr>
        <p:txBody>
          <a:bodyPr wrap="none">
            <a:spAutoFit/>
          </a:bodyPr>
          <a:lstStyle/>
          <a:p>
            <a:r>
              <a:rPr lang="es-ES" b="1" u="sng" dirty="0" smtClean="0"/>
              <a:t>Algunas operaciones básicas con cadenas:</a:t>
            </a:r>
            <a:endParaRPr lang="es-ES" b="1" u="sng" dirty="0"/>
          </a:p>
        </p:txBody>
      </p:sp>
      <p:sp>
        <p:nvSpPr>
          <p:cNvPr id="8" name="CuadroTexto 7"/>
          <p:cNvSpPr txBox="1"/>
          <p:nvPr/>
        </p:nvSpPr>
        <p:spPr>
          <a:xfrm>
            <a:off x="677335" y="1786010"/>
            <a:ext cx="8067420" cy="11541621"/>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Longitud de la cadena:</a:t>
            </a:r>
            <a:endParaRPr lang="es-ES" dirty="0">
              <a:sym typeface="Wingdings" panose="05000000000000000000" pitchFamily="2" charset="2"/>
            </a:endParaRPr>
          </a:p>
          <a:p>
            <a:r>
              <a:rPr lang="es-ES" dirty="0">
                <a:sym typeface="Wingdings" panose="05000000000000000000" pitchFamily="2" charset="2"/>
              </a:rPr>
              <a:t>&gt;&gt;&gt; cadena = "hola mundo"</a:t>
            </a:r>
          </a:p>
          <a:p>
            <a:r>
              <a:rPr lang="es-ES" dirty="0">
                <a:sym typeface="Wingdings" panose="05000000000000000000" pitchFamily="2" charset="2"/>
              </a:rPr>
              <a:t>&gt;&gt;&gt; </a:t>
            </a:r>
            <a:r>
              <a:rPr lang="es-ES" dirty="0" err="1">
                <a:sym typeface="Wingdings" panose="05000000000000000000" pitchFamily="2" charset="2"/>
              </a:rPr>
              <a:t>len</a:t>
            </a:r>
            <a:r>
              <a:rPr lang="es-ES" dirty="0">
                <a:sym typeface="Wingdings" panose="05000000000000000000" pitchFamily="2" charset="2"/>
              </a:rPr>
              <a:t>(cadena)</a:t>
            </a:r>
          </a:p>
          <a:p>
            <a:r>
              <a:rPr lang="es-ES" dirty="0">
                <a:sym typeface="Wingdings" panose="05000000000000000000" pitchFamily="2" charset="2"/>
              </a:rPr>
              <a:t>10</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Posición de un carácter:</a:t>
            </a:r>
          </a:p>
          <a:p>
            <a:r>
              <a:rPr lang="es-ES" dirty="0">
                <a:sym typeface="Wingdings" panose="05000000000000000000" pitchFamily="2" charset="2"/>
              </a:rPr>
              <a:t>&gt;&gt;&gt; </a:t>
            </a:r>
            <a:r>
              <a:rPr lang="es-ES" dirty="0" err="1">
                <a:sym typeface="Wingdings" panose="05000000000000000000" pitchFamily="2" charset="2"/>
              </a:rPr>
              <a:t>cadena.index</a:t>
            </a:r>
            <a:r>
              <a:rPr lang="es-ES" dirty="0">
                <a:sym typeface="Wingdings" panose="05000000000000000000" pitchFamily="2" charset="2"/>
              </a:rPr>
              <a:t>('o</a:t>
            </a:r>
            <a:r>
              <a:rPr lang="es-ES" dirty="0" smtClean="0">
                <a:sym typeface="Wingdings" panose="05000000000000000000" pitchFamily="2" charset="2"/>
              </a:rPr>
              <a:t>')  </a:t>
            </a:r>
            <a:r>
              <a:rPr lang="es-ES" dirty="0" smtClean="0">
                <a:solidFill>
                  <a:srgbClr val="FF0000"/>
                </a:solidFill>
                <a:sym typeface="Wingdings" panose="05000000000000000000" pitchFamily="2" charset="2"/>
              </a:rPr>
              <a:t># OJO LA CADENA EMPIEZA CON LA POSICIÓN 0</a:t>
            </a:r>
            <a:endParaRPr lang="es-ES" dirty="0">
              <a:solidFill>
                <a:srgbClr val="FF0000"/>
              </a:solidFill>
              <a:sym typeface="Wingdings" panose="05000000000000000000" pitchFamily="2" charset="2"/>
            </a:endParaRPr>
          </a:p>
          <a:p>
            <a:r>
              <a:rPr lang="es-ES" dirty="0">
                <a:sym typeface="Wingdings" panose="05000000000000000000" pitchFamily="2" charset="2"/>
              </a:rPr>
              <a:t>1</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Obtener un trozo de la cadena:</a:t>
            </a:r>
            <a:endParaRPr lang="es-ES" dirty="0">
              <a:sym typeface="Wingdings" panose="05000000000000000000" pitchFamily="2" charset="2"/>
            </a:endParaRPr>
          </a:p>
          <a:p>
            <a:r>
              <a:rPr lang="es-ES" dirty="0">
                <a:sym typeface="Wingdings" panose="05000000000000000000" pitchFamily="2" charset="2"/>
              </a:rPr>
              <a:t>&gt;&gt;&gt; cadena[2:5]</a:t>
            </a:r>
          </a:p>
          <a:p>
            <a:r>
              <a:rPr lang="es-ES" dirty="0">
                <a:sym typeface="Wingdings" panose="05000000000000000000" pitchFamily="2" charset="2"/>
              </a:rPr>
              <a:t>'la </a:t>
            </a:r>
            <a:r>
              <a:rPr lang="es-ES" dirty="0" smtClean="0">
                <a:sym typeface="Wingdings" panose="05000000000000000000" pitchFamily="2" charset="2"/>
              </a:rPr>
              <a:t>‘</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Dividir la cadena en dos a partir de un patrón:</a:t>
            </a:r>
          </a:p>
          <a:p>
            <a:r>
              <a:rPr lang="es-ES" dirty="0">
                <a:sym typeface="Wingdings" panose="05000000000000000000" pitchFamily="2" charset="2"/>
              </a:rPr>
              <a:t>&gt;&gt;&gt; trozos = </a:t>
            </a:r>
            <a:r>
              <a:rPr lang="es-ES" dirty="0" err="1">
                <a:sym typeface="Wingdings" panose="05000000000000000000" pitchFamily="2" charset="2"/>
              </a:rPr>
              <a:t>cadena.split</a:t>
            </a:r>
            <a:r>
              <a:rPr lang="es-ES" dirty="0">
                <a:sym typeface="Wingdings" panose="05000000000000000000" pitchFamily="2" charset="2"/>
              </a:rPr>
              <a:t>(" ")</a:t>
            </a:r>
          </a:p>
          <a:p>
            <a:r>
              <a:rPr lang="es-ES" dirty="0">
                <a:sym typeface="Wingdings" panose="05000000000000000000" pitchFamily="2" charset="2"/>
              </a:rPr>
              <a:t>&gt;&gt;&gt; trozos</a:t>
            </a:r>
          </a:p>
          <a:p>
            <a:r>
              <a:rPr lang="es-ES" dirty="0">
                <a:sym typeface="Wingdings" panose="05000000000000000000" pitchFamily="2" charset="2"/>
              </a:rPr>
              <a:t>['hola', 'mundo']</a:t>
            </a:r>
          </a:p>
          <a:p>
            <a:r>
              <a:rPr lang="es-ES" dirty="0">
                <a:sym typeface="Wingdings" panose="05000000000000000000" pitchFamily="2" charset="2"/>
              </a:rPr>
              <a:t>&gt;&gt;&gt; trozos[0]</a:t>
            </a:r>
          </a:p>
          <a:p>
            <a:r>
              <a:rPr lang="es-ES" dirty="0">
                <a:sym typeface="Wingdings" panose="05000000000000000000" pitchFamily="2" charset="2"/>
              </a:rPr>
              <a:t>'hola'</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725752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4689874" cy="369332"/>
          </a:xfrm>
          <a:prstGeom prst="rect">
            <a:avLst/>
          </a:prstGeom>
        </p:spPr>
        <p:txBody>
          <a:bodyPr wrap="none">
            <a:spAutoFit/>
          </a:bodyPr>
          <a:lstStyle/>
          <a:p>
            <a:r>
              <a:rPr lang="es-ES" b="1" u="sng" dirty="0" smtClean="0"/>
              <a:t>Algunas operaciones básicas con cadenas:</a:t>
            </a:r>
            <a:endParaRPr lang="es-ES" b="1" u="sng" dirty="0"/>
          </a:p>
        </p:txBody>
      </p:sp>
      <p:sp>
        <p:nvSpPr>
          <p:cNvPr id="8" name="CuadroTexto 7"/>
          <p:cNvSpPr txBox="1"/>
          <p:nvPr/>
        </p:nvSpPr>
        <p:spPr>
          <a:xfrm>
            <a:off x="677335" y="1786010"/>
            <a:ext cx="8067420" cy="4493538"/>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Encontrar una carácter:</a:t>
            </a:r>
            <a:endParaRPr lang="es-ES" dirty="0">
              <a:sym typeface="Wingdings" panose="05000000000000000000" pitchFamily="2" charset="2"/>
            </a:endParaRPr>
          </a:p>
          <a:p>
            <a:r>
              <a:rPr lang="es-ES" dirty="0">
                <a:sym typeface="Wingdings" panose="05000000000000000000" pitchFamily="2" charset="2"/>
              </a:rPr>
              <a:t>&gt;&gt;&gt; cadena = "hola mundo"</a:t>
            </a:r>
          </a:p>
          <a:p>
            <a:r>
              <a:rPr lang="es-ES" dirty="0">
                <a:sym typeface="Wingdings" panose="05000000000000000000" pitchFamily="2" charset="2"/>
              </a:rPr>
              <a:t>&gt;&gt;&gt; </a:t>
            </a:r>
            <a:r>
              <a:rPr lang="es-ES" dirty="0" err="1">
                <a:sym typeface="Wingdings" panose="05000000000000000000" pitchFamily="2" charset="2"/>
              </a:rPr>
              <a:t>cadena.find</a:t>
            </a:r>
            <a:r>
              <a:rPr lang="es-ES" dirty="0">
                <a:sym typeface="Wingdings" panose="05000000000000000000" pitchFamily="2" charset="2"/>
              </a:rPr>
              <a:t>('o')</a:t>
            </a:r>
          </a:p>
          <a:p>
            <a:r>
              <a:rPr lang="es-ES" dirty="0" smtClean="0">
                <a:sym typeface="Wingdings" panose="05000000000000000000" pitchFamily="2" charset="2"/>
              </a:rPr>
              <a:t>1 </a:t>
            </a:r>
            <a:r>
              <a:rPr lang="es-ES" dirty="0" smtClean="0">
                <a:solidFill>
                  <a:srgbClr val="0070C0"/>
                </a:solidFill>
                <a:sym typeface="Wingdings" panose="05000000000000000000" pitchFamily="2" charset="2"/>
              </a:rPr>
              <a:t># En caso de que haya varios, devuelve la posición del primero</a:t>
            </a:r>
            <a:endParaRPr lang="es-ES" dirty="0">
              <a:solidFill>
                <a:srgbClr val="0070C0"/>
              </a:solidFill>
              <a:sym typeface="Wingdings" panose="05000000000000000000" pitchFamily="2" charset="2"/>
            </a:endParaRP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Posición de un carácter:</a:t>
            </a:r>
          </a:p>
          <a:p>
            <a:r>
              <a:rPr lang="es-ES" dirty="0">
                <a:sym typeface="Wingdings" panose="05000000000000000000" pitchFamily="2" charset="2"/>
              </a:rPr>
              <a:t>&gt;&gt;&gt; </a:t>
            </a:r>
            <a:r>
              <a:rPr lang="es-ES" dirty="0" err="1">
                <a:sym typeface="Wingdings" panose="05000000000000000000" pitchFamily="2" charset="2"/>
              </a:rPr>
              <a:t>cadena.index</a:t>
            </a:r>
            <a:r>
              <a:rPr lang="es-ES" dirty="0">
                <a:sym typeface="Wingdings" panose="05000000000000000000" pitchFamily="2" charset="2"/>
              </a:rPr>
              <a:t>('o</a:t>
            </a:r>
            <a:r>
              <a:rPr lang="es-ES" dirty="0" smtClean="0">
                <a:sym typeface="Wingdings" panose="05000000000000000000" pitchFamily="2" charset="2"/>
              </a:rPr>
              <a:t>')  </a:t>
            </a:r>
            <a:r>
              <a:rPr lang="es-ES" dirty="0" smtClean="0">
                <a:solidFill>
                  <a:srgbClr val="FF0000"/>
                </a:solidFill>
                <a:sym typeface="Wingdings" panose="05000000000000000000" pitchFamily="2" charset="2"/>
              </a:rPr>
              <a:t># OJO LA CADENA EMPIEZA CON LA POSICIÓN 0</a:t>
            </a:r>
            <a:endParaRPr lang="es-ES" dirty="0">
              <a:solidFill>
                <a:srgbClr val="FF0000"/>
              </a:solidFill>
              <a:sym typeface="Wingdings" panose="05000000000000000000" pitchFamily="2" charset="2"/>
            </a:endParaRPr>
          </a:p>
          <a:p>
            <a:r>
              <a:rPr lang="es-ES" dirty="0">
                <a:sym typeface="Wingdings" panose="05000000000000000000" pitchFamily="2" charset="2"/>
              </a:rPr>
              <a:t>1</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Reemplazar:</a:t>
            </a:r>
            <a:endParaRPr lang="es-ES" dirty="0">
              <a:sym typeface="Wingdings" panose="05000000000000000000" pitchFamily="2" charset="2"/>
            </a:endParaRPr>
          </a:p>
          <a:p>
            <a:r>
              <a:rPr lang="es-ES" dirty="0">
                <a:sym typeface="Wingdings" panose="05000000000000000000" pitchFamily="2" charset="2"/>
              </a:rPr>
              <a:t>&gt;&gt;&gt; </a:t>
            </a:r>
            <a:r>
              <a:rPr lang="es-ES" dirty="0" err="1" smtClean="0">
                <a:sym typeface="Wingdings" panose="05000000000000000000" pitchFamily="2" charset="2"/>
              </a:rPr>
              <a:t>cadena.replace</a:t>
            </a:r>
            <a:r>
              <a:rPr lang="es-ES" dirty="0" smtClean="0">
                <a:sym typeface="Wingdings" panose="05000000000000000000" pitchFamily="2" charset="2"/>
              </a:rPr>
              <a:t>(“hola”, “adiós”)</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cadena.replace</a:t>
            </a:r>
            <a:r>
              <a:rPr lang="es-ES" dirty="0">
                <a:sym typeface="Wingdings" panose="05000000000000000000" pitchFamily="2" charset="2"/>
              </a:rPr>
              <a:t>("hola", "</a:t>
            </a:r>
            <a:r>
              <a:rPr lang="es-ES" dirty="0" err="1">
                <a:sym typeface="Wingdings" panose="05000000000000000000" pitchFamily="2" charset="2"/>
              </a:rPr>
              <a:t>adios</a:t>
            </a:r>
            <a:r>
              <a:rPr lang="es-ES" dirty="0">
                <a:sym typeface="Wingdings" panose="05000000000000000000" pitchFamily="2" charset="2"/>
              </a:rPr>
              <a:t>")</a:t>
            </a:r>
          </a:p>
          <a:p>
            <a:r>
              <a:rPr lang="es-ES" dirty="0">
                <a:sym typeface="Wingdings" panose="05000000000000000000" pitchFamily="2" charset="2"/>
              </a:rPr>
              <a:t>'</a:t>
            </a:r>
            <a:r>
              <a:rPr lang="es-ES" dirty="0" err="1">
                <a:sym typeface="Wingdings" panose="05000000000000000000" pitchFamily="2" charset="2"/>
              </a:rPr>
              <a:t>adios</a:t>
            </a:r>
            <a:r>
              <a:rPr lang="es-ES" dirty="0">
                <a:sym typeface="Wingdings" panose="05000000000000000000" pitchFamily="2" charset="2"/>
              </a:rPr>
              <a:t> mundo'</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60709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392771" cy="369332"/>
          </a:xfrm>
          <a:prstGeom prst="rect">
            <a:avLst/>
          </a:prstGeom>
        </p:spPr>
        <p:txBody>
          <a:bodyPr wrap="none">
            <a:spAutoFit/>
          </a:bodyPr>
          <a:lstStyle/>
          <a:p>
            <a:r>
              <a:rPr lang="es-ES" b="1" u="sng" dirty="0" smtClean="0"/>
              <a:t>Operaciones lógicas:</a:t>
            </a:r>
            <a:endParaRPr lang="es-ES" b="1" u="sng" dirty="0"/>
          </a:p>
        </p:txBody>
      </p:sp>
      <p:sp>
        <p:nvSpPr>
          <p:cNvPr id="8" name="CuadroTexto 7"/>
          <p:cNvSpPr txBox="1"/>
          <p:nvPr/>
        </p:nvSpPr>
        <p:spPr>
          <a:xfrm>
            <a:off x="677335" y="1786010"/>
            <a:ext cx="8067420" cy="6001643"/>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Operador “</a:t>
            </a:r>
            <a:r>
              <a:rPr lang="es-ES" dirty="0" err="1" smtClean="0">
                <a:sym typeface="Wingdings" panose="05000000000000000000" pitchFamily="2" charset="2"/>
              </a:rPr>
              <a:t>is</a:t>
            </a:r>
            <a:r>
              <a:rPr lang="es-ES" dirty="0" smtClean="0">
                <a:sym typeface="Wingdings" panose="05000000000000000000" pitchFamily="2" charset="2"/>
              </a:rPr>
              <a:t>”: devuelve un objeto True si dos objetos son iguales (variables)</a:t>
            </a:r>
            <a:endParaRPr lang="es-ES" dirty="0">
              <a:sym typeface="Wingdings" panose="05000000000000000000" pitchFamily="2" charset="2"/>
            </a:endParaRPr>
          </a:p>
          <a:p>
            <a:r>
              <a:rPr lang="pt-BR" sz="1600" dirty="0">
                <a:sym typeface="Wingdings" panose="05000000000000000000" pitchFamily="2" charset="2"/>
              </a:rPr>
              <a:t>&gt;&gt;&gt; lista1 = [1, 2, 3, 4]</a:t>
            </a:r>
          </a:p>
          <a:p>
            <a:r>
              <a:rPr lang="pt-BR" sz="1600" dirty="0">
                <a:sym typeface="Wingdings" panose="05000000000000000000" pitchFamily="2" charset="2"/>
              </a:rPr>
              <a:t>&gt;&gt;&gt; lista2 = [1, 2, 3, 4]</a:t>
            </a:r>
          </a:p>
          <a:p>
            <a:r>
              <a:rPr lang="pt-BR" sz="1600" dirty="0">
                <a:sym typeface="Wingdings" panose="05000000000000000000" pitchFamily="2" charset="2"/>
              </a:rPr>
              <a:t>&gt;&gt;&gt; lista1 </a:t>
            </a:r>
            <a:r>
              <a:rPr lang="pt-BR" sz="1600" dirty="0" err="1">
                <a:sym typeface="Wingdings" panose="05000000000000000000" pitchFamily="2" charset="2"/>
              </a:rPr>
              <a:t>is</a:t>
            </a:r>
            <a:r>
              <a:rPr lang="pt-BR" sz="1600" dirty="0">
                <a:sym typeface="Wingdings" panose="05000000000000000000" pitchFamily="2" charset="2"/>
              </a:rPr>
              <a:t> </a:t>
            </a:r>
            <a:r>
              <a:rPr lang="pt-BR" sz="1600" dirty="0" smtClean="0">
                <a:sym typeface="Wingdings" panose="05000000000000000000" pitchFamily="2" charset="2"/>
              </a:rPr>
              <a:t>lista2 </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En</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realidad</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son</a:t>
            </a:r>
            <a:r>
              <a:rPr lang="pt-BR" sz="1600" dirty="0" smtClean="0">
                <a:solidFill>
                  <a:srgbClr val="0070C0"/>
                </a:solidFill>
                <a:sym typeface="Wingdings" panose="05000000000000000000" pitchFamily="2" charset="2"/>
              </a:rPr>
              <a:t> dos objetos distintos</a:t>
            </a:r>
            <a:endParaRPr lang="pt-BR" sz="1600" dirty="0">
              <a:sym typeface="Wingdings" panose="05000000000000000000" pitchFamily="2" charset="2"/>
            </a:endParaRPr>
          </a:p>
          <a:p>
            <a:r>
              <a:rPr lang="pt-BR" sz="1600" dirty="0">
                <a:sym typeface="Wingdings" panose="05000000000000000000" pitchFamily="2" charset="2"/>
              </a:rPr>
              <a:t>False</a:t>
            </a:r>
          </a:p>
          <a:p>
            <a:r>
              <a:rPr lang="pt-BR" sz="1600" dirty="0">
                <a:sym typeface="Wingdings" panose="05000000000000000000" pitchFamily="2" charset="2"/>
              </a:rPr>
              <a:t>&gt;&gt;&gt; lista2 = </a:t>
            </a:r>
            <a:r>
              <a:rPr lang="pt-BR" sz="1600" dirty="0" smtClean="0">
                <a:sym typeface="Wingdings" panose="05000000000000000000" pitchFamily="2" charset="2"/>
              </a:rPr>
              <a:t>lista1 </a:t>
            </a:r>
            <a:r>
              <a:rPr lang="pt-BR" sz="1600" dirty="0" smtClean="0">
                <a:solidFill>
                  <a:srgbClr val="0070C0"/>
                </a:solidFill>
                <a:sym typeface="Wingdings" panose="05000000000000000000" pitchFamily="2" charset="2"/>
              </a:rPr>
              <a:t>#</a:t>
            </a:r>
            <a:r>
              <a:rPr lang="pt-BR" sz="1600" dirty="0" err="1" smtClean="0">
                <a:solidFill>
                  <a:srgbClr val="0070C0"/>
                </a:solidFill>
                <a:sym typeface="Wingdings" panose="05000000000000000000" pitchFamily="2" charset="2"/>
              </a:rPr>
              <a:t>ahora</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sí</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son</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el</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mismo</a:t>
            </a:r>
            <a:r>
              <a:rPr lang="pt-BR" sz="1600" dirty="0" smtClean="0">
                <a:solidFill>
                  <a:srgbClr val="0070C0"/>
                </a:solidFill>
                <a:sym typeface="Wingdings" panose="05000000000000000000" pitchFamily="2" charset="2"/>
              </a:rPr>
              <a:t> objeto</a:t>
            </a:r>
            <a:endParaRPr lang="pt-BR" sz="1600" dirty="0">
              <a:sym typeface="Wingdings" panose="05000000000000000000" pitchFamily="2" charset="2"/>
            </a:endParaRPr>
          </a:p>
          <a:p>
            <a:r>
              <a:rPr lang="pt-BR" sz="1600" dirty="0">
                <a:sym typeface="Wingdings" panose="05000000000000000000" pitchFamily="2" charset="2"/>
              </a:rPr>
              <a:t>&gt;&gt;&gt; lista1 </a:t>
            </a:r>
            <a:r>
              <a:rPr lang="pt-BR" sz="1600" dirty="0" err="1">
                <a:sym typeface="Wingdings" panose="05000000000000000000" pitchFamily="2" charset="2"/>
              </a:rPr>
              <a:t>is</a:t>
            </a:r>
            <a:r>
              <a:rPr lang="pt-BR" sz="1600" dirty="0">
                <a:sym typeface="Wingdings" panose="05000000000000000000" pitchFamily="2" charset="2"/>
              </a:rPr>
              <a:t> lista2</a:t>
            </a:r>
          </a:p>
          <a:p>
            <a:r>
              <a:rPr lang="pt-BR" sz="1600" dirty="0" err="1" smtClean="0">
                <a:sym typeface="Wingdings" panose="05000000000000000000" pitchFamily="2" charset="2"/>
              </a:rPr>
              <a:t>True</a:t>
            </a:r>
            <a:endParaRPr lang="pt-BR" sz="1600" dirty="0" smtClean="0">
              <a:sym typeface="Wingdings" panose="05000000000000000000" pitchFamily="2" charset="2"/>
            </a:endParaRPr>
          </a:p>
          <a:p>
            <a:endParaRPr lang="pt-BR" dirty="0" smtClean="0">
              <a:sym typeface="Wingdings" panose="05000000000000000000" pitchFamily="2" charset="2"/>
            </a:endParaRPr>
          </a:p>
          <a:p>
            <a:pPr marL="285750" indent="-285750">
              <a:buFont typeface="Wingdings" panose="05000000000000000000" pitchFamily="2" charset="2"/>
              <a:buChar char="v"/>
            </a:pPr>
            <a:r>
              <a:rPr lang="pt-BR" dirty="0" smtClean="0">
                <a:sym typeface="Wingdings" panose="05000000000000000000" pitchFamily="2" charset="2"/>
              </a:rPr>
              <a:t>Operadores de </a:t>
            </a:r>
            <a:r>
              <a:rPr lang="pt-BR" dirty="0" err="1" smtClean="0">
                <a:sym typeface="Wingdings" panose="05000000000000000000" pitchFamily="2" charset="2"/>
              </a:rPr>
              <a:t>comparación</a:t>
            </a:r>
            <a:r>
              <a:rPr lang="pt-BR" dirty="0" smtClean="0">
                <a:sym typeface="Wingdings" panose="05000000000000000000" pitchFamily="2" charset="2"/>
              </a:rPr>
              <a:t>:</a:t>
            </a:r>
            <a:endParaRPr lang="pt-BR" dirty="0">
              <a:sym typeface="Wingdings" panose="05000000000000000000" pitchFamily="2" charset="2"/>
            </a:endParaRPr>
          </a:p>
          <a:p>
            <a:r>
              <a:rPr lang="es-ES" sz="1600" dirty="0">
                <a:sym typeface="Wingdings" panose="05000000000000000000" pitchFamily="2" charset="2"/>
              </a:rPr>
              <a:t>&gt;&gt;&gt; a = 2</a:t>
            </a:r>
          </a:p>
          <a:p>
            <a:r>
              <a:rPr lang="es-ES" sz="1600" dirty="0">
                <a:sym typeface="Wingdings" panose="05000000000000000000" pitchFamily="2" charset="2"/>
              </a:rPr>
              <a:t>&gt;&gt;&gt; b = 3</a:t>
            </a:r>
          </a:p>
          <a:p>
            <a:r>
              <a:rPr lang="es-ES" sz="1600" dirty="0">
                <a:sym typeface="Wingdings" panose="05000000000000000000" pitchFamily="2" charset="2"/>
              </a:rPr>
              <a:t>&gt;&gt;&gt; a == b</a:t>
            </a:r>
          </a:p>
          <a:p>
            <a:r>
              <a:rPr lang="es-ES" sz="1600" dirty="0">
                <a:sym typeface="Wingdings" panose="05000000000000000000" pitchFamily="2" charset="2"/>
              </a:rPr>
              <a:t>False</a:t>
            </a:r>
          </a:p>
          <a:p>
            <a:r>
              <a:rPr lang="es-ES" sz="1600" dirty="0">
                <a:sym typeface="Wingdings" panose="05000000000000000000" pitchFamily="2" charset="2"/>
              </a:rPr>
              <a:t>&gt;&gt;&gt; a &lt; b</a:t>
            </a:r>
          </a:p>
          <a:p>
            <a:r>
              <a:rPr lang="es-ES" sz="1600" dirty="0">
                <a:sym typeface="Wingdings" panose="05000000000000000000" pitchFamily="2" charset="2"/>
              </a:rPr>
              <a:t>True</a:t>
            </a:r>
          </a:p>
          <a:p>
            <a:r>
              <a:rPr lang="es-ES" sz="1600" dirty="0">
                <a:sym typeface="Wingdings" panose="05000000000000000000" pitchFamily="2" charset="2"/>
              </a:rPr>
              <a:t>&gt;&gt;&gt; a &gt; b</a:t>
            </a:r>
          </a:p>
          <a:p>
            <a:r>
              <a:rPr lang="es-ES" sz="1600" dirty="0">
                <a:sym typeface="Wingdings" panose="05000000000000000000" pitchFamily="2" charset="2"/>
              </a:rPr>
              <a:t>False</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52247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992294" cy="369332"/>
          </a:xfrm>
          <a:prstGeom prst="rect">
            <a:avLst/>
          </a:prstGeom>
        </p:spPr>
        <p:txBody>
          <a:bodyPr wrap="none">
            <a:spAutoFit/>
          </a:bodyPr>
          <a:lstStyle/>
          <a:p>
            <a:r>
              <a:rPr lang="es-ES" b="1" u="sng" dirty="0" smtClean="0"/>
              <a:t>Operador de pertenencia:</a:t>
            </a:r>
            <a:endParaRPr lang="es-ES" b="1" u="sng" dirty="0"/>
          </a:p>
        </p:txBody>
      </p:sp>
      <p:sp>
        <p:nvSpPr>
          <p:cNvPr id="8" name="CuadroTexto 7"/>
          <p:cNvSpPr txBox="1"/>
          <p:nvPr/>
        </p:nvSpPr>
        <p:spPr>
          <a:xfrm>
            <a:off x="677335" y="1786010"/>
            <a:ext cx="8067420" cy="3693319"/>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Operador “in” y “</a:t>
            </a:r>
            <a:r>
              <a:rPr lang="es-ES" dirty="0" err="1" smtClean="0">
                <a:sym typeface="Wingdings" panose="05000000000000000000" pitchFamily="2" charset="2"/>
              </a:rPr>
              <a:t>not</a:t>
            </a:r>
            <a:r>
              <a:rPr lang="es-ES" dirty="0" smtClean="0">
                <a:sym typeface="Wingdings" panose="05000000000000000000" pitchFamily="2" charset="2"/>
              </a:rPr>
              <a:t> in”: </a:t>
            </a:r>
          </a:p>
          <a:p>
            <a:pPr marL="285750" indent="-285750">
              <a:buFont typeface="Wingdings" panose="05000000000000000000" pitchFamily="2" charset="2"/>
              <a:buChar char="v"/>
            </a:pPr>
            <a:endParaRPr lang="es-ES" dirty="0">
              <a:sym typeface="Wingdings" panose="05000000000000000000" pitchFamily="2" charset="2"/>
            </a:endParaRPr>
          </a:p>
          <a:p>
            <a:r>
              <a:rPr lang="it-IT" dirty="0">
                <a:sym typeface="Wingdings" panose="05000000000000000000" pitchFamily="2" charset="2"/>
              </a:rPr>
              <a:t>&gt;&gt;&gt; lista = ['a' , 'b', 'c', 'd']</a:t>
            </a:r>
          </a:p>
          <a:p>
            <a:r>
              <a:rPr lang="it-IT" dirty="0">
                <a:sym typeface="Wingdings" panose="05000000000000000000" pitchFamily="2" charset="2"/>
              </a:rPr>
              <a:t>&gt;&gt;&gt; 'a' in lista</a:t>
            </a:r>
          </a:p>
          <a:p>
            <a:r>
              <a:rPr lang="it-IT" dirty="0">
                <a:sym typeface="Wingdings" panose="05000000000000000000" pitchFamily="2" charset="2"/>
              </a:rPr>
              <a:t>True</a:t>
            </a:r>
          </a:p>
          <a:p>
            <a:r>
              <a:rPr lang="it-IT" dirty="0">
                <a:sym typeface="Wingdings" panose="05000000000000000000" pitchFamily="2" charset="2"/>
              </a:rPr>
              <a:t>&gt;&gt;&gt; 'e' in lista</a:t>
            </a:r>
          </a:p>
          <a:p>
            <a:r>
              <a:rPr lang="it-IT" dirty="0">
                <a:sym typeface="Wingdings" panose="05000000000000000000" pitchFamily="2" charset="2"/>
              </a:rPr>
              <a:t>False</a:t>
            </a:r>
          </a:p>
          <a:p>
            <a:r>
              <a:rPr lang="it-IT" dirty="0">
                <a:sym typeface="Wingdings" panose="05000000000000000000" pitchFamily="2" charset="2"/>
              </a:rPr>
              <a:t>&gt;&gt;&gt; 'e' not in lista</a:t>
            </a:r>
          </a:p>
          <a:p>
            <a:r>
              <a:rPr lang="it-IT" dirty="0">
                <a:sym typeface="Wingdings" panose="05000000000000000000" pitchFamily="2" charset="2"/>
              </a:rPr>
              <a:t>True</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02662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3463577" cy="369332"/>
          </a:xfrm>
          <a:prstGeom prst="rect">
            <a:avLst/>
          </a:prstGeom>
        </p:spPr>
        <p:txBody>
          <a:bodyPr wrap="none">
            <a:spAutoFit/>
          </a:bodyPr>
          <a:lstStyle/>
          <a:p>
            <a:r>
              <a:rPr lang="es-ES" b="1" u="sng" dirty="0" smtClean="0"/>
              <a:t>Control del flujo de programa:</a:t>
            </a:r>
            <a:endParaRPr lang="es-ES" b="1" u="sng" dirty="0"/>
          </a:p>
        </p:txBody>
      </p:sp>
      <p:sp>
        <p:nvSpPr>
          <p:cNvPr id="8" name="CuadroTexto 7"/>
          <p:cNvSpPr txBox="1"/>
          <p:nvPr/>
        </p:nvSpPr>
        <p:spPr>
          <a:xfrm>
            <a:off x="677335" y="1786010"/>
            <a:ext cx="8067420" cy="4801314"/>
          </a:xfrm>
          <a:prstGeom prst="rect">
            <a:avLst/>
          </a:prstGeom>
          <a:noFill/>
        </p:spPr>
        <p:txBody>
          <a:bodyPr wrap="square" rtlCol="0">
            <a:spAutoFit/>
          </a:bodyPr>
          <a:lstStyle/>
          <a:p>
            <a:pPr marL="285750" indent="-285750">
              <a:buFont typeface="Wingdings" panose="05000000000000000000" pitchFamily="2" charset="2"/>
              <a:buChar char="v"/>
            </a:pPr>
            <a:r>
              <a:rPr lang="es-ES" dirty="0" err="1" smtClean="0">
                <a:sym typeface="Wingdings" panose="05000000000000000000" pitchFamily="2" charset="2"/>
              </a:rPr>
              <a:t>If</a:t>
            </a:r>
            <a:r>
              <a:rPr lang="es-ES" dirty="0" smtClean="0">
                <a:sym typeface="Wingdings" panose="05000000000000000000" pitchFamily="2" charset="2"/>
              </a:rPr>
              <a:t> , </a:t>
            </a:r>
            <a:r>
              <a:rPr lang="es-ES" dirty="0" err="1" smtClean="0">
                <a:sym typeface="Wingdings" panose="05000000000000000000" pitchFamily="2" charset="2"/>
              </a:rPr>
              <a:t>Else</a:t>
            </a:r>
            <a:r>
              <a:rPr lang="es-ES" dirty="0" smtClean="0">
                <a:sym typeface="Wingdings" panose="05000000000000000000" pitchFamily="2" charset="2"/>
              </a:rPr>
              <a:t>:</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if</a:t>
            </a:r>
            <a:r>
              <a:rPr lang="es-ES" dirty="0">
                <a:sym typeface="Wingdings" panose="05000000000000000000" pitchFamily="2" charset="2"/>
              </a:rPr>
              <a:t> </a:t>
            </a:r>
            <a:r>
              <a:rPr lang="es-ES" dirty="0" err="1">
                <a:sym typeface="Wingdings" panose="05000000000000000000" pitchFamily="2" charset="2"/>
              </a:rPr>
              <a:t>len</a:t>
            </a:r>
            <a:r>
              <a:rPr lang="es-ES" dirty="0">
                <a:sym typeface="Wingdings" panose="05000000000000000000" pitchFamily="2" charset="2"/>
              </a:rPr>
              <a:t>(cadena) &gt; 3</a:t>
            </a:r>
            <a:r>
              <a:rPr lang="es-ES" dirty="0" smtClean="0">
                <a:sym typeface="Wingdings" panose="05000000000000000000" pitchFamily="2" charset="2"/>
              </a:rPr>
              <a:t>:  </a:t>
            </a:r>
            <a:r>
              <a:rPr lang="es-ES" dirty="0" smtClean="0">
                <a:solidFill>
                  <a:srgbClr val="FF0000"/>
                </a:solidFill>
                <a:sym typeface="Wingdings" panose="05000000000000000000" pitchFamily="2" charset="2"/>
              </a:rPr>
              <a:t># OJO ES UN LENGUAJE INDENTADO (TABULADOR)</a:t>
            </a:r>
            <a:endParaRPr lang="es-ES" dirty="0">
              <a:solidFill>
                <a:srgbClr val="FF0000"/>
              </a:solidFill>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print</a:t>
            </a:r>
            <a:r>
              <a:rPr lang="es-ES" dirty="0">
                <a:sym typeface="Wingdings" panose="05000000000000000000" pitchFamily="2" charset="2"/>
              </a:rPr>
              <a:t> cadena</a:t>
            </a:r>
          </a:p>
          <a:p>
            <a:r>
              <a:rPr lang="es-ES" dirty="0">
                <a:sym typeface="Wingdings" panose="05000000000000000000" pitchFamily="2" charset="2"/>
              </a:rPr>
              <a:t>... </a:t>
            </a:r>
            <a:r>
              <a:rPr lang="es-ES" dirty="0" err="1">
                <a:sym typeface="Wingdings" panose="05000000000000000000" pitchFamily="2" charset="2"/>
              </a:rPr>
              <a:t>else</a:t>
            </a:r>
            <a:r>
              <a:rPr lang="es-ES" dirty="0">
                <a:sym typeface="Wingdings" panose="05000000000000000000" pitchFamily="2" charset="2"/>
              </a:rPr>
              <a:t>:</a:t>
            </a:r>
          </a:p>
          <a:p>
            <a:r>
              <a:rPr lang="es-ES" dirty="0">
                <a:sym typeface="Wingdings" panose="05000000000000000000" pitchFamily="2" charset="2"/>
              </a:rPr>
              <a:t>...     </a:t>
            </a:r>
            <a:r>
              <a:rPr lang="es-ES" dirty="0" err="1">
                <a:sym typeface="Wingdings" panose="05000000000000000000" pitchFamily="2" charset="2"/>
              </a:rPr>
              <a:t>print</a:t>
            </a:r>
            <a:r>
              <a:rPr lang="es-ES" dirty="0">
                <a:sym typeface="Wingdings" panose="05000000000000000000" pitchFamily="2" charset="2"/>
              </a:rPr>
              <a:t> "no"</a:t>
            </a:r>
          </a:p>
          <a:p>
            <a:r>
              <a:rPr lang="es-ES" dirty="0">
                <a:sym typeface="Wingdings" panose="05000000000000000000" pitchFamily="2" charset="2"/>
              </a:rPr>
              <a:t>... </a:t>
            </a:r>
          </a:p>
          <a:p>
            <a:r>
              <a:rPr lang="es-ES" dirty="0">
                <a:sym typeface="Wingdings" panose="05000000000000000000" pitchFamily="2" charset="2"/>
              </a:rPr>
              <a:t>hola mundo</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Bucle </a:t>
            </a:r>
            <a:r>
              <a:rPr lang="es-ES" dirty="0" err="1" smtClean="0">
                <a:sym typeface="Wingdings" panose="05000000000000000000" pitchFamily="2" charset="2"/>
              </a:rPr>
              <a:t>for</a:t>
            </a:r>
            <a:r>
              <a:rPr lang="es-ES" dirty="0" smtClean="0">
                <a:sym typeface="Wingdings" panose="05000000000000000000" pitchFamily="2" charset="2"/>
              </a:rPr>
              <a:t>:</a:t>
            </a:r>
          </a:p>
          <a:p>
            <a:r>
              <a:rPr lang="es-ES" dirty="0">
                <a:sym typeface="Wingdings" panose="05000000000000000000" pitchFamily="2" charset="2"/>
              </a:rPr>
              <a:t>&gt;&gt;&gt; cadena = "</a:t>
            </a:r>
            <a:r>
              <a:rPr lang="es-ES" dirty="0" smtClean="0">
                <a:sym typeface="Wingdings" panose="05000000000000000000" pitchFamily="2" charset="2"/>
              </a:rPr>
              <a:t>hola“ </a:t>
            </a:r>
            <a:r>
              <a:rPr lang="es-ES" dirty="0" smtClean="0">
                <a:solidFill>
                  <a:srgbClr val="FF0000"/>
                </a:solidFill>
                <a:sym typeface="Wingdings" panose="05000000000000000000" pitchFamily="2" charset="2"/>
              </a:rPr>
              <a:t># Recorrer cadenas, listas </a:t>
            </a:r>
            <a:endParaRPr lang="es-ES" dirty="0">
              <a:solidFill>
                <a:srgbClr val="FF0000"/>
              </a:solidFill>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for</a:t>
            </a:r>
            <a:r>
              <a:rPr lang="es-ES" dirty="0">
                <a:sym typeface="Wingdings" panose="05000000000000000000" pitchFamily="2" charset="2"/>
              </a:rPr>
              <a:t> i in cadena:</a:t>
            </a:r>
          </a:p>
          <a:p>
            <a:r>
              <a:rPr lang="es-ES" dirty="0">
                <a:sym typeface="Wingdings" panose="05000000000000000000" pitchFamily="2" charset="2"/>
              </a:rPr>
              <a:t>...     </a:t>
            </a:r>
            <a:r>
              <a:rPr lang="es-ES" dirty="0" err="1">
                <a:sym typeface="Wingdings" panose="05000000000000000000" pitchFamily="2" charset="2"/>
              </a:rPr>
              <a:t>print</a:t>
            </a:r>
            <a:r>
              <a:rPr lang="es-ES" dirty="0">
                <a:sym typeface="Wingdings" panose="05000000000000000000" pitchFamily="2" charset="2"/>
              </a:rPr>
              <a:t> i</a:t>
            </a:r>
          </a:p>
          <a:p>
            <a:r>
              <a:rPr lang="es-ES" dirty="0">
                <a:sym typeface="Wingdings" panose="05000000000000000000" pitchFamily="2" charset="2"/>
              </a:rPr>
              <a:t>... </a:t>
            </a:r>
          </a:p>
          <a:p>
            <a:r>
              <a:rPr lang="es-ES" dirty="0">
                <a:sym typeface="Wingdings" panose="05000000000000000000" pitchFamily="2" charset="2"/>
              </a:rPr>
              <a:t>h</a:t>
            </a:r>
          </a:p>
          <a:p>
            <a:r>
              <a:rPr lang="es-ES" dirty="0">
                <a:sym typeface="Wingdings" panose="05000000000000000000" pitchFamily="2" charset="2"/>
              </a:rPr>
              <a:t>o</a:t>
            </a:r>
          </a:p>
          <a:p>
            <a:r>
              <a:rPr lang="es-ES" dirty="0">
                <a:sym typeface="Wingdings" panose="05000000000000000000" pitchFamily="2" charset="2"/>
              </a:rPr>
              <a:t>l</a:t>
            </a:r>
          </a:p>
          <a:p>
            <a:r>
              <a:rPr lang="es-ES" dirty="0" smtClean="0">
                <a:sym typeface="Wingdings" panose="05000000000000000000" pitchFamily="2" charset="2"/>
              </a:rPr>
              <a:t>a</a:t>
            </a: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12597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3463577" cy="369332"/>
          </a:xfrm>
          <a:prstGeom prst="rect">
            <a:avLst/>
          </a:prstGeom>
        </p:spPr>
        <p:txBody>
          <a:bodyPr wrap="none">
            <a:spAutoFit/>
          </a:bodyPr>
          <a:lstStyle/>
          <a:p>
            <a:r>
              <a:rPr lang="es-ES" b="1" u="sng" dirty="0" smtClean="0"/>
              <a:t>Control del flujo de programa:</a:t>
            </a:r>
            <a:endParaRPr lang="es-ES" b="1" u="sng" dirty="0"/>
          </a:p>
        </p:txBody>
      </p:sp>
      <p:sp>
        <p:nvSpPr>
          <p:cNvPr id="8" name="CuadroTexto 7"/>
          <p:cNvSpPr txBox="1"/>
          <p:nvPr/>
        </p:nvSpPr>
        <p:spPr>
          <a:xfrm>
            <a:off x="677335" y="1786010"/>
            <a:ext cx="8067420" cy="4955203"/>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Otras formas de usar los bucles </a:t>
            </a:r>
            <a:r>
              <a:rPr lang="es-ES" dirty="0" err="1" smtClean="0">
                <a:sym typeface="Wingdings" panose="05000000000000000000" pitchFamily="2" charset="2"/>
              </a:rPr>
              <a:t>for</a:t>
            </a:r>
            <a:r>
              <a:rPr lang="es-ES" dirty="0" smtClean="0">
                <a:sym typeface="Wingdings" panose="05000000000000000000" pitchFamily="2" charset="2"/>
              </a:rPr>
              <a:t>:</a:t>
            </a:r>
          </a:p>
          <a:p>
            <a:r>
              <a:rPr lang="es-ES" sz="1600" dirty="0">
                <a:sym typeface="Wingdings" panose="05000000000000000000" pitchFamily="2" charset="2"/>
              </a:rPr>
              <a:t>&gt;&gt;&gt; </a:t>
            </a:r>
            <a:r>
              <a:rPr lang="es-ES" sz="1600" dirty="0" err="1">
                <a:sym typeface="Wingdings" panose="05000000000000000000" pitchFamily="2" charset="2"/>
              </a:rPr>
              <a:t>for</a:t>
            </a:r>
            <a:r>
              <a:rPr lang="es-ES" sz="1600" dirty="0">
                <a:sym typeface="Wingdings" panose="05000000000000000000" pitchFamily="2" charset="2"/>
              </a:rPr>
              <a:t> i in </a:t>
            </a:r>
            <a:r>
              <a:rPr lang="es-ES" sz="1600" dirty="0" err="1">
                <a:sym typeface="Wingdings" panose="05000000000000000000" pitchFamily="2" charset="2"/>
              </a:rPr>
              <a:t>range</a:t>
            </a:r>
            <a:r>
              <a:rPr lang="es-ES" sz="1600" dirty="0">
                <a:sym typeface="Wingdings" panose="05000000000000000000" pitchFamily="2" charset="2"/>
              </a:rPr>
              <a:t>(0,5</a:t>
            </a:r>
            <a:r>
              <a:rPr lang="es-ES" sz="1600" dirty="0" smtClean="0">
                <a:sym typeface="Wingdings" panose="05000000000000000000" pitchFamily="2" charset="2"/>
              </a:rPr>
              <a:t>):  # también se puede utilizar </a:t>
            </a:r>
            <a:r>
              <a:rPr lang="es-ES" sz="1600" dirty="0" err="1" smtClean="0">
                <a:sym typeface="Wingdings" panose="05000000000000000000" pitchFamily="2" charset="2"/>
              </a:rPr>
              <a:t>xrange</a:t>
            </a:r>
            <a:endParaRPr lang="es-ES" sz="1600" dirty="0">
              <a:sym typeface="Wingdings" panose="05000000000000000000" pitchFamily="2" charset="2"/>
            </a:endParaRPr>
          </a:p>
          <a:p>
            <a:r>
              <a:rPr lang="es-ES" sz="1600" dirty="0">
                <a:sym typeface="Wingdings" panose="05000000000000000000" pitchFamily="2" charset="2"/>
              </a:rPr>
              <a:t>...     </a:t>
            </a:r>
            <a:r>
              <a:rPr lang="es-ES" sz="1600" dirty="0" err="1">
                <a:sym typeface="Wingdings" panose="05000000000000000000" pitchFamily="2" charset="2"/>
              </a:rPr>
              <a:t>print</a:t>
            </a:r>
            <a:r>
              <a:rPr lang="es-ES" sz="1600" dirty="0">
                <a:sym typeface="Wingdings" panose="05000000000000000000" pitchFamily="2" charset="2"/>
              </a:rPr>
              <a:t> i</a:t>
            </a:r>
          </a:p>
          <a:p>
            <a:r>
              <a:rPr lang="es-ES" sz="1600" dirty="0">
                <a:sym typeface="Wingdings" panose="05000000000000000000" pitchFamily="2" charset="2"/>
              </a:rPr>
              <a:t>... </a:t>
            </a:r>
          </a:p>
          <a:p>
            <a:r>
              <a:rPr lang="es-ES" sz="1600" dirty="0">
                <a:sym typeface="Wingdings" panose="05000000000000000000" pitchFamily="2" charset="2"/>
              </a:rPr>
              <a:t>0</a:t>
            </a:r>
          </a:p>
          <a:p>
            <a:r>
              <a:rPr lang="es-ES" sz="1600" dirty="0">
                <a:sym typeface="Wingdings" panose="05000000000000000000" pitchFamily="2" charset="2"/>
              </a:rPr>
              <a:t>1</a:t>
            </a:r>
          </a:p>
          <a:p>
            <a:r>
              <a:rPr lang="es-ES" sz="1600" dirty="0">
                <a:sym typeface="Wingdings" panose="05000000000000000000" pitchFamily="2" charset="2"/>
              </a:rPr>
              <a:t>2</a:t>
            </a:r>
          </a:p>
          <a:p>
            <a:r>
              <a:rPr lang="es-ES" sz="1600" dirty="0">
                <a:sym typeface="Wingdings" panose="05000000000000000000" pitchFamily="2" charset="2"/>
              </a:rPr>
              <a:t>3</a:t>
            </a:r>
          </a:p>
          <a:p>
            <a:r>
              <a:rPr lang="es-ES" sz="1600" dirty="0">
                <a:sym typeface="Wingdings" panose="05000000000000000000" pitchFamily="2" charset="2"/>
              </a:rPr>
              <a:t>4</a:t>
            </a:r>
          </a:p>
          <a:p>
            <a:endParaRPr lang="es-ES" dirty="0" smtClean="0">
              <a:sym typeface="Wingdings" panose="05000000000000000000" pitchFamily="2" charset="2"/>
            </a:endParaRPr>
          </a:p>
          <a:p>
            <a:r>
              <a:rPr lang="es-ES" dirty="0" smtClean="0">
                <a:sym typeface="Wingdings" panose="05000000000000000000" pitchFamily="2" charset="2"/>
              </a:rPr>
              <a:t> Modificar los elementos de una lista</a:t>
            </a:r>
          </a:p>
          <a:p>
            <a:r>
              <a:rPr lang="es-ES" sz="1600" dirty="0" smtClean="0">
                <a:sym typeface="Wingdings" panose="05000000000000000000" pitchFamily="2" charset="2"/>
              </a:rPr>
              <a:t>&gt;&gt;&gt; </a:t>
            </a:r>
            <a:r>
              <a:rPr lang="es-ES" sz="1600" dirty="0">
                <a:sym typeface="Wingdings" panose="05000000000000000000" pitchFamily="2" charset="2"/>
              </a:rPr>
              <a:t>lista = [0, 0, 0, 0]</a:t>
            </a:r>
          </a:p>
          <a:p>
            <a:r>
              <a:rPr lang="es-ES" sz="1600" dirty="0">
                <a:sym typeface="Wingdings" panose="05000000000000000000" pitchFamily="2" charset="2"/>
              </a:rPr>
              <a:t>&gt;&gt;&gt; </a:t>
            </a:r>
            <a:r>
              <a:rPr lang="es-ES" sz="1600" dirty="0" err="1">
                <a:sym typeface="Wingdings" panose="05000000000000000000" pitchFamily="2" charset="2"/>
              </a:rPr>
              <a:t>for</a:t>
            </a:r>
            <a:r>
              <a:rPr lang="es-ES" sz="1600" dirty="0">
                <a:sym typeface="Wingdings" panose="05000000000000000000" pitchFamily="2" charset="2"/>
              </a:rPr>
              <a:t> i in </a:t>
            </a:r>
            <a:r>
              <a:rPr lang="es-ES" sz="1600" dirty="0" err="1">
                <a:sym typeface="Wingdings" panose="05000000000000000000" pitchFamily="2" charset="2"/>
              </a:rPr>
              <a:t>range</a:t>
            </a:r>
            <a:r>
              <a:rPr lang="es-ES" sz="1600" dirty="0">
                <a:sym typeface="Wingdings" panose="05000000000000000000" pitchFamily="2" charset="2"/>
              </a:rPr>
              <a:t>(0, </a:t>
            </a:r>
            <a:r>
              <a:rPr lang="es-ES" sz="1600" dirty="0" err="1">
                <a:sym typeface="Wingdings" panose="05000000000000000000" pitchFamily="2" charset="2"/>
              </a:rPr>
              <a:t>len</a:t>
            </a:r>
            <a:r>
              <a:rPr lang="es-ES" sz="1600" dirty="0">
                <a:sym typeface="Wingdings" panose="05000000000000000000" pitchFamily="2" charset="2"/>
              </a:rPr>
              <a:t>(lista)):</a:t>
            </a:r>
          </a:p>
          <a:p>
            <a:r>
              <a:rPr lang="es-ES" sz="1600" dirty="0">
                <a:sym typeface="Wingdings" panose="05000000000000000000" pitchFamily="2" charset="2"/>
              </a:rPr>
              <a:t>...     lista[i] = </a:t>
            </a:r>
            <a:r>
              <a:rPr lang="es-ES" sz="1600" dirty="0" smtClean="0">
                <a:sym typeface="Wingdings" panose="05000000000000000000" pitchFamily="2" charset="2"/>
              </a:rPr>
              <a:t>10 </a:t>
            </a:r>
            <a:endParaRPr lang="es-ES" sz="1600" dirty="0">
              <a:sym typeface="Wingdings" panose="05000000000000000000" pitchFamily="2" charset="2"/>
            </a:endParaRPr>
          </a:p>
          <a:p>
            <a:r>
              <a:rPr lang="es-ES" sz="1600" dirty="0">
                <a:sym typeface="Wingdings" panose="05000000000000000000" pitchFamily="2" charset="2"/>
              </a:rPr>
              <a:t>&gt;&gt;&gt; </a:t>
            </a:r>
            <a:r>
              <a:rPr lang="es-ES" sz="1600" dirty="0" err="1">
                <a:sym typeface="Wingdings" panose="05000000000000000000" pitchFamily="2" charset="2"/>
              </a:rPr>
              <a:t>print</a:t>
            </a:r>
            <a:r>
              <a:rPr lang="es-ES" sz="1600" dirty="0">
                <a:sym typeface="Wingdings" panose="05000000000000000000" pitchFamily="2" charset="2"/>
              </a:rPr>
              <a:t> lista</a:t>
            </a:r>
          </a:p>
          <a:p>
            <a:r>
              <a:rPr lang="es-ES" sz="1600" dirty="0">
                <a:sym typeface="Wingdings" panose="05000000000000000000" pitchFamily="2" charset="2"/>
              </a:rPr>
              <a:t>[10, 10, 10, 10</a:t>
            </a:r>
            <a:r>
              <a:rPr lang="es-ES" sz="1600" dirty="0" smtClean="0">
                <a:sym typeface="Wingdings" panose="05000000000000000000" pitchFamily="2" charset="2"/>
              </a:rPr>
              <a: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915199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3463577" cy="369332"/>
          </a:xfrm>
          <a:prstGeom prst="rect">
            <a:avLst/>
          </a:prstGeom>
        </p:spPr>
        <p:txBody>
          <a:bodyPr wrap="none">
            <a:spAutoFit/>
          </a:bodyPr>
          <a:lstStyle/>
          <a:p>
            <a:r>
              <a:rPr lang="es-ES" b="1" u="sng" dirty="0" smtClean="0"/>
              <a:t>Control del flujo de programa:</a:t>
            </a:r>
            <a:endParaRPr lang="es-ES" b="1" u="sng" dirty="0"/>
          </a:p>
        </p:txBody>
      </p:sp>
      <p:sp>
        <p:nvSpPr>
          <p:cNvPr id="8" name="CuadroTexto 7"/>
          <p:cNvSpPr txBox="1"/>
          <p:nvPr/>
        </p:nvSpPr>
        <p:spPr>
          <a:xfrm>
            <a:off x="677334" y="1786010"/>
            <a:ext cx="9316671" cy="5601533"/>
          </a:xfrm>
          <a:prstGeom prst="rect">
            <a:avLst/>
          </a:prstGeom>
          <a:noFill/>
        </p:spPr>
        <p:txBody>
          <a:bodyPr wrap="square" rtlCol="0">
            <a:spAutoFit/>
          </a:bodyPr>
          <a:lstStyle/>
          <a:p>
            <a:pPr marL="285750" indent="-285750">
              <a:buFont typeface="Wingdings" panose="05000000000000000000" pitchFamily="2" charset="2"/>
              <a:buChar char="v"/>
            </a:pPr>
            <a:r>
              <a:rPr lang="es-ES" dirty="0">
                <a:sym typeface="Wingdings" panose="05000000000000000000" pitchFamily="2" charset="2"/>
              </a:rPr>
              <a:t>B</a:t>
            </a:r>
            <a:r>
              <a:rPr lang="es-ES" dirty="0" smtClean="0">
                <a:sym typeface="Wingdings" panose="05000000000000000000" pitchFamily="2" charset="2"/>
              </a:rPr>
              <a:t>ucles </a:t>
            </a:r>
            <a:r>
              <a:rPr lang="es-ES" dirty="0" err="1" smtClean="0">
                <a:sym typeface="Wingdings" panose="05000000000000000000" pitchFamily="2" charset="2"/>
              </a:rPr>
              <a:t>while</a:t>
            </a:r>
            <a:r>
              <a:rPr lang="es-ES" dirty="0" smtClean="0">
                <a:sym typeface="Wingdings" panose="05000000000000000000" pitchFamily="2" charset="2"/>
              </a:rPr>
              <a:t>:</a:t>
            </a:r>
          </a:p>
          <a:p>
            <a:r>
              <a:rPr lang="nn-NO" sz="1400" dirty="0">
                <a:sym typeface="Wingdings" panose="05000000000000000000" pitchFamily="2" charset="2"/>
              </a:rPr>
              <a:t>&gt;&gt;&gt; while i &lt; 3:</a:t>
            </a:r>
          </a:p>
          <a:p>
            <a:r>
              <a:rPr lang="nn-NO" sz="1400" dirty="0">
                <a:sym typeface="Wingdings" panose="05000000000000000000" pitchFamily="2" charset="2"/>
              </a:rPr>
              <a:t>...     i = i + 1</a:t>
            </a:r>
          </a:p>
          <a:p>
            <a:r>
              <a:rPr lang="nn-NO" sz="1400" dirty="0">
                <a:sym typeface="Wingdings" panose="05000000000000000000" pitchFamily="2" charset="2"/>
              </a:rPr>
              <a:t>...     print i</a:t>
            </a:r>
          </a:p>
          <a:p>
            <a:r>
              <a:rPr lang="nn-NO" sz="1400" dirty="0">
                <a:sym typeface="Wingdings" panose="05000000000000000000" pitchFamily="2" charset="2"/>
              </a:rPr>
              <a:t>... </a:t>
            </a:r>
          </a:p>
          <a:p>
            <a:r>
              <a:rPr lang="nn-NO" sz="1400" dirty="0">
                <a:sym typeface="Wingdings" panose="05000000000000000000" pitchFamily="2" charset="2"/>
              </a:rPr>
              <a:t>1</a:t>
            </a:r>
          </a:p>
          <a:p>
            <a:r>
              <a:rPr lang="nn-NO" sz="1400" dirty="0">
                <a:sym typeface="Wingdings" panose="05000000000000000000" pitchFamily="2" charset="2"/>
              </a:rPr>
              <a:t>2</a:t>
            </a:r>
          </a:p>
          <a:p>
            <a:r>
              <a:rPr lang="nn-NO" sz="1400" dirty="0" smtClean="0">
                <a:sym typeface="Wingdings" panose="05000000000000000000" pitchFamily="2" charset="2"/>
              </a:rPr>
              <a:t>3</a:t>
            </a:r>
          </a:p>
          <a:p>
            <a:endParaRPr lang="es-ES" sz="12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break  para salir del bucle en cualquier momento</a:t>
            </a:r>
          </a:p>
          <a:p>
            <a:pPr marL="285750" indent="-285750">
              <a:buFont typeface="Wingdings" panose="05000000000000000000" pitchFamily="2" charset="2"/>
              <a:buChar char="v"/>
            </a:pPr>
            <a:r>
              <a:rPr lang="es-ES" dirty="0" err="1" smtClean="0">
                <a:sym typeface="Wingdings" panose="05000000000000000000" pitchFamily="2" charset="2"/>
              </a:rPr>
              <a:t>continue</a:t>
            </a:r>
            <a:r>
              <a:rPr lang="es-ES" dirty="0" smtClean="0">
                <a:sym typeface="Wingdings" panose="05000000000000000000" pitchFamily="2" charset="2"/>
              </a:rPr>
              <a:t>  para seguir con la siguiente iteración, no sigue con lo que hay debajo</a:t>
            </a:r>
          </a:p>
          <a:p>
            <a:pPr marL="285750" indent="-285750">
              <a:buFont typeface="Wingdings" panose="05000000000000000000" pitchFamily="2" charset="2"/>
              <a:buChar char="v"/>
            </a:pPr>
            <a:r>
              <a:rPr lang="es-ES" dirty="0" err="1" smtClean="0">
                <a:sym typeface="Wingdings" panose="05000000000000000000" pitchFamily="2" charset="2"/>
              </a:rPr>
              <a:t>pass</a:t>
            </a:r>
            <a:r>
              <a:rPr lang="es-ES" dirty="0" smtClean="0">
                <a:sym typeface="Wingdings" panose="05000000000000000000" pitchFamily="2" charset="2"/>
              </a:rPr>
              <a:t>  no hace nada</a:t>
            </a:r>
          </a:p>
          <a:p>
            <a:endParaRPr lang="es-ES" sz="1200" dirty="0">
              <a:sym typeface="Wingdings" panose="05000000000000000000" pitchFamily="2" charset="2"/>
            </a:endParaRPr>
          </a:p>
          <a:p>
            <a:r>
              <a:rPr lang="es-ES" dirty="0" smtClean="0">
                <a:sym typeface="Wingdings" panose="05000000000000000000" pitchFamily="2" charset="2"/>
              </a:rPr>
              <a:t>Ejemplo break: </a:t>
            </a:r>
          </a:p>
          <a:p>
            <a:r>
              <a:rPr lang="es-ES" sz="1400" dirty="0">
                <a:sym typeface="Wingdings" panose="05000000000000000000" pitchFamily="2" charset="2"/>
              </a:rPr>
              <a:t>&gt;&gt;&gt; </a:t>
            </a:r>
            <a:r>
              <a:rPr lang="es-ES" sz="1400" dirty="0" err="1">
                <a:sym typeface="Wingdings" panose="05000000000000000000" pitchFamily="2" charset="2"/>
              </a:rPr>
              <a:t>while</a:t>
            </a:r>
            <a:r>
              <a:rPr lang="es-ES" sz="1400" dirty="0">
                <a:sym typeface="Wingdings" panose="05000000000000000000" pitchFamily="2" charset="2"/>
              </a:rPr>
              <a:t> i &lt; 3:</a:t>
            </a:r>
          </a:p>
          <a:p>
            <a:r>
              <a:rPr lang="es-ES" sz="1400" dirty="0">
                <a:sym typeface="Wingdings" panose="05000000000000000000" pitchFamily="2" charset="2"/>
              </a:rPr>
              <a:t>...     </a:t>
            </a:r>
            <a:r>
              <a:rPr lang="es-ES" sz="1400" dirty="0" err="1">
                <a:sym typeface="Wingdings" panose="05000000000000000000" pitchFamily="2" charset="2"/>
              </a:rPr>
              <a:t>if</a:t>
            </a:r>
            <a:r>
              <a:rPr lang="es-ES" sz="1400" dirty="0">
                <a:sym typeface="Wingdings" panose="05000000000000000000" pitchFamily="2" charset="2"/>
              </a:rPr>
              <a:t> i == 2:</a:t>
            </a:r>
          </a:p>
          <a:p>
            <a:r>
              <a:rPr lang="es-ES" sz="1400" dirty="0">
                <a:sym typeface="Wingdings" panose="05000000000000000000" pitchFamily="2" charset="2"/>
              </a:rPr>
              <a:t>...             break</a:t>
            </a:r>
          </a:p>
          <a:p>
            <a:r>
              <a:rPr lang="es-ES" sz="1400" dirty="0">
                <a:sym typeface="Wingdings" panose="05000000000000000000" pitchFamily="2" charset="2"/>
              </a:rPr>
              <a:t>...     i = i + 1</a:t>
            </a:r>
          </a:p>
          <a:p>
            <a:r>
              <a:rPr lang="es-ES" sz="1400" dirty="0">
                <a:sym typeface="Wingdings" panose="05000000000000000000" pitchFamily="2" charset="2"/>
              </a:rPr>
              <a:t>...     </a:t>
            </a:r>
            <a:r>
              <a:rPr lang="es-ES" sz="1400" dirty="0" err="1">
                <a:sym typeface="Wingdings" panose="05000000000000000000" pitchFamily="2" charset="2"/>
              </a:rPr>
              <a:t>print</a:t>
            </a:r>
            <a:r>
              <a:rPr lang="es-ES" sz="1400" dirty="0">
                <a:sym typeface="Wingdings" panose="05000000000000000000" pitchFamily="2" charset="2"/>
              </a:rPr>
              <a:t> i</a:t>
            </a:r>
          </a:p>
          <a:p>
            <a:r>
              <a:rPr lang="es-ES" sz="1400" dirty="0">
                <a:sym typeface="Wingdings" panose="05000000000000000000" pitchFamily="2" charset="2"/>
              </a:rPr>
              <a:t>... </a:t>
            </a:r>
          </a:p>
          <a:p>
            <a:r>
              <a:rPr lang="es-ES" sz="1400" dirty="0">
                <a:sym typeface="Wingdings" panose="05000000000000000000" pitchFamily="2" charset="2"/>
              </a:rPr>
              <a:t>1</a:t>
            </a:r>
          </a:p>
          <a:p>
            <a:r>
              <a:rPr lang="es-ES" sz="1400" dirty="0" smtClean="0">
                <a:sym typeface="Wingdings" panose="05000000000000000000" pitchFamily="2" charset="2"/>
              </a:rPr>
              <a:t>2  	# ahora no llegamos al 3 por el break</a:t>
            </a:r>
            <a:endParaRPr lang="es-ES" sz="1400" dirty="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713579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512611" cy="369332"/>
          </a:xfrm>
          <a:prstGeom prst="rect">
            <a:avLst/>
          </a:prstGeom>
        </p:spPr>
        <p:txBody>
          <a:bodyPr wrap="none">
            <a:spAutoFit/>
          </a:bodyPr>
          <a:lstStyle/>
          <a:p>
            <a:r>
              <a:rPr lang="es-ES" b="1" u="sng" dirty="0" smtClean="0"/>
              <a:t>Funciones en Python:</a:t>
            </a:r>
            <a:endParaRPr lang="es-ES" b="1" u="sng" dirty="0"/>
          </a:p>
        </p:txBody>
      </p:sp>
      <p:sp>
        <p:nvSpPr>
          <p:cNvPr id="8" name="CuadroTexto 7"/>
          <p:cNvSpPr txBox="1"/>
          <p:nvPr/>
        </p:nvSpPr>
        <p:spPr>
          <a:xfrm>
            <a:off x="677334" y="1786010"/>
            <a:ext cx="9316671" cy="5016758"/>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Definición:</a:t>
            </a:r>
          </a:p>
          <a:p>
            <a:r>
              <a:rPr lang="es-ES" sz="1200" dirty="0" err="1" smtClean="0">
                <a:sym typeface="Wingdings" panose="05000000000000000000" pitchFamily="2" charset="2"/>
              </a:rPr>
              <a:t>def</a:t>
            </a:r>
            <a:r>
              <a:rPr lang="es-ES" sz="1200" dirty="0" smtClean="0">
                <a:sym typeface="Wingdings" panose="05000000000000000000" pitchFamily="2" charset="2"/>
              </a:rPr>
              <a:t> función (par1, para2):</a:t>
            </a:r>
          </a:p>
          <a:p>
            <a:r>
              <a:rPr lang="es-ES" sz="1600" dirty="0">
                <a:sym typeface="Wingdings" panose="05000000000000000000" pitchFamily="2" charset="2"/>
              </a:rPr>
              <a:t> </a:t>
            </a:r>
            <a:r>
              <a:rPr lang="es-ES" sz="1600" dirty="0" smtClean="0">
                <a:sym typeface="Wingdings" panose="05000000000000000000" pitchFamily="2" charset="2"/>
              </a:rPr>
              <a:t>     # aquí empieza la función</a:t>
            </a:r>
          </a:p>
          <a:p>
            <a:endParaRPr lang="es-ES" sz="1600" dirty="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ABRIR SCRIPT funciones_1.py</a:t>
            </a:r>
          </a:p>
          <a:p>
            <a:endParaRPr lang="es-ES" sz="1600" dirty="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ABRIR SCRIPT funciones_2.py</a:t>
            </a:r>
          </a:p>
          <a:p>
            <a:pPr marL="285750" indent="-285750">
              <a:buFont typeface="Wingdings" panose="05000000000000000000" pitchFamily="2" charset="2"/>
              <a:buChar char="à"/>
            </a:pPr>
            <a:endParaRPr lang="es-ES" sz="1600" dirty="0">
              <a:sym typeface="Wingdings" panose="05000000000000000000" pitchFamily="2" charset="2"/>
            </a:endParaRPr>
          </a:p>
          <a:p>
            <a:r>
              <a:rPr lang="es-ES" sz="1600" b="1" u="sng" dirty="0" err="1" smtClean="0">
                <a:sym typeface="Wingdings" panose="05000000000000000000" pitchFamily="2" charset="2"/>
              </a:rPr>
              <a:t>Built</a:t>
            </a:r>
            <a:r>
              <a:rPr lang="es-ES" sz="1600" b="1" u="sng" dirty="0" smtClean="0">
                <a:sym typeface="Wingdings" panose="05000000000000000000" pitchFamily="2" charset="2"/>
              </a:rPr>
              <a:t>-in </a:t>
            </a:r>
            <a:r>
              <a:rPr lang="es-ES" sz="1600" b="1" u="sng" dirty="0" err="1" smtClean="0">
                <a:sym typeface="Wingdings" panose="05000000000000000000" pitchFamily="2" charset="2"/>
              </a:rPr>
              <a:t>Functions</a:t>
            </a:r>
            <a:r>
              <a:rPr lang="es-ES" sz="1600" b="1" u="sng" dirty="0" smtClean="0">
                <a:sym typeface="Wingdings" panose="05000000000000000000" pitchFamily="2" charset="2"/>
              </a:rPr>
              <a:t>:</a:t>
            </a:r>
          </a:p>
          <a:p>
            <a:r>
              <a:rPr lang="es-ES" sz="1600" dirty="0" smtClean="0">
                <a:sym typeface="Wingdings" panose="05000000000000000000" pitchFamily="2" charset="2"/>
              </a:rPr>
              <a:t>Funciones que siempre tenemos</a:t>
            </a:r>
          </a:p>
          <a:p>
            <a:r>
              <a:rPr lang="es-ES" sz="1600" dirty="0" smtClean="0">
                <a:sym typeface="Wingdings" panose="05000000000000000000" pitchFamily="2" charset="2"/>
              </a:rPr>
              <a:t>Accesibles</a:t>
            </a:r>
          </a:p>
          <a:p>
            <a:endParaRPr lang="es-ES" sz="1600" dirty="0">
              <a:sym typeface="Wingdings" panose="05000000000000000000" pitchFamily="2" charset="2"/>
            </a:endParaRPr>
          </a:p>
          <a:p>
            <a:r>
              <a:rPr lang="es-ES" sz="1600" dirty="0" smtClean="0">
                <a:sym typeface="Wingdings" panose="05000000000000000000" pitchFamily="2" charset="2"/>
              </a:rPr>
              <a:t>ABRIR </a:t>
            </a:r>
            <a:r>
              <a:rPr lang="es-ES" sz="1600" dirty="0">
                <a:sym typeface="Wingdings" panose="05000000000000000000" pitchFamily="2" charset="2"/>
              </a:rPr>
              <a:t>SCRIPT </a:t>
            </a:r>
            <a:r>
              <a:rPr lang="es-ES" sz="1600" dirty="0" smtClean="0">
                <a:sym typeface="Wingdings" panose="05000000000000000000" pitchFamily="2" charset="2"/>
              </a:rPr>
              <a:t>funciones_3.py</a:t>
            </a:r>
          </a:p>
          <a:p>
            <a:endParaRPr lang="es-ES" sz="1600" dirty="0">
              <a:sym typeface="Wingdings" panose="05000000000000000000" pitchFamily="2" charset="2"/>
            </a:endParaRPr>
          </a:p>
          <a:p>
            <a:endParaRPr lang="es-ES" sz="1600" dirty="0" smtClean="0">
              <a:sym typeface="Wingdings" panose="05000000000000000000" pitchFamily="2" charset="2"/>
            </a:endParaRPr>
          </a:p>
          <a:p>
            <a:endParaRPr lang="es-ES" sz="1600" dirty="0">
              <a:sym typeface="Wingdings" panose="05000000000000000000" pitchFamily="2" charset="2"/>
            </a:endParaRPr>
          </a:p>
          <a:p>
            <a:r>
              <a:rPr lang="es-ES" sz="1600" dirty="0">
                <a:sym typeface="Wingdings" panose="05000000000000000000" pitchFamily="2" charset="2"/>
              </a:rPr>
              <a:t>https://docs.python.org/3.3/library/functions.html#zip</a:t>
            </a: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4269682" y="1682685"/>
            <a:ext cx="7439025" cy="4019550"/>
          </a:xfrm>
          <a:prstGeom prst="rect">
            <a:avLst/>
          </a:prstGeom>
        </p:spPr>
      </p:pic>
    </p:spTree>
    <p:extLst>
      <p:ext uri="{BB962C8B-B14F-4D97-AF65-F5344CB8AC3E}">
        <p14:creationId xmlns:p14="http://schemas.microsoft.com/office/powerpoint/2010/main" val="1900032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203232" cy="369332"/>
          </a:xfrm>
          <a:prstGeom prst="rect">
            <a:avLst/>
          </a:prstGeom>
        </p:spPr>
        <p:txBody>
          <a:bodyPr wrap="none">
            <a:spAutoFit/>
          </a:bodyPr>
          <a:lstStyle/>
          <a:p>
            <a:r>
              <a:rPr lang="es-ES" b="1" u="sng" dirty="0" smtClean="0"/>
              <a:t>Funciones lambda:</a:t>
            </a:r>
            <a:endParaRPr lang="es-ES" b="1" u="sng" dirty="0"/>
          </a:p>
        </p:txBody>
      </p:sp>
      <p:sp>
        <p:nvSpPr>
          <p:cNvPr id="8" name="CuadroTexto 7"/>
          <p:cNvSpPr txBox="1"/>
          <p:nvPr/>
        </p:nvSpPr>
        <p:spPr>
          <a:xfrm>
            <a:off x="677334" y="1876163"/>
            <a:ext cx="9316671" cy="4093428"/>
          </a:xfrm>
          <a:prstGeom prst="rect">
            <a:avLst/>
          </a:prstGeom>
          <a:noFill/>
        </p:spPr>
        <p:txBody>
          <a:bodyPr wrap="square" rtlCol="0">
            <a:spAutoFit/>
          </a:bodyPr>
          <a:lstStyle/>
          <a:p>
            <a:r>
              <a:rPr lang="es-ES" dirty="0" smtClean="0">
                <a:sym typeface="Wingdings" panose="05000000000000000000" pitchFamily="2" charset="2"/>
              </a:rPr>
              <a:t>Una función anónima que puede ser asignada a una variable</a:t>
            </a:r>
          </a:p>
          <a:p>
            <a:endParaRPr lang="es-ES" sz="1600" dirty="0" smtClean="0">
              <a:sym typeface="Wingdings" panose="05000000000000000000" pitchFamily="2" charset="2"/>
            </a:endParaRPr>
          </a:p>
          <a:p>
            <a:r>
              <a:rPr lang="es-ES" sz="1600" dirty="0" smtClean="0">
                <a:sym typeface="Wingdings" panose="05000000000000000000" pitchFamily="2" charset="2"/>
              </a:rPr>
              <a:t>Lambda &lt;parámetro&gt;: expresión</a:t>
            </a:r>
          </a:p>
          <a:p>
            <a:endParaRPr lang="es-ES" sz="1600" dirty="0">
              <a:sym typeface="Wingdings" panose="05000000000000000000" pitchFamily="2" charset="2"/>
            </a:endParaRPr>
          </a:p>
          <a:p>
            <a:r>
              <a:rPr lang="es-ES" sz="1600" dirty="0" smtClean="0">
                <a:solidFill>
                  <a:srgbClr val="FF0000"/>
                </a:solidFill>
                <a:sym typeface="Wingdings" panose="05000000000000000000" pitchFamily="2" charset="2"/>
              </a:rPr>
              <a:t> ABRIR funciones_4.py</a:t>
            </a:r>
            <a:endParaRPr lang="es-ES" sz="1600" dirty="0">
              <a:solidFill>
                <a:srgbClr val="FF0000"/>
              </a:solidFill>
              <a:sym typeface="Wingdings" panose="05000000000000000000" pitchFamily="2" charset="2"/>
            </a:endParaRPr>
          </a:p>
          <a:p>
            <a:endParaRPr lang="es-ES" sz="1600" dirty="0" smtClean="0">
              <a:sym typeface="Wingdings" panose="05000000000000000000" pitchFamily="2" charset="2"/>
            </a:endParaRPr>
          </a:p>
          <a:p>
            <a:r>
              <a:rPr lang="es-ES" sz="1600" b="1" u="sng" dirty="0" smtClean="0"/>
              <a:t>Módulo de funciones matemáticas:</a:t>
            </a:r>
          </a:p>
          <a:p>
            <a:endParaRPr lang="es-ES" sz="1600" dirty="0"/>
          </a:p>
          <a:p>
            <a:r>
              <a:rPr lang="es-ES" sz="1600" dirty="0">
                <a:hlinkClick r:id="rId2"/>
              </a:rPr>
              <a:t>https://</a:t>
            </a:r>
            <a:r>
              <a:rPr lang="es-ES" sz="1600" dirty="0" smtClean="0">
                <a:hlinkClick r:id="rId2"/>
              </a:rPr>
              <a:t>docs.python.org/2/library/math.html</a:t>
            </a:r>
            <a:endParaRPr lang="es-ES" sz="1600" dirty="0" smtClean="0"/>
          </a:p>
          <a:p>
            <a:endParaRPr lang="es-ES" sz="1600" dirty="0"/>
          </a:p>
          <a:p>
            <a:r>
              <a:rPr lang="es-ES" sz="1600" dirty="0" smtClean="0">
                <a:solidFill>
                  <a:srgbClr val="FF0000"/>
                </a:solidFill>
                <a:sym typeface="Wingdings" panose="05000000000000000000" pitchFamily="2" charset="2"/>
              </a:rPr>
              <a:t> ABRIR funciones_5.py</a:t>
            </a:r>
            <a:endParaRPr lang="es-ES" sz="1600" dirty="0" smtClean="0">
              <a:solidFill>
                <a:srgbClr val="FF0000"/>
              </a:solidFill>
            </a:endParaRPr>
          </a:p>
          <a:p>
            <a:endParaRPr lang="es-ES" sz="1600" b="1" u="sng" dirty="0"/>
          </a:p>
          <a:p>
            <a:endParaRPr lang="es-ES" sz="1600" b="1" u="sng" dirty="0"/>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66365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351926" cy="369332"/>
          </a:xfrm>
          <a:prstGeom prst="rect">
            <a:avLst/>
          </a:prstGeom>
        </p:spPr>
        <p:txBody>
          <a:bodyPr wrap="none">
            <a:spAutoFit/>
          </a:bodyPr>
          <a:lstStyle/>
          <a:p>
            <a:r>
              <a:rPr lang="es-ES" b="1" u="sng" dirty="0" smtClean="0"/>
              <a:t>Manejo de archivos:</a:t>
            </a:r>
            <a:endParaRPr lang="es-ES" b="1" u="sng" dirty="0"/>
          </a:p>
        </p:txBody>
      </p:sp>
      <p:sp>
        <p:nvSpPr>
          <p:cNvPr id="8" name="CuadroTexto 7"/>
          <p:cNvSpPr txBox="1"/>
          <p:nvPr/>
        </p:nvSpPr>
        <p:spPr>
          <a:xfrm>
            <a:off x="677334" y="1876163"/>
            <a:ext cx="9316671" cy="3108543"/>
          </a:xfrm>
          <a:prstGeom prst="rect">
            <a:avLst/>
          </a:prstGeom>
          <a:noFill/>
        </p:spPr>
        <p:txBody>
          <a:bodyPr wrap="square" rtlCol="0">
            <a:spAutoFit/>
          </a:bodyPr>
          <a:lstStyle/>
          <a:p>
            <a:r>
              <a:rPr lang="es-ES" dirty="0" smtClean="0">
                <a:sym typeface="Wingdings" panose="05000000000000000000" pitchFamily="2" charset="2"/>
              </a:rPr>
              <a:t>En Python podemos escribir y leer de archivos de forma muy sencilla</a:t>
            </a:r>
          </a:p>
          <a:p>
            <a:endParaRPr lang="es-ES" sz="1600" dirty="0" smtClean="0">
              <a:sym typeface="Wingdings" panose="05000000000000000000" pitchFamily="2" charset="2"/>
            </a:endParaRPr>
          </a:p>
          <a:p>
            <a:r>
              <a:rPr lang="es-ES" sz="1600" dirty="0" smtClean="0">
                <a:sym typeface="Wingdings" panose="05000000000000000000" pitchFamily="2" charset="2"/>
              </a:rPr>
              <a:t>fichero = open(“nombre_fichero.txt”, r) # abrimos el fichero en modo lectura</a:t>
            </a:r>
          </a:p>
          <a:p>
            <a:endParaRPr lang="es-ES" sz="1600" dirty="0">
              <a:sym typeface="Wingdings" panose="05000000000000000000" pitchFamily="2" charset="2"/>
            </a:endParaRPr>
          </a:p>
          <a:p>
            <a:r>
              <a:rPr lang="es-ES" sz="1600" dirty="0">
                <a:sym typeface="Wingdings" panose="05000000000000000000" pitchFamily="2" charset="2"/>
              </a:rPr>
              <a:t>f</a:t>
            </a:r>
            <a:r>
              <a:rPr lang="es-ES" sz="1600" dirty="0" smtClean="0">
                <a:sym typeface="Wingdings" panose="05000000000000000000" pitchFamily="2" charset="2"/>
              </a:rPr>
              <a:t>ichero = open(“nombre_fichero.txt”, w) # abrimos el fichero en modo escritura</a:t>
            </a:r>
          </a:p>
          <a:p>
            <a:endParaRPr lang="es-ES" sz="1600" dirty="0" smtClean="0">
              <a:sym typeface="Wingdings" panose="05000000000000000000" pitchFamily="2" charset="2"/>
            </a:endParaRPr>
          </a:p>
          <a:p>
            <a:r>
              <a:rPr lang="es-ES" sz="1600" dirty="0" smtClean="0">
                <a:solidFill>
                  <a:srgbClr val="FF0000"/>
                </a:solidFill>
                <a:sym typeface="Wingdings" panose="05000000000000000000" pitchFamily="2" charset="2"/>
              </a:rPr>
              <a:t> ABRIR ficheros_lectura.py</a:t>
            </a:r>
          </a:p>
          <a:p>
            <a:endParaRPr lang="es-ES" sz="1600" dirty="0">
              <a:sym typeface="Wingdings" panose="05000000000000000000" pitchFamily="2" charset="2"/>
            </a:endParaRPr>
          </a:p>
          <a:p>
            <a:r>
              <a:rPr lang="es-ES" sz="1600" dirty="0" smtClean="0">
                <a:solidFill>
                  <a:srgbClr val="FF0000"/>
                </a:solidFill>
                <a:sym typeface="Wingdings" panose="05000000000000000000" pitchFamily="2" charset="2"/>
              </a:rPr>
              <a:t> ABRIR ficheros_escritura.py</a:t>
            </a:r>
            <a:endParaRPr lang="es-ES" sz="1600" dirty="0">
              <a:solidFill>
                <a:srgbClr val="FF0000"/>
              </a:solidFill>
              <a:sym typeface="Wingdings" panose="05000000000000000000" pitchFamily="2" charset="2"/>
            </a:endParaRP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118840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4346575" cy="369332"/>
          </a:xfrm>
          <a:prstGeom prst="rect">
            <a:avLst/>
          </a:prstGeom>
        </p:spPr>
        <p:txBody>
          <a:bodyPr wrap="none">
            <a:spAutoFit/>
          </a:bodyPr>
          <a:lstStyle/>
          <a:p>
            <a:r>
              <a:rPr lang="es-ES" b="1" u="sng" dirty="0" smtClean="0"/>
              <a:t>Variables globales Vs variables locales:</a:t>
            </a:r>
            <a:endParaRPr lang="es-ES" b="1" u="sng" dirty="0"/>
          </a:p>
        </p:txBody>
      </p:sp>
      <p:sp>
        <p:nvSpPr>
          <p:cNvPr id="8" name="CuadroTexto 7"/>
          <p:cNvSpPr txBox="1"/>
          <p:nvPr/>
        </p:nvSpPr>
        <p:spPr>
          <a:xfrm>
            <a:off x="677334" y="1876163"/>
            <a:ext cx="9316671" cy="3016210"/>
          </a:xfrm>
          <a:prstGeom prst="rect">
            <a:avLst/>
          </a:prstGeom>
          <a:noFill/>
        </p:spPr>
        <p:txBody>
          <a:bodyPr wrap="square" rtlCol="0">
            <a:spAutoFit/>
          </a:bodyPr>
          <a:lstStyle/>
          <a:p>
            <a:r>
              <a:rPr lang="es-ES" dirty="0" smtClean="0">
                <a:sym typeface="Wingdings" panose="05000000000000000000" pitchFamily="2" charset="2"/>
              </a:rPr>
              <a:t>Las variables que creamos en las funciones son variables locales.</a:t>
            </a:r>
          </a:p>
          <a:p>
            <a:endParaRPr lang="es-ES" dirty="0">
              <a:sym typeface="Wingdings" panose="05000000000000000000" pitchFamily="2" charset="2"/>
            </a:endParaRPr>
          </a:p>
          <a:p>
            <a:r>
              <a:rPr lang="es-ES" dirty="0" smtClean="0">
                <a:sym typeface="Wingdings" panose="05000000000000000000" pitchFamily="2" charset="2"/>
              </a:rPr>
              <a:t>Las variables que definimos fuera de las funciones son variables globales. Si queremos modificar su contenido debemos utilizar “global”. (Recordar que las listas van aparte).</a:t>
            </a:r>
          </a:p>
          <a:p>
            <a:endParaRPr lang="es-ES" dirty="0">
              <a:sym typeface="Wingdings" panose="05000000000000000000" pitchFamily="2" charset="2"/>
            </a:endParaRPr>
          </a:p>
          <a:p>
            <a:r>
              <a:rPr lang="es-ES" dirty="0" smtClean="0">
                <a:solidFill>
                  <a:srgbClr val="FF0000"/>
                </a:solidFill>
                <a:sym typeface="Wingdings" panose="05000000000000000000" pitchFamily="2" charset="2"/>
              </a:rPr>
              <a:t> Abrir globales.py </a:t>
            </a:r>
          </a:p>
          <a:p>
            <a:endParaRPr lang="es-ES" sz="1600" dirty="0" smtClean="0">
              <a:sym typeface="Wingdings" panose="05000000000000000000" pitchFamily="2" charset="2"/>
            </a:endParaRPr>
          </a:p>
          <a:p>
            <a:r>
              <a:rPr lang="es-ES" sz="1600" dirty="0" smtClean="0">
                <a:solidFill>
                  <a:srgbClr val="FF0000"/>
                </a:solidFill>
                <a:sym typeface="Wingdings" panose="05000000000000000000" pitchFamily="2" charset="2"/>
              </a:rPr>
              <a:t> Abrir leo_línea.py</a:t>
            </a: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070929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933269" cy="369332"/>
          </a:xfrm>
          <a:prstGeom prst="rect">
            <a:avLst/>
          </a:prstGeom>
        </p:spPr>
        <p:txBody>
          <a:bodyPr wrap="none">
            <a:spAutoFit/>
          </a:bodyPr>
          <a:lstStyle/>
          <a:p>
            <a:r>
              <a:rPr lang="es-ES" b="1" u="sng" dirty="0" smtClean="0"/>
              <a:t>Clases:</a:t>
            </a:r>
            <a:endParaRPr lang="es-ES" b="1" u="sng" dirty="0"/>
          </a:p>
        </p:txBody>
      </p:sp>
      <p:sp>
        <p:nvSpPr>
          <p:cNvPr id="8" name="CuadroTexto 7"/>
          <p:cNvSpPr txBox="1"/>
          <p:nvPr/>
        </p:nvSpPr>
        <p:spPr>
          <a:xfrm>
            <a:off x="677334" y="1876163"/>
            <a:ext cx="9316671" cy="4585871"/>
          </a:xfrm>
          <a:prstGeom prst="rect">
            <a:avLst/>
          </a:prstGeom>
          <a:noFill/>
        </p:spPr>
        <p:txBody>
          <a:bodyPr wrap="square" rtlCol="0">
            <a:spAutoFit/>
          </a:bodyPr>
          <a:lstStyle/>
          <a:p>
            <a:r>
              <a:rPr lang="es-ES" dirty="0" smtClean="0">
                <a:sym typeface="Wingdings" panose="05000000000000000000" pitchFamily="2" charset="2"/>
              </a:rPr>
              <a:t>Python es un lenguaje orientado a objetos. En realidad todo en Python es un objeto.</a:t>
            </a:r>
          </a:p>
          <a:p>
            <a:endParaRPr lang="es-ES" sz="1600" dirty="0" smtClean="0">
              <a:sym typeface="Wingdings" panose="05000000000000000000" pitchFamily="2" charset="2"/>
            </a:endParaRPr>
          </a:p>
          <a:p>
            <a:pPr marL="285750" indent="-285750">
              <a:buFont typeface="Wingdings" panose="05000000000000000000" pitchFamily="2" charset="2"/>
              <a:buChar char="à"/>
            </a:pPr>
            <a:r>
              <a:rPr lang="es-ES" sz="1600" dirty="0" smtClean="0">
                <a:solidFill>
                  <a:srgbClr val="FF0000"/>
                </a:solidFill>
                <a:sym typeface="Wingdings" panose="05000000000000000000" pitchFamily="2" charset="2"/>
              </a:rPr>
              <a:t>ABRIR script clase.py</a:t>
            </a:r>
          </a:p>
          <a:p>
            <a:pPr marL="285750" indent="-285750">
              <a:buFont typeface="Wingdings" panose="05000000000000000000" pitchFamily="2" charset="2"/>
              <a:buChar char="à"/>
            </a:pPr>
            <a:endParaRPr lang="es-ES" sz="1600" dirty="0">
              <a:sym typeface="Wingdings" panose="05000000000000000000" pitchFamily="2" charset="2"/>
            </a:endParaRPr>
          </a:p>
          <a:p>
            <a:r>
              <a:rPr lang="es-ES" sz="1600" dirty="0" smtClean="0">
                <a:sym typeface="Wingdings" panose="05000000000000000000" pitchFamily="2" charset="2"/>
              </a:rPr>
              <a:t>Se puede heredar propiedades de otras clases. </a:t>
            </a:r>
          </a:p>
          <a:p>
            <a:endParaRPr lang="es-ES" sz="1600" dirty="0">
              <a:sym typeface="Wingdings" panose="05000000000000000000" pitchFamily="2" charset="2"/>
            </a:endParaRPr>
          </a:p>
          <a:p>
            <a:r>
              <a:rPr lang="es-ES" sz="1600" dirty="0" err="1" smtClean="0">
                <a:sym typeface="Wingdings" panose="05000000000000000000" pitchFamily="2" charset="2"/>
              </a:rPr>
              <a:t>class</a:t>
            </a:r>
            <a:r>
              <a:rPr lang="es-ES" sz="1600" dirty="0" smtClean="0">
                <a:sym typeface="Wingdings" panose="05000000000000000000" pitchFamily="2" charset="2"/>
              </a:rPr>
              <a:t> </a:t>
            </a:r>
            <a:r>
              <a:rPr lang="es-ES" sz="1600" dirty="0" err="1" smtClean="0">
                <a:sym typeface="Wingdings" panose="05000000000000000000" pitchFamily="2" charset="2"/>
              </a:rPr>
              <a:t>Mi_clase</a:t>
            </a:r>
            <a:r>
              <a:rPr lang="es-ES" sz="1600" dirty="0" smtClean="0">
                <a:sym typeface="Wingdings" panose="05000000000000000000" pitchFamily="2" charset="2"/>
              </a:rPr>
              <a:t> (clase_origen1, clase_origen2):</a:t>
            </a:r>
          </a:p>
          <a:p>
            <a:endParaRPr lang="es-ES" sz="1600" dirty="0">
              <a:sym typeface="Wingdings" panose="05000000000000000000" pitchFamily="2" charset="2"/>
            </a:endParaRPr>
          </a:p>
          <a:p>
            <a:r>
              <a:rPr lang="es-ES" sz="1600" b="1" dirty="0" err="1" smtClean="0">
                <a:sym typeface="Wingdings" panose="05000000000000000000" pitchFamily="2" charset="2"/>
              </a:rPr>
              <a:t>Docstring</a:t>
            </a:r>
            <a:r>
              <a:rPr lang="es-ES" sz="1600" b="1" dirty="0" smtClean="0">
                <a:sym typeface="Wingdings" panose="05000000000000000000" pitchFamily="2" charset="2"/>
              </a:rPr>
              <a:t>:</a:t>
            </a:r>
            <a:r>
              <a:rPr lang="es-ES" sz="1600" dirty="0" smtClean="0">
                <a:sym typeface="Wingdings" panose="05000000000000000000" pitchFamily="2" charset="2"/>
              </a:rPr>
              <a:t> Sirve para documentar el código</a:t>
            </a:r>
            <a:r>
              <a:rPr lang="es-ES" sz="1600" dirty="0" smtClean="0">
                <a:sym typeface="Wingdings" panose="05000000000000000000" pitchFamily="2" charset="2"/>
              </a:rPr>
              <a:t>.</a:t>
            </a:r>
          </a:p>
          <a:p>
            <a:endParaRPr lang="es-ES" sz="1600" dirty="0">
              <a:sym typeface="Wingdings" panose="05000000000000000000" pitchFamily="2" charset="2"/>
            </a:endParaRPr>
          </a:p>
          <a:p>
            <a:r>
              <a:rPr lang="es-ES" sz="1600" u="sng" dirty="0" smtClean="0">
                <a:solidFill>
                  <a:srgbClr val="FF0000"/>
                </a:solidFill>
                <a:sym typeface="Wingdings" panose="05000000000000000000" pitchFamily="2" charset="2"/>
              </a:rPr>
              <a:t>Ejercicio:</a:t>
            </a:r>
            <a:endParaRPr lang="es-ES" sz="1600" u="sng" dirty="0" smtClean="0">
              <a:solidFill>
                <a:srgbClr val="FF0000"/>
              </a:solidFill>
              <a:sym typeface="Wingdings" panose="05000000000000000000" pitchFamily="2" charset="2"/>
            </a:endParaRPr>
          </a:p>
          <a:p>
            <a:r>
              <a:rPr lang="es-ES" sz="1600" dirty="0" smtClean="0">
                <a:sym typeface="Wingdings" panose="05000000000000000000" pitchFamily="2" charset="2"/>
              </a:rPr>
              <a:t>Crear una clase que represente un alumno. La variables de la clase serán: su edad, una variable que indique si es repetidor, email (cadena), notas (lista de tres componentes, cada una representa la nota de uno de los parciales, suponiendo que hay tres), observaciones). </a:t>
            </a:r>
            <a:endParaRPr lang="es-ES" sz="1600" dirty="0">
              <a:sym typeface="Wingdings" panose="05000000000000000000" pitchFamily="2" charset="2"/>
            </a:endParaRPr>
          </a:p>
          <a:p>
            <a:endParaRPr lang="es-ES" sz="1600" dirty="0">
              <a:sym typeface="Wingdings" panose="05000000000000000000" pitchFamily="2" charset="2"/>
            </a:endParaRP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135917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8" name="CuadroTexto 7"/>
          <p:cNvSpPr txBox="1"/>
          <p:nvPr/>
        </p:nvSpPr>
        <p:spPr>
          <a:xfrm>
            <a:off x="642061" y="1541313"/>
            <a:ext cx="9316671" cy="4832092"/>
          </a:xfrm>
          <a:prstGeom prst="rect">
            <a:avLst/>
          </a:prstGeom>
          <a:noFill/>
        </p:spPr>
        <p:txBody>
          <a:bodyPr wrap="square" rtlCol="0">
            <a:spAutoFit/>
          </a:bodyPr>
          <a:lstStyle/>
          <a:p>
            <a:r>
              <a:rPr lang="es-ES" u="sng" dirty="0" smtClean="0">
                <a:solidFill>
                  <a:srgbClr val="FF0000"/>
                </a:solidFill>
                <a:sym typeface="Wingdings" panose="05000000000000000000" pitchFamily="2" charset="2"/>
              </a:rPr>
              <a:t>Ejercicio:</a:t>
            </a:r>
            <a:endParaRPr lang="es-ES" u="sng" dirty="0" smtClean="0">
              <a:solidFill>
                <a:srgbClr val="FF0000"/>
              </a:solidFill>
              <a:sym typeface="Wingdings" panose="05000000000000000000" pitchFamily="2" charset="2"/>
            </a:endParaRPr>
          </a:p>
          <a:p>
            <a:r>
              <a:rPr lang="es-ES" sz="1600" dirty="0" smtClean="0">
                <a:sym typeface="Wingdings" panose="05000000000000000000" pitchFamily="2" charset="2"/>
              </a:rPr>
              <a:t>Crear una clase que represente un alumno. La variables de la clase serán: </a:t>
            </a:r>
          </a:p>
          <a:p>
            <a:r>
              <a:rPr lang="es-ES" sz="1600" dirty="0" smtClean="0">
                <a:sym typeface="Wingdings" panose="05000000000000000000" pitchFamily="2" charset="2"/>
              </a:rPr>
              <a:t>Edad (entero)</a:t>
            </a:r>
          </a:p>
          <a:p>
            <a:r>
              <a:rPr lang="es-ES" sz="1600" dirty="0" smtClean="0">
                <a:sym typeface="Wingdings" panose="05000000000000000000" pitchFamily="2" charset="2"/>
              </a:rPr>
              <a:t>Repetidor (</a:t>
            </a:r>
            <a:r>
              <a:rPr lang="es-ES" sz="1600" dirty="0" err="1" smtClean="0">
                <a:sym typeface="Wingdings" panose="05000000000000000000" pitchFamily="2" charset="2"/>
              </a:rPr>
              <a:t>boolean</a:t>
            </a:r>
            <a:r>
              <a:rPr lang="es-ES" sz="1600" dirty="0" smtClean="0">
                <a:sym typeface="Wingdings" panose="05000000000000000000" pitchFamily="2" charset="2"/>
              </a:rPr>
              <a:t>)</a:t>
            </a:r>
          </a:p>
          <a:p>
            <a:r>
              <a:rPr lang="es-ES" sz="1600" dirty="0">
                <a:sym typeface="Wingdings" panose="05000000000000000000" pitchFamily="2" charset="2"/>
              </a:rPr>
              <a:t>E</a:t>
            </a:r>
            <a:r>
              <a:rPr lang="es-ES" sz="1600" dirty="0" smtClean="0">
                <a:sym typeface="Wingdings" panose="05000000000000000000" pitchFamily="2" charset="2"/>
              </a:rPr>
              <a:t>mail (cadena) </a:t>
            </a:r>
          </a:p>
          <a:p>
            <a:r>
              <a:rPr lang="es-ES" sz="1600" dirty="0">
                <a:sym typeface="Wingdings" panose="05000000000000000000" pitchFamily="2" charset="2"/>
              </a:rPr>
              <a:t>N</a:t>
            </a:r>
            <a:r>
              <a:rPr lang="es-ES" sz="1600" dirty="0" smtClean="0">
                <a:sym typeface="Wingdings" panose="05000000000000000000" pitchFamily="2" charset="2"/>
              </a:rPr>
              <a:t>otas (lista de tres componentes, cada una representa la nota de uno de los parciales, suponiendo que hay tres)</a:t>
            </a:r>
          </a:p>
          <a:p>
            <a:r>
              <a:rPr lang="es-ES" sz="1600" dirty="0" smtClean="0">
                <a:sym typeface="Wingdings" panose="05000000000000000000" pitchFamily="2" charset="2"/>
              </a:rPr>
              <a:t>Faltas (entero, mide el número de veces que un alumno ha faltado a clase)</a:t>
            </a:r>
          </a:p>
          <a:p>
            <a:endParaRPr lang="es-ES" sz="1600" dirty="0" smtClean="0">
              <a:sym typeface="Wingdings" panose="05000000000000000000" pitchFamily="2" charset="2"/>
            </a:endParaRPr>
          </a:p>
          <a:p>
            <a:endParaRPr lang="es-ES" sz="1600" dirty="0">
              <a:sym typeface="Wingdings" panose="05000000000000000000" pitchFamily="2" charset="2"/>
            </a:endParaRPr>
          </a:p>
          <a:p>
            <a:r>
              <a:rPr lang="es-ES" sz="1600" dirty="0" smtClean="0">
                <a:sym typeface="Wingdings" panose="05000000000000000000" pitchFamily="2" charset="2"/>
              </a:rPr>
              <a:t>Codificar los siguientes métodos:</a:t>
            </a:r>
          </a:p>
          <a:p>
            <a:pPr marL="342900" indent="-342900">
              <a:buAutoNum type="arabicParenR"/>
            </a:pPr>
            <a:r>
              <a:rPr lang="es-ES" sz="1600" dirty="0" smtClean="0">
                <a:sym typeface="Wingdings" panose="05000000000000000000" pitchFamily="2" charset="2"/>
              </a:rPr>
              <a:t>Método que nos devuelva la nota media del alumno.</a:t>
            </a:r>
          </a:p>
          <a:p>
            <a:pPr marL="342900" indent="-342900">
              <a:buAutoNum type="arabicParenR"/>
            </a:pPr>
            <a:r>
              <a:rPr lang="es-ES" sz="1600" dirty="0" smtClean="0">
                <a:sym typeface="Wingdings" panose="05000000000000000000" pitchFamily="2" charset="2"/>
              </a:rPr>
              <a:t>Método que nos indique si el alumno ha faltado más de 5 veces a clases. </a:t>
            </a:r>
            <a:endParaRPr lang="es-ES" sz="1600" dirty="0">
              <a:sym typeface="Wingdings" panose="05000000000000000000" pitchFamily="2" charset="2"/>
            </a:endParaRPr>
          </a:p>
          <a:p>
            <a:endParaRPr lang="es-ES" sz="1600" dirty="0" smtClean="0">
              <a:sym typeface="Wingdings" panose="05000000000000000000" pitchFamily="2" charset="2"/>
            </a:endParaRPr>
          </a:p>
          <a:p>
            <a:r>
              <a:rPr lang="es-ES" sz="1600" dirty="0" smtClean="0">
                <a:sym typeface="Wingdings" panose="05000000000000000000" pitchFamily="2" charset="2"/>
              </a:rPr>
              <a:t>Una vez creada la clase, definir una lista de alumnos (3 alumnos es suficiente). Modificar los elementos de la lista para que haya un suspenso. </a:t>
            </a:r>
            <a:r>
              <a:rPr lang="es-ES" sz="1600" dirty="0" smtClean="0">
                <a:sym typeface="Wingdings" panose="05000000000000000000" pitchFamily="2" charset="2"/>
              </a:rPr>
              <a:t>Mediante un bucle recorrer la lista de alumnos e imprimir en un archivo de texto los datos del alumno suspenso separados por comas. </a:t>
            </a:r>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751021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1317990" cy="369332"/>
          </a:xfrm>
          <a:prstGeom prst="rect">
            <a:avLst/>
          </a:prstGeom>
        </p:spPr>
        <p:txBody>
          <a:bodyPr wrap="none">
            <a:spAutoFit/>
          </a:bodyPr>
          <a:lstStyle/>
          <a:p>
            <a:r>
              <a:rPr lang="es-ES" b="1" u="sng" dirty="0" smtClean="0"/>
              <a:t>MÓDULOS:</a:t>
            </a:r>
            <a:endParaRPr lang="es-ES" b="1" u="sng" dirty="0"/>
          </a:p>
        </p:txBody>
      </p:sp>
      <p:sp>
        <p:nvSpPr>
          <p:cNvPr id="8" name="CuadroTexto 7"/>
          <p:cNvSpPr txBox="1"/>
          <p:nvPr/>
        </p:nvSpPr>
        <p:spPr>
          <a:xfrm>
            <a:off x="561423" y="1876163"/>
            <a:ext cx="9316671" cy="3077766"/>
          </a:xfrm>
          <a:prstGeom prst="rect">
            <a:avLst/>
          </a:prstGeom>
          <a:noFill/>
        </p:spPr>
        <p:txBody>
          <a:bodyPr wrap="square" rtlCol="0">
            <a:spAutoFit/>
          </a:bodyPr>
          <a:lstStyle/>
          <a:p>
            <a:r>
              <a:rPr lang="es-ES" sz="1600" dirty="0" smtClean="0">
                <a:sym typeface="Wingdings" panose="05000000000000000000" pitchFamily="2" charset="2"/>
              </a:rPr>
              <a:t>Conjunto de funciones y variables que han sido definidos en un script y que pueden ser usadas</a:t>
            </a:r>
          </a:p>
          <a:p>
            <a:r>
              <a:rPr lang="es-ES" sz="1600" dirty="0" smtClean="0">
                <a:sym typeface="Wingdings" panose="05000000000000000000" pitchFamily="2" charset="2"/>
              </a:rPr>
              <a:t>en otros scripts</a:t>
            </a:r>
          </a:p>
          <a:p>
            <a:endParaRPr lang="es-ES" sz="1600" dirty="0">
              <a:sym typeface="Wingdings" panose="05000000000000000000" pitchFamily="2" charset="2"/>
            </a:endParaRPr>
          </a:p>
          <a:p>
            <a:r>
              <a:rPr lang="es-ES" sz="1600" dirty="0" smtClean="0">
                <a:sym typeface="Wingdings" panose="05000000000000000000" pitchFamily="2" charset="2"/>
              </a:rPr>
              <a:t>Información sobre el módulo </a:t>
            </a:r>
            <a:r>
              <a:rPr lang="es-ES" sz="1600" dirty="0" err="1" smtClean="0">
                <a:sym typeface="Wingdings" panose="05000000000000000000" pitchFamily="2" charset="2"/>
              </a:rPr>
              <a:t>random</a:t>
            </a:r>
            <a:r>
              <a:rPr lang="es-ES" sz="1600" dirty="0" smtClean="0">
                <a:sym typeface="Wingdings" panose="05000000000000000000" pitchFamily="2" charset="2"/>
              </a:rPr>
              <a:t>:</a:t>
            </a:r>
          </a:p>
          <a:p>
            <a:endParaRPr lang="es-ES" sz="1600" dirty="0" smtClean="0">
              <a:sym typeface="Wingdings" panose="05000000000000000000" pitchFamily="2" charset="2"/>
            </a:endParaRPr>
          </a:p>
          <a:p>
            <a:r>
              <a:rPr lang="es-ES" sz="1600" dirty="0">
                <a:sym typeface="Wingdings" panose="05000000000000000000" pitchFamily="2" charset="2"/>
                <a:hlinkClick r:id="rId2"/>
              </a:rPr>
              <a:t>https://</a:t>
            </a:r>
            <a:r>
              <a:rPr lang="es-ES" sz="1600" dirty="0" smtClean="0">
                <a:sym typeface="Wingdings" panose="05000000000000000000" pitchFamily="2" charset="2"/>
                <a:hlinkClick r:id="rId2"/>
              </a:rPr>
              <a:t>docs.python.org/2/library/random.html</a:t>
            </a:r>
            <a:endParaRPr lang="es-ES" sz="1600" dirty="0" smtClean="0">
              <a:sym typeface="Wingdings" panose="05000000000000000000" pitchFamily="2" charset="2"/>
            </a:endParaRPr>
          </a:p>
          <a:p>
            <a:endParaRPr lang="es-ES" sz="1600" dirty="0">
              <a:sym typeface="Wingdings" panose="05000000000000000000" pitchFamily="2" charset="2"/>
            </a:endParaRPr>
          </a:p>
          <a:p>
            <a:endParaRPr lang="es-ES" sz="1600" dirty="0" smtClean="0">
              <a:sym typeface="Wingdings" panose="05000000000000000000" pitchFamily="2" charset="2"/>
            </a:endParaRPr>
          </a:p>
          <a:p>
            <a:pPr marL="285750" indent="-285750">
              <a:buFont typeface="Wingdings" panose="05000000000000000000" pitchFamily="2" charset="2"/>
              <a:buChar char="à"/>
            </a:pPr>
            <a:r>
              <a:rPr lang="es-ES" sz="1600" u="sng" dirty="0" smtClean="0">
                <a:solidFill>
                  <a:srgbClr val="FF0000"/>
                </a:solidFill>
                <a:sym typeface="Wingdings" panose="05000000000000000000" pitchFamily="2" charset="2"/>
              </a:rPr>
              <a:t>Ejercicio:</a:t>
            </a:r>
          </a:p>
          <a:p>
            <a:r>
              <a:rPr lang="es-ES" sz="1600" dirty="0" smtClean="0">
                <a:sym typeface="Wingdings" panose="05000000000000000000" pitchFamily="2" charset="2"/>
              </a:rPr>
              <a:t>Crear un modulo de funciones matemáticas </a:t>
            </a:r>
          </a:p>
          <a:p>
            <a:r>
              <a:rPr lang="es-ES" sz="1600" dirty="0" smtClean="0">
                <a:sym typeface="Wingdings" panose="05000000000000000000" pitchFamily="2" charset="2"/>
              </a:rPr>
              <a:t>y llamarla desde otro script.</a:t>
            </a:r>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8426" y="2358565"/>
            <a:ext cx="5256774" cy="4321520"/>
          </a:xfrm>
          <a:prstGeom prst="rect">
            <a:avLst/>
          </a:prstGeom>
        </p:spPr>
      </p:pic>
    </p:spTree>
    <p:extLst>
      <p:ext uri="{BB962C8B-B14F-4D97-AF65-F5344CB8AC3E}">
        <p14:creationId xmlns:p14="http://schemas.microsoft.com/office/powerpoint/2010/main" val="1088721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1317990" cy="369332"/>
          </a:xfrm>
          <a:prstGeom prst="rect">
            <a:avLst/>
          </a:prstGeom>
        </p:spPr>
        <p:txBody>
          <a:bodyPr wrap="none">
            <a:spAutoFit/>
          </a:bodyPr>
          <a:lstStyle/>
          <a:p>
            <a:r>
              <a:rPr lang="es-ES" b="1" u="sng" dirty="0" smtClean="0"/>
              <a:t>MÓDULOS:</a:t>
            </a:r>
            <a:endParaRPr lang="es-ES" b="1" u="sng" dirty="0"/>
          </a:p>
        </p:txBody>
      </p:sp>
      <p:sp>
        <p:nvSpPr>
          <p:cNvPr id="8" name="CuadroTexto 7"/>
          <p:cNvSpPr txBox="1"/>
          <p:nvPr/>
        </p:nvSpPr>
        <p:spPr>
          <a:xfrm>
            <a:off x="561423" y="1876163"/>
            <a:ext cx="9316671" cy="5539978"/>
          </a:xfrm>
          <a:prstGeom prst="rect">
            <a:avLst/>
          </a:prstGeom>
          <a:noFill/>
        </p:spPr>
        <p:txBody>
          <a:bodyPr wrap="square" rtlCol="0">
            <a:spAutoFit/>
          </a:bodyPr>
          <a:lstStyle/>
          <a:p>
            <a:r>
              <a:rPr lang="es-ES" sz="1600" dirty="0" smtClean="0">
                <a:sym typeface="Wingdings" panose="05000000000000000000" pitchFamily="2" charset="2"/>
              </a:rPr>
              <a:t>Formas de importar un módulo en Python:</a:t>
            </a:r>
          </a:p>
          <a:p>
            <a:endParaRPr lang="es-ES" sz="1600" dirty="0">
              <a:sym typeface="Wingdings" panose="05000000000000000000" pitchFamily="2" charset="2"/>
            </a:endParaRPr>
          </a:p>
          <a:p>
            <a:r>
              <a:rPr lang="es-ES" sz="1600" dirty="0" smtClean="0">
                <a:sym typeface="Wingdings" panose="05000000000000000000" pitchFamily="2" charset="2"/>
              </a:rPr>
              <a:t>1)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 nos importa todas las funciones definidas en </a:t>
            </a:r>
            <a:r>
              <a:rPr lang="es-ES" sz="1600" dirty="0" err="1" smtClean="0">
                <a:sym typeface="Wingdings" panose="05000000000000000000" pitchFamily="2" charset="2"/>
              </a:rPr>
              <a:t>random</a:t>
            </a:r>
            <a:endParaRPr lang="es-ES" sz="1600" dirty="0" smtClean="0">
              <a:sym typeface="Wingdings" panose="05000000000000000000" pitchFamily="2" charset="2"/>
            </a:endParaRPr>
          </a:p>
          <a:p>
            <a:endParaRPr lang="es-ES" sz="1600" dirty="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Para usarlas tenemos que poner </a:t>
            </a:r>
            <a:r>
              <a:rPr lang="es-ES" sz="1600" dirty="0" err="1" smtClean="0">
                <a:sym typeface="Wingdings" panose="05000000000000000000" pitchFamily="2" charset="2"/>
              </a:rPr>
              <a:t>ramdon</a:t>
            </a:r>
            <a:r>
              <a:rPr lang="es-ES" sz="1600" dirty="0" smtClean="0">
                <a:sym typeface="Wingdings" panose="05000000000000000000" pitchFamily="2" charset="2"/>
              </a:rPr>
              <a:t>.&lt;</a:t>
            </a:r>
            <a:r>
              <a:rPr lang="es-ES" sz="1600" dirty="0" err="1" smtClean="0">
                <a:sym typeface="Wingdings" panose="05000000000000000000" pitchFamily="2" charset="2"/>
              </a:rPr>
              <a:t>nombre_función</a:t>
            </a:r>
            <a:r>
              <a:rPr lang="es-ES" sz="1600" dirty="0" smtClean="0">
                <a:sym typeface="Wingdings" panose="05000000000000000000" pitchFamily="2" charset="2"/>
              </a:rPr>
              <a:t>&gt;</a:t>
            </a:r>
          </a:p>
          <a:p>
            <a:pPr marL="285750" indent="-285750">
              <a:buFont typeface="Wingdings" panose="05000000000000000000" pitchFamily="2" charset="2"/>
              <a:buChar char="à"/>
            </a:pPr>
            <a:endParaRPr lang="es-ES" sz="1600" dirty="0">
              <a:sym typeface="Wingdings" panose="05000000000000000000" pitchFamily="2" charset="2"/>
            </a:endParaRPr>
          </a:p>
          <a:p>
            <a:r>
              <a:rPr lang="es-ES" sz="1600" dirty="0" smtClean="0">
                <a:sym typeface="Wingdings" panose="05000000000000000000" pitchFamily="2" charset="2"/>
              </a:rPr>
              <a:t>2) </a:t>
            </a:r>
            <a:r>
              <a:rPr lang="es-ES" sz="1600" dirty="0" err="1" smtClean="0">
                <a:sym typeface="Wingdings" panose="05000000000000000000" pitchFamily="2" charset="2"/>
              </a:rPr>
              <a:t>from</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uniform</a:t>
            </a:r>
            <a:r>
              <a:rPr lang="es-ES" sz="1600" dirty="0" smtClean="0">
                <a:sym typeface="Wingdings" panose="05000000000000000000" pitchFamily="2" charset="2"/>
              </a:rPr>
              <a:t> # solo importamos esta función</a:t>
            </a:r>
          </a:p>
          <a:p>
            <a:pPr marL="285750" indent="-285750">
              <a:buFont typeface="Wingdings" panose="05000000000000000000" pitchFamily="2" charset="2"/>
              <a:buChar char="à"/>
            </a:pPr>
            <a:r>
              <a:rPr lang="es-ES" sz="1600" dirty="0" smtClean="0">
                <a:sym typeface="Wingdings" panose="05000000000000000000" pitchFamily="2" charset="2"/>
              </a:rPr>
              <a:t>Abrir </a:t>
            </a:r>
          </a:p>
          <a:p>
            <a:endParaRPr lang="es-ES" sz="1600" dirty="0" smtClean="0">
              <a:sym typeface="Wingdings" panose="05000000000000000000" pitchFamily="2" charset="2"/>
            </a:endParaRPr>
          </a:p>
          <a:p>
            <a:r>
              <a:rPr lang="es-ES" sz="1600" dirty="0" smtClean="0">
                <a:sym typeface="Wingdings" panose="05000000000000000000" pitchFamily="2" charset="2"/>
              </a:rPr>
              <a:t>3) </a:t>
            </a:r>
            <a:r>
              <a:rPr lang="es-ES" sz="1600" dirty="0" err="1" smtClean="0">
                <a:sym typeface="Wingdings" panose="05000000000000000000" pitchFamily="2" charset="2"/>
              </a:rPr>
              <a:t>from</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a:t>
            </a:r>
            <a:r>
              <a:rPr lang="es-ES" sz="1600" dirty="0" err="1" smtClean="0">
                <a:sym typeface="Wingdings" panose="05000000000000000000" pitchFamily="2" charset="2"/>
              </a:rPr>
              <a:t>import</a:t>
            </a:r>
            <a:r>
              <a:rPr lang="es-ES" sz="1600" dirty="0" smtClean="0">
                <a:sym typeface="Wingdings" panose="05000000000000000000" pitchFamily="2" charset="2"/>
              </a:rPr>
              <a:t> * # importamos todas las funciones</a:t>
            </a:r>
          </a:p>
          <a:p>
            <a:endParaRPr lang="es-ES" sz="1600" dirty="0">
              <a:sym typeface="Wingdings" panose="05000000000000000000" pitchFamily="2" charset="2"/>
            </a:endParaRPr>
          </a:p>
          <a:p>
            <a:r>
              <a:rPr lang="es-ES" sz="1600" dirty="0" smtClean="0">
                <a:sym typeface="Wingdings" panose="05000000000000000000" pitchFamily="2" charset="2"/>
              </a:rPr>
              <a:t>4)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as </a:t>
            </a:r>
            <a:r>
              <a:rPr lang="es-ES" sz="1600" dirty="0" err="1" smtClean="0">
                <a:sym typeface="Wingdings" panose="05000000000000000000" pitchFamily="2" charset="2"/>
              </a:rPr>
              <a:t>ran</a:t>
            </a:r>
            <a:r>
              <a:rPr lang="es-ES" sz="1600" dirty="0" smtClean="0">
                <a:sym typeface="Wingdings" panose="05000000000000000000" pitchFamily="2" charset="2"/>
              </a:rPr>
              <a:t> # podemos cambiar el nombre </a:t>
            </a:r>
          </a:p>
          <a:p>
            <a:endParaRPr lang="es-ES" sz="1600" dirty="0" smtClean="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ahora tendríamos que utilizas las funciones como </a:t>
            </a:r>
            <a:r>
              <a:rPr lang="es-ES" sz="1600" dirty="0" err="1" smtClean="0">
                <a:sym typeface="Wingdings" panose="05000000000000000000" pitchFamily="2" charset="2"/>
              </a:rPr>
              <a:t>ran</a:t>
            </a:r>
            <a:r>
              <a:rPr lang="es-ES" sz="1600" dirty="0" smtClean="0">
                <a:sym typeface="Wingdings" panose="05000000000000000000" pitchFamily="2" charset="2"/>
              </a:rPr>
              <a:t>.&lt;</a:t>
            </a:r>
            <a:r>
              <a:rPr lang="es-ES" sz="1600" dirty="0" err="1" smtClean="0">
                <a:sym typeface="Wingdings" panose="05000000000000000000" pitchFamily="2" charset="2"/>
              </a:rPr>
              <a:t>nombre_función</a:t>
            </a:r>
            <a:r>
              <a:rPr lang="es-ES" sz="1600" dirty="0" smtClean="0">
                <a:sym typeface="Wingdings" panose="05000000000000000000" pitchFamily="2" charset="2"/>
              </a:rPr>
              <a:t>&gt; </a:t>
            </a:r>
          </a:p>
          <a:p>
            <a:endParaRPr lang="es-ES" sz="1600" dirty="0" smtClean="0">
              <a:sym typeface="Wingdings" panose="05000000000000000000" pitchFamily="2" charset="2"/>
            </a:endParaRPr>
          </a:p>
          <a:p>
            <a:r>
              <a:rPr lang="es-ES" sz="1600" dirty="0" smtClean="0">
                <a:sym typeface="Wingdings" panose="05000000000000000000" pitchFamily="2" charset="2"/>
              </a:rPr>
              <a:t>EL OBJETIVO DE TODO ESTO ES NO LIARSE CON LOS NOMBRES Y PODER REUTILIZAR LOS NOMBRES</a:t>
            </a:r>
          </a:p>
          <a:p>
            <a:endParaRPr lang="es-ES" sz="1600" dirty="0">
              <a:sym typeface="Wingdings" panose="05000000000000000000" pitchFamily="2" charset="2"/>
            </a:endParaRPr>
          </a:p>
          <a:p>
            <a:r>
              <a:rPr lang="es-ES" sz="1600" dirty="0" smtClean="0">
                <a:sym typeface="Wingdings" panose="05000000000000000000" pitchFamily="2" charset="2"/>
              </a:rPr>
              <a:t>Lista de módulos útiles</a:t>
            </a:r>
          </a:p>
          <a:p>
            <a:r>
              <a:rPr lang="es-ES" sz="1600" dirty="0">
                <a:sym typeface="Wingdings" panose="05000000000000000000" pitchFamily="2" charset="2"/>
                <a:hlinkClick r:id="rId2"/>
              </a:rPr>
              <a:t>https://</a:t>
            </a:r>
            <a:r>
              <a:rPr lang="es-ES" sz="1600" dirty="0" smtClean="0">
                <a:sym typeface="Wingdings" panose="05000000000000000000" pitchFamily="2" charset="2"/>
                <a:hlinkClick r:id="rId2"/>
              </a:rPr>
              <a:t>wiki.python.org/moin/UsefulModules</a:t>
            </a:r>
            <a:endParaRPr lang="es-ES" sz="1600" dirty="0" smtClean="0">
              <a:sym typeface="Wingdings" panose="05000000000000000000" pitchFamily="2" charset="2"/>
            </a:endParaRPr>
          </a:p>
          <a:p>
            <a:r>
              <a:rPr lang="es-ES" sz="1600" dirty="0" smtClean="0">
                <a:sym typeface="Wingdings" panose="05000000000000000000" pitchFamily="2" charset="2"/>
              </a:rPr>
              <a:t> </a:t>
            </a:r>
          </a:p>
          <a:p>
            <a:endParaRPr lang="es-ES" sz="1600"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55477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1377813" cy="369332"/>
          </a:xfrm>
          <a:prstGeom prst="rect">
            <a:avLst/>
          </a:prstGeom>
        </p:spPr>
        <p:txBody>
          <a:bodyPr wrap="none">
            <a:spAutoFit/>
          </a:bodyPr>
          <a:lstStyle/>
          <a:p>
            <a:r>
              <a:rPr lang="es-ES" b="1" u="sng" dirty="0" smtClean="0"/>
              <a:t>PAQUETES:</a:t>
            </a:r>
            <a:endParaRPr lang="es-ES" b="1" u="sng" dirty="0"/>
          </a:p>
        </p:txBody>
      </p:sp>
      <p:sp>
        <p:nvSpPr>
          <p:cNvPr id="8" name="CuadroTexto 7"/>
          <p:cNvSpPr txBox="1"/>
          <p:nvPr/>
        </p:nvSpPr>
        <p:spPr>
          <a:xfrm>
            <a:off x="561423" y="1876163"/>
            <a:ext cx="9316671" cy="2831544"/>
          </a:xfrm>
          <a:prstGeom prst="rect">
            <a:avLst/>
          </a:prstGeom>
          <a:noFill/>
        </p:spPr>
        <p:txBody>
          <a:bodyPr wrap="square" rtlCol="0">
            <a:spAutoFit/>
          </a:bodyPr>
          <a:lstStyle/>
          <a:p>
            <a:r>
              <a:rPr lang="es-ES" sz="1600" dirty="0" smtClean="0">
                <a:sym typeface="Wingdings" panose="05000000000000000000" pitchFamily="2" charset="2"/>
              </a:rPr>
              <a:t>Conjunto de módulos</a:t>
            </a:r>
          </a:p>
          <a:p>
            <a:endParaRPr lang="es-ES" sz="1600" dirty="0">
              <a:sym typeface="Wingdings" panose="05000000000000000000" pitchFamily="2" charset="2"/>
            </a:endParaRPr>
          </a:p>
          <a:p>
            <a:r>
              <a:rPr lang="es-ES" sz="1600" dirty="0" smtClean="0">
                <a:sym typeface="Wingdings" panose="05000000000000000000" pitchFamily="2" charset="2"/>
              </a:rPr>
              <a:t>1)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sound.effects.echo</a:t>
            </a:r>
            <a:endParaRPr lang="es-ES" sz="1600" dirty="0" smtClean="0">
              <a:sym typeface="Wingdings" panose="05000000000000000000" pitchFamily="2" charset="2"/>
            </a:endParaRPr>
          </a:p>
          <a:p>
            <a:endParaRPr lang="es-ES" sz="1600" dirty="0">
              <a:sym typeface="Wingdings" panose="05000000000000000000" pitchFamily="2" charset="2"/>
            </a:endParaRPr>
          </a:p>
          <a:p>
            <a:r>
              <a:rPr lang="es-ES" sz="1600" dirty="0">
                <a:sym typeface="Wingdings" panose="05000000000000000000" pitchFamily="2" charset="2"/>
              </a:rPr>
              <a:t>2) </a:t>
            </a:r>
            <a:r>
              <a:rPr lang="es-ES" sz="1600" dirty="0" err="1">
                <a:sym typeface="Wingdings" panose="05000000000000000000" pitchFamily="2" charset="2"/>
              </a:rPr>
              <a:t>from</a:t>
            </a:r>
            <a:r>
              <a:rPr lang="es-ES" sz="1600" dirty="0">
                <a:sym typeface="Wingdings" panose="05000000000000000000" pitchFamily="2" charset="2"/>
              </a:rPr>
              <a:t> </a:t>
            </a:r>
            <a:r>
              <a:rPr lang="es-ES" sz="1600" dirty="0" err="1">
                <a:sym typeface="Wingdings" panose="05000000000000000000" pitchFamily="2" charset="2"/>
              </a:rPr>
              <a:t>sound.effects</a:t>
            </a:r>
            <a:r>
              <a:rPr lang="es-ES" sz="1600" dirty="0">
                <a:sym typeface="Wingdings" panose="05000000000000000000" pitchFamily="2" charset="2"/>
              </a:rPr>
              <a:t> </a:t>
            </a:r>
            <a:r>
              <a:rPr lang="es-ES" sz="1600" dirty="0" err="1">
                <a:sym typeface="Wingdings" panose="05000000000000000000" pitchFamily="2" charset="2"/>
              </a:rPr>
              <a:t>import</a:t>
            </a:r>
            <a:r>
              <a:rPr lang="es-ES" sz="1600" dirty="0">
                <a:sym typeface="Wingdings" panose="05000000000000000000" pitchFamily="2" charset="2"/>
              </a:rPr>
              <a:t> </a:t>
            </a:r>
            <a:r>
              <a:rPr lang="es-ES" sz="1600" dirty="0" smtClean="0">
                <a:sym typeface="Wingdings" panose="05000000000000000000" pitchFamily="2" charset="2"/>
              </a:rPr>
              <a:t>echo</a:t>
            </a:r>
          </a:p>
          <a:p>
            <a:endParaRPr lang="es-ES" sz="1600" dirty="0">
              <a:sym typeface="Wingdings" panose="05000000000000000000" pitchFamily="2" charset="2"/>
            </a:endParaRPr>
          </a:p>
          <a:p>
            <a:r>
              <a:rPr lang="es-ES" sz="1600" dirty="0" smtClean="0">
                <a:sym typeface="Wingdings" panose="05000000000000000000" pitchFamily="2" charset="2"/>
              </a:rPr>
              <a:t>3) </a:t>
            </a:r>
            <a:r>
              <a:rPr lang="es-ES" sz="1600" dirty="0" err="1">
                <a:sym typeface="Wingdings" panose="05000000000000000000" pitchFamily="2" charset="2"/>
              </a:rPr>
              <a:t>from</a:t>
            </a:r>
            <a:r>
              <a:rPr lang="es-ES" sz="1600" dirty="0">
                <a:sym typeface="Wingdings" panose="05000000000000000000" pitchFamily="2" charset="2"/>
              </a:rPr>
              <a:t> </a:t>
            </a:r>
            <a:r>
              <a:rPr lang="es-ES" sz="1600" dirty="0" err="1">
                <a:sym typeface="Wingdings" panose="05000000000000000000" pitchFamily="2" charset="2"/>
              </a:rPr>
              <a:t>sound.effects</a:t>
            </a:r>
            <a:r>
              <a:rPr lang="es-ES" sz="1600" dirty="0">
                <a:sym typeface="Wingdings" panose="05000000000000000000" pitchFamily="2" charset="2"/>
              </a:rPr>
              <a:t> </a:t>
            </a:r>
            <a:r>
              <a:rPr lang="es-ES" sz="1600" dirty="0" err="1">
                <a:sym typeface="Wingdings" panose="05000000000000000000" pitchFamily="2" charset="2"/>
              </a:rPr>
              <a:t>import</a:t>
            </a:r>
            <a:r>
              <a:rPr lang="es-ES" sz="1600" dirty="0">
                <a:sym typeface="Wingdings" panose="05000000000000000000" pitchFamily="2" charset="2"/>
              </a:rPr>
              <a:t> *</a:t>
            </a:r>
          </a:p>
          <a:p>
            <a:endParaRPr lang="es-ES" sz="1600" dirty="0" smtClean="0">
              <a:sym typeface="Wingdings" panose="05000000000000000000" pitchFamily="2" charset="2"/>
            </a:endParaRPr>
          </a:p>
          <a:p>
            <a:endParaRPr lang="es-ES" sz="1600" dirty="0">
              <a:sym typeface="Wingdings" panose="05000000000000000000" pitchFamily="2" charset="2"/>
            </a:endParaRPr>
          </a:p>
          <a:p>
            <a:endParaRPr lang="es-ES" sz="1600"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4594068" y="2103684"/>
            <a:ext cx="5554484" cy="4232722"/>
          </a:xfrm>
          <a:prstGeom prst="rect">
            <a:avLst/>
          </a:prstGeom>
        </p:spPr>
      </p:pic>
    </p:spTree>
    <p:extLst>
      <p:ext uri="{BB962C8B-B14F-4D97-AF65-F5344CB8AC3E}">
        <p14:creationId xmlns:p14="http://schemas.microsoft.com/office/powerpoint/2010/main" val="1017013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6418925" cy="7017306"/>
          </a:xfrm>
          <a:prstGeom prst="rect">
            <a:avLst/>
          </a:prstGeom>
        </p:spPr>
        <p:txBody>
          <a:bodyPr wrap="square">
            <a:spAutoFit/>
          </a:bodyPr>
          <a:lstStyle/>
          <a:p>
            <a:r>
              <a:rPr lang="es-ES" b="1" u="sng" dirty="0" smtClean="0"/>
              <a:t>PAQUETES MUY ÚTILES (muy populares):</a:t>
            </a:r>
          </a:p>
          <a:p>
            <a:endParaRPr lang="es-ES" sz="1200" b="1" u="sng" dirty="0"/>
          </a:p>
          <a:p>
            <a:pPr marL="285750" indent="-285750">
              <a:buFont typeface="Wingdings" panose="05000000000000000000" pitchFamily="2" charset="2"/>
              <a:buChar char="v"/>
            </a:pPr>
            <a:r>
              <a:rPr lang="es-ES" b="1" dirty="0" err="1" smtClean="0"/>
              <a:t>Numpy</a:t>
            </a:r>
            <a:r>
              <a:rPr lang="es-ES" b="1" dirty="0" smtClean="0"/>
              <a:t>: </a:t>
            </a:r>
            <a:r>
              <a:rPr lang="es-ES" dirty="0" smtClean="0"/>
              <a:t>Paquete para computación científica</a:t>
            </a:r>
          </a:p>
          <a:p>
            <a:r>
              <a:rPr lang="es-ES" dirty="0" smtClean="0">
                <a:hlinkClick r:id="rId2"/>
              </a:rPr>
              <a:t>http</a:t>
            </a:r>
            <a:r>
              <a:rPr lang="es-ES" dirty="0">
                <a:hlinkClick r:id="rId2"/>
              </a:rPr>
              <a:t>://www.numpy.org</a:t>
            </a:r>
            <a:r>
              <a:rPr lang="es-ES" dirty="0" smtClean="0">
                <a:hlinkClick r:id="rId2"/>
              </a:rPr>
              <a:t>/</a:t>
            </a:r>
            <a:endParaRPr lang="es-ES" dirty="0" smtClean="0"/>
          </a:p>
          <a:p>
            <a:endParaRPr lang="es-ES" sz="1200" dirty="0"/>
          </a:p>
          <a:p>
            <a:pPr marL="285750" indent="-285750">
              <a:buFont typeface="Wingdings" panose="05000000000000000000" pitchFamily="2" charset="2"/>
              <a:buChar char="v"/>
            </a:pPr>
            <a:r>
              <a:rPr lang="es-ES" b="1" dirty="0" smtClean="0"/>
              <a:t>Pandas: </a:t>
            </a:r>
            <a:r>
              <a:rPr lang="es-ES" dirty="0" smtClean="0"/>
              <a:t>Estructura y análisis de datos (lenguaje R)</a:t>
            </a:r>
          </a:p>
          <a:p>
            <a:r>
              <a:rPr lang="es-ES" dirty="0" smtClean="0">
                <a:hlinkClick r:id="rId3"/>
              </a:rPr>
              <a:t>http</a:t>
            </a:r>
            <a:r>
              <a:rPr lang="es-ES" dirty="0">
                <a:hlinkClick r:id="rId3"/>
              </a:rPr>
              <a:t>://pandas.pydata.org</a:t>
            </a:r>
            <a:r>
              <a:rPr lang="es-ES" dirty="0" smtClean="0">
                <a:hlinkClick r:id="rId3"/>
              </a:rPr>
              <a:t>/</a:t>
            </a:r>
            <a:endParaRPr lang="es-ES" dirty="0" smtClean="0"/>
          </a:p>
          <a:p>
            <a:endParaRPr lang="es-ES" sz="1200" dirty="0"/>
          </a:p>
          <a:p>
            <a:pPr marL="285750" indent="-285750">
              <a:buFont typeface="Wingdings" panose="05000000000000000000" pitchFamily="2" charset="2"/>
              <a:buChar char="v"/>
            </a:pPr>
            <a:r>
              <a:rPr lang="es-ES" b="1" dirty="0" err="1" smtClean="0"/>
              <a:t>Matplotlib</a:t>
            </a:r>
            <a:r>
              <a:rPr lang="es-ES" b="1" dirty="0" smtClean="0"/>
              <a:t>: </a:t>
            </a:r>
            <a:r>
              <a:rPr lang="es-ES" dirty="0" smtClean="0"/>
              <a:t>Generación de gráficas</a:t>
            </a:r>
          </a:p>
          <a:p>
            <a:r>
              <a:rPr lang="es-ES" dirty="0">
                <a:hlinkClick r:id="rId4"/>
              </a:rPr>
              <a:t>http://matplotlib.org</a:t>
            </a:r>
            <a:r>
              <a:rPr lang="es-ES" dirty="0" smtClean="0">
                <a:hlinkClick r:id="rId4"/>
              </a:rPr>
              <a:t>/</a:t>
            </a:r>
            <a:endParaRPr lang="es-ES" dirty="0" smtClean="0"/>
          </a:p>
          <a:p>
            <a:endParaRPr lang="es-ES" sz="1200" dirty="0"/>
          </a:p>
          <a:p>
            <a:r>
              <a:rPr lang="es-ES" b="1" u="sng" dirty="0" smtClean="0"/>
              <a:t>OTROS PAQUETES:</a:t>
            </a:r>
          </a:p>
          <a:p>
            <a:endParaRPr lang="es-ES" sz="1200" dirty="0" smtClean="0"/>
          </a:p>
          <a:p>
            <a:pPr marL="285750" indent="-285750">
              <a:buFont typeface="Wingdings" panose="05000000000000000000" pitchFamily="2" charset="2"/>
              <a:buChar char="v"/>
            </a:pPr>
            <a:r>
              <a:rPr lang="es-ES" b="1" dirty="0" smtClean="0"/>
              <a:t>DEAP:</a:t>
            </a:r>
            <a:r>
              <a:rPr lang="es-ES" dirty="0" smtClean="0"/>
              <a:t> Algoritmos evolutivos</a:t>
            </a:r>
          </a:p>
          <a:p>
            <a:r>
              <a:rPr lang="es-ES" dirty="0">
                <a:hlinkClick r:id="rId5"/>
              </a:rPr>
              <a:t>http://</a:t>
            </a:r>
            <a:r>
              <a:rPr lang="es-ES" dirty="0" smtClean="0">
                <a:hlinkClick r:id="rId5"/>
              </a:rPr>
              <a:t>deap.gel.ulaval.ca/doc/default/index.html</a:t>
            </a:r>
            <a:endParaRPr lang="es-ES" dirty="0" smtClean="0"/>
          </a:p>
          <a:p>
            <a:endParaRPr lang="es-ES" sz="1200" dirty="0"/>
          </a:p>
          <a:p>
            <a:pPr marL="285750" indent="-285750">
              <a:buFont typeface="Wingdings" panose="05000000000000000000" pitchFamily="2" charset="2"/>
              <a:buChar char="v"/>
            </a:pPr>
            <a:r>
              <a:rPr lang="es-ES" b="1" dirty="0" err="1" smtClean="0"/>
              <a:t>Networkx</a:t>
            </a:r>
            <a:r>
              <a:rPr lang="es-ES" b="1" dirty="0" smtClean="0"/>
              <a:t>:</a:t>
            </a:r>
            <a:r>
              <a:rPr lang="es-ES" dirty="0" smtClean="0"/>
              <a:t> Análisis de redes complejas</a:t>
            </a:r>
          </a:p>
          <a:p>
            <a:r>
              <a:rPr lang="es-ES" dirty="0">
                <a:hlinkClick r:id="rId6"/>
              </a:rPr>
              <a:t>https://networkx.github.io</a:t>
            </a:r>
            <a:r>
              <a:rPr lang="es-ES" dirty="0" smtClean="0">
                <a:hlinkClick r:id="rId6"/>
              </a:rPr>
              <a:t>/</a:t>
            </a:r>
            <a:endParaRPr lang="es-ES" dirty="0" smtClean="0"/>
          </a:p>
          <a:p>
            <a:endParaRPr lang="es-ES" sz="1200" dirty="0"/>
          </a:p>
          <a:p>
            <a:pPr marL="285750" indent="-285750">
              <a:buFont typeface="Wingdings" panose="05000000000000000000" pitchFamily="2" charset="2"/>
              <a:buChar char="v"/>
            </a:pPr>
            <a:r>
              <a:rPr lang="es-ES" b="1" dirty="0" err="1" smtClean="0"/>
              <a:t>Pygame</a:t>
            </a:r>
            <a:r>
              <a:rPr lang="es-ES" b="1" dirty="0" smtClean="0"/>
              <a:t>: </a:t>
            </a:r>
            <a:r>
              <a:rPr lang="es-ES" dirty="0" smtClean="0"/>
              <a:t>video juegos</a:t>
            </a:r>
          </a:p>
          <a:p>
            <a:r>
              <a:rPr lang="es-ES" dirty="0">
                <a:hlinkClick r:id="rId7"/>
              </a:rPr>
              <a:t>http://</a:t>
            </a:r>
            <a:r>
              <a:rPr lang="es-ES" dirty="0" smtClean="0">
                <a:hlinkClick r:id="rId7"/>
              </a:rPr>
              <a:t>www.pygame.org/hifi.html</a:t>
            </a:r>
            <a:endParaRPr lang="es-ES" dirty="0" smtClean="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8"/>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595014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6418925" cy="3046988"/>
          </a:xfrm>
          <a:prstGeom prst="rect">
            <a:avLst/>
          </a:prstGeom>
        </p:spPr>
        <p:txBody>
          <a:bodyPr wrap="square">
            <a:spAutoFit/>
          </a:bodyPr>
          <a:lstStyle/>
          <a:p>
            <a:r>
              <a:rPr lang="es-ES" b="1" u="sng" dirty="0" smtClean="0"/>
              <a:t>OTROS PAQUETES (continuación):</a:t>
            </a:r>
            <a:endParaRPr lang="es-ES" b="1" u="sng" dirty="0" smtClean="0"/>
          </a:p>
          <a:p>
            <a:endParaRPr lang="es-ES" sz="1200" dirty="0" smtClean="0"/>
          </a:p>
          <a:p>
            <a:pPr marL="285750" indent="-285750">
              <a:buFont typeface="Wingdings" panose="05000000000000000000" pitchFamily="2" charset="2"/>
              <a:buChar char="v"/>
            </a:pPr>
            <a:r>
              <a:rPr lang="es-ES" b="1" dirty="0" smtClean="0"/>
              <a:t>Python y Matlab</a:t>
            </a:r>
            <a:endParaRPr lang="es-ES" dirty="0" smtClean="0"/>
          </a:p>
          <a:p>
            <a:r>
              <a:rPr lang="es-ES" dirty="0">
                <a:hlinkClick r:id="rId2"/>
              </a:rPr>
              <a:t>https://</a:t>
            </a:r>
            <a:r>
              <a:rPr lang="es-ES" dirty="0" smtClean="0">
                <a:hlinkClick r:id="rId2"/>
              </a:rPr>
              <a:t>pypi.python.org/pypi/pymatlab</a:t>
            </a:r>
            <a:endParaRPr lang="es-ES" dirty="0" smtClean="0"/>
          </a:p>
          <a:p>
            <a:endParaRPr lang="es-ES" dirty="0" smtClean="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528812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865911" cy="3046988"/>
          </a:xfrm>
          <a:prstGeom prst="rect">
            <a:avLst/>
          </a:prstGeom>
        </p:spPr>
        <p:txBody>
          <a:bodyPr wrap="square">
            <a:spAutoFit/>
          </a:bodyPr>
          <a:lstStyle/>
          <a:p>
            <a:r>
              <a:rPr lang="es-ES" b="1" u="sng" dirty="0" smtClean="0"/>
              <a:t>COMBINACIÓN DE PAQUETES “PERFECTA” PARA INVESTIGACIÓN:</a:t>
            </a:r>
          </a:p>
          <a:p>
            <a:endParaRPr lang="es-ES" b="1" u="sng" dirty="0" smtClean="0"/>
          </a:p>
          <a:p>
            <a:r>
              <a:rPr lang="es-ES" dirty="0" smtClean="0">
                <a:sym typeface="Wingdings" panose="05000000000000000000" pitchFamily="2" charset="2"/>
              </a:rPr>
              <a:t> Más otros paquetes más específicos de nuestro tema de investigación (nos puede ayudar a modelar el problema)</a:t>
            </a:r>
            <a:endParaRPr lang="es-ES" dirty="0" smtClean="0"/>
          </a:p>
          <a:p>
            <a:endParaRPr lang="es-ES" sz="1200" b="1" u="sng" dirty="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1028" name="Picture 4" descr="Relationship between Numpy, Scipy, Matplotlib und Matl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034" y="2988312"/>
            <a:ext cx="9534525"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141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402272" cy="6093976"/>
          </a:xfrm>
          <a:prstGeom prst="rect">
            <a:avLst/>
          </a:prstGeom>
        </p:spPr>
        <p:txBody>
          <a:bodyPr wrap="square">
            <a:spAutoFit/>
          </a:bodyPr>
          <a:lstStyle/>
          <a:p>
            <a:r>
              <a:rPr lang="es-ES" b="1" u="sng" dirty="0" smtClean="0"/>
              <a:t>INSTALACIÓN DE PAQUETES:</a:t>
            </a:r>
          </a:p>
          <a:p>
            <a:endParaRPr lang="es-ES" sz="1200" b="1" u="sng" dirty="0" smtClean="0"/>
          </a:p>
          <a:p>
            <a:r>
              <a:rPr lang="es-ES" dirty="0" smtClean="0"/>
              <a:t>Si un paquete no lo tenemos instalados no podemos utilizarlo</a:t>
            </a:r>
          </a:p>
          <a:p>
            <a:pPr marL="285750" indent="-285750">
              <a:buFont typeface="Wingdings" panose="05000000000000000000" pitchFamily="2" charset="2"/>
              <a:buChar char="à"/>
            </a:pPr>
            <a:r>
              <a:rPr lang="es-ES" dirty="0" smtClean="0">
                <a:sym typeface="Wingdings" panose="05000000000000000000" pitchFamily="2" charset="2"/>
              </a:rPr>
              <a:t>El interprete nos indicará que no reconoce los nombres de las funciones</a:t>
            </a:r>
          </a:p>
          <a:p>
            <a:endParaRPr lang="es-ES" dirty="0">
              <a:sym typeface="Wingdings" panose="05000000000000000000" pitchFamily="2" charset="2"/>
            </a:endParaRPr>
          </a:p>
          <a:p>
            <a:pPr marL="285750" indent="-285750">
              <a:buFont typeface="Wingdings" panose="05000000000000000000" pitchFamily="2" charset="2"/>
              <a:buChar char="§"/>
            </a:pPr>
            <a:r>
              <a:rPr lang="es-ES" dirty="0" smtClean="0">
                <a:sym typeface="Wingdings" panose="05000000000000000000" pitchFamily="2" charset="2"/>
              </a:rPr>
              <a:t>Herramientas para instalar paquetes:</a:t>
            </a:r>
          </a:p>
          <a:p>
            <a:pPr marL="742950" lvl="1" indent="-285750">
              <a:buFont typeface="Wingdings" panose="05000000000000000000" pitchFamily="2" charset="2"/>
              <a:buChar char="§"/>
            </a:pPr>
            <a:r>
              <a:rPr lang="es-ES" dirty="0" err="1" smtClean="0">
                <a:sym typeface="Wingdings" panose="05000000000000000000" pitchFamily="2" charset="2"/>
              </a:rPr>
              <a:t>pip</a:t>
            </a:r>
            <a:endParaRPr lang="es-ES" dirty="0">
              <a:sym typeface="Wingdings" panose="05000000000000000000" pitchFamily="2" charset="2"/>
            </a:endParaRPr>
          </a:p>
          <a:p>
            <a:pPr marL="742950" lvl="1" indent="-285750">
              <a:buFont typeface="Wingdings" panose="05000000000000000000" pitchFamily="2" charset="2"/>
              <a:buChar char="§"/>
            </a:pPr>
            <a:r>
              <a:rPr lang="es-ES" dirty="0" err="1" smtClean="0">
                <a:sym typeface="Wingdings" panose="05000000000000000000" pitchFamily="2" charset="2"/>
              </a:rPr>
              <a:t>easy_install</a:t>
            </a:r>
            <a:endParaRPr lang="es-ES" dirty="0" smtClean="0">
              <a:sym typeface="Wingdings" panose="05000000000000000000" pitchFamily="2" charset="2"/>
            </a:endParaRPr>
          </a:p>
          <a:p>
            <a:r>
              <a:rPr lang="es-ES" dirty="0" smtClean="0">
                <a:sym typeface="Wingdings" panose="05000000000000000000" pitchFamily="2" charset="2"/>
              </a:rPr>
              <a:t>Ejemplo de uso de </a:t>
            </a:r>
            <a:r>
              <a:rPr lang="es-ES" dirty="0" err="1" smtClean="0">
                <a:sym typeface="Wingdings" panose="05000000000000000000" pitchFamily="2" charset="2"/>
              </a:rPr>
              <a:t>pip</a:t>
            </a:r>
            <a:r>
              <a:rPr lang="es-ES" dirty="0" smtClean="0">
                <a:sym typeface="Wingdings" panose="05000000000000000000" pitchFamily="2" charset="2"/>
              </a:rPr>
              <a:t>:</a:t>
            </a:r>
          </a:p>
          <a:p>
            <a:endParaRPr lang="es-ES" dirty="0">
              <a:sym typeface="Wingdings" panose="05000000000000000000" pitchFamily="2" charset="2"/>
            </a:endParaRPr>
          </a:p>
          <a:p>
            <a:r>
              <a:rPr lang="es-ES" dirty="0" err="1">
                <a:sym typeface="Wingdings" panose="05000000000000000000" pitchFamily="2" charset="2"/>
              </a:rPr>
              <a:t>dany@debian</a:t>
            </a:r>
            <a:r>
              <a:rPr lang="es-ES" dirty="0">
                <a:sym typeface="Wingdings" panose="05000000000000000000" pitchFamily="2" charset="2"/>
              </a:rPr>
              <a:t>:~$ sudo </a:t>
            </a:r>
            <a:r>
              <a:rPr lang="es-ES" dirty="0" err="1">
                <a:sym typeface="Wingdings" panose="05000000000000000000" pitchFamily="2" charset="2"/>
              </a:rPr>
              <a:t>pip</a:t>
            </a:r>
            <a:r>
              <a:rPr lang="es-ES" dirty="0">
                <a:sym typeface="Wingdings" panose="05000000000000000000" pitchFamily="2" charset="2"/>
              </a:rPr>
              <a:t> </a:t>
            </a:r>
            <a:r>
              <a:rPr lang="es-ES" dirty="0" err="1">
                <a:sym typeface="Wingdings" panose="05000000000000000000" pitchFamily="2" charset="2"/>
              </a:rPr>
              <a:t>install</a:t>
            </a:r>
            <a:r>
              <a:rPr lang="es-ES" dirty="0">
                <a:sym typeface="Wingdings" panose="05000000000000000000" pitchFamily="2" charset="2"/>
              </a:rPr>
              <a:t> </a:t>
            </a:r>
            <a:r>
              <a:rPr lang="es-ES" dirty="0" smtClean="0">
                <a:sym typeface="Wingdings" panose="05000000000000000000" pitchFamily="2" charset="2"/>
              </a:rPr>
              <a:t>pandas </a:t>
            </a:r>
          </a:p>
          <a:p>
            <a:endParaRPr lang="es-ES" dirty="0">
              <a:sym typeface="Wingdings" panose="05000000000000000000" pitchFamily="2" charset="2"/>
            </a:endParaRPr>
          </a:p>
          <a:p>
            <a:r>
              <a:rPr lang="en-US" dirty="0">
                <a:sym typeface="Wingdings" panose="05000000000000000000" pitchFamily="2" charset="2"/>
              </a:rPr>
              <a:t>Python 2.7.3 (default, Mar 14 2014, 11:57:14) </a:t>
            </a:r>
          </a:p>
          <a:p>
            <a:r>
              <a:rPr lang="en-US" dirty="0">
                <a:sym typeface="Wingdings" panose="05000000000000000000" pitchFamily="2" charset="2"/>
              </a:rPr>
              <a:t>[GCC 4.7.2] on linux2</a:t>
            </a:r>
          </a:p>
          <a:p>
            <a:r>
              <a:rPr lang="en-US" dirty="0">
                <a:sym typeface="Wingdings" panose="05000000000000000000" pitchFamily="2" charset="2"/>
              </a:rPr>
              <a:t>Type "help", "copyright", "credits" or "license" for more information.</a:t>
            </a:r>
          </a:p>
          <a:p>
            <a:r>
              <a:rPr lang="en-US" dirty="0">
                <a:sym typeface="Wingdings" panose="05000000000000000000" pitchFamily="2" charset="2"/>
              </a:rPr>
              <a:t>&gt;&gt;&gt; import pandas </a:t>
            </a:r>
          </a:p>
          <a:p>
            <a:endParaRPr lang="es-ES" dirty="0" smtClean="0">
              <a:sym typeface="Wingdings" panose="05000000000000000000" pitchFamily="2" charset="2"/>
            </a:endParaRPr>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34897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402272" cy="6370975"/>
          </a:xfrm>
          <a:prstGeom prst="rect">
            <a:avLst/>
          </a:prstGeom>
        </p:spPr>
        <p:txBody>
          <a:bodyPr wrap="square">
            <a:spAutoFit/>
          </a:bodyPr>
          <a:lstStyle/>
          <a:p>
            <a:r>
              <a:rPr lang="es-ES" b="1" u="sng" dirty="0" smtClean="0"/>
              <a:t>INSTALACIÓN DE PAQUETES:</a:t>
            </a:r>
          </a:p>
          <a:p>
            <a:endParaRPr lang="es-ES" sz="1200" b="1" u="sng" dirty="0" smtClean="0"/>
          </a:p>
          <a:p>
            <a:r>
              <a:rPr lang="es-ES" dirty="0" smtClean="0"/>
              <a:t>Si un paquete no lo tenemos instalados no podemos utilizarlo</a:t>
            </a:r>
          </a:p>
          <a:p>
            <a:pPr marL="285750" indent="-285750">
              <a:buFont typeface="Wingdings" panose="05000000000000000000" pitchFamily="2" charset="2"/>
              <a:buChar char="à"/>
            </a:pPr>
            <a:r>
              <a:rPr lang="es-ES" dirty="0" smtClean="0">
                <a:sym typeface="Wingdings" panose="05000000000000000000" pitchFamily="2" charset="2"/>
              </a:rPr>
              <a:t>El interprete nos indicará que no reconoce los nombres de las funciones</a:t>
            </a:r>
          </a:p>
          <a:p>
            <a:endParaRPr lang="es-ES" dirty="0">
              <a:sym typeface="Wingdings" panose="05000000000000000000" pitchFamily="2" charset="2"/>
            </a:endParaRPr>
          </a:p>
          <a:p>
            <a:pPr marL="285750" indent="-285750">
              <a:buFont typeface="Wingdings" panose="05000000000000000000" pitchFamily="2" charset="2"/>
              <a:buChar char="§"/>
            </a:pPr>
            <a:r>
              <a:rPr lang="es-ES" dirty="0" smtClean="0">
                <a:sym typeface="Wingdings" panose="05000000000000000000" pitchFamily="2" charset="2"/>
              </a:rPr>
              <a:t>Herramientas para instalar paquetes:</a:t>
            </a:r>
          </a:p>
          <a:p>
            <a:pPr marL="742950" lvl="1" indent="-285750">
              <a:buFont typeface="Wingdings" panose="05000000000000000000" pitchFamily="2" charset="2"/>
              <a:buChar char="§"/>
            </a:pPr>
            <a:r>
              <a:rPr lang="es-ES" dirty="0" err="1" smtClean="0">
                <a:sym typeface="Wingdings" panose="05000000000000000000" pitchFamily="2" charset="2"/>
              </a:rPr>
              <a:t>pip</a:t>
            </a:r>
            <a:endParaRPr lang="es-ES" dirty="0">
              <a:sym typeface="Wingdings" panose="05000000000000000000" pitchFamily="2" charset="2"/>
            </a:endParaRPr>
          </a:p>
          <a:p>
            <a:pPr marL="742950" lvl="1" indent="-285750">
              <a:buFont typeface="Wingdings" panose="05000000000000000000" pitchFamily="2" charset="2"/>
              <a:buChar char="§"/>
            </a:pPr>
            <a:r>
              <a:rPr lang="es-ES" dirty="0" err="1" smtClean="0">
                <a:sym typeface="Wingdings" panose="05000000000000000000" pitchFamily="2" charset="2"/>
              </a:rPr>
              <a:t>easy_install</a:t>
            </a:r>
            <a:endParaRPr lang="es-ES" dirty="0" smtClean="0">
              <a:sym typeface="Wingdings" panose="05000000000000000000" pitchFamily="2" charset="2"/>
            </a:endParaRPr>
          </a:p>
          <a:p>
            <a:pPr marL="742950" lvl="1" indent="-285750">
              <a:buFont typeface="Wingdings" panose="05000000000000000000" pitchFamily="2" charset="2"/>
              <a:buChar char="§"/>
            </a:pPr>
            <a:r>
              <a:rPr lang="es-ES" dirty="0" err="1" smtClean="0">
                <a:sym typeface="Wingdings" panose="05000000000000000000" pitchFamily="2" charset="2"/>
              </a:rPr>
              <a:t>apt-get</a:t>
            </a:r>
            <a:r>
              <a:rPr lang="es-ES" dirty="0" smtClean="0">
                <a:sym typeface="Wingdings" panose="05000000000000000000" pitchFamily="2" charset="2"/>
              </a:rPr>
              <a:t> </a:t>
            </a:r>
            <a:r>
              <a:rPr lang="es-ES" dirty="0" err="1" smtClean="0">
                <a:sym typeface="Wingdings" panose="05000000000000000000" pitchFamily="2" charset="2"/>
              </a:rPr>
              <a:t>install</a:t>
            </a:r>
            <a:r>
              <a:rPr lang="es-ES" dirty="0" smtClean="0">
                <a:sym typeface="Wingdings" panose="05000000000000000000" pitchFamily="2" charset="2"/>
              </a:rPr>
              <a:t> </a:t>
            </a:r>
            <a:r>
              <a:rPr lang="es-ES" dirty="0" err="1" smtClean="0">
                <a:sym typeface="Wingdings" panose="05000000000000000000" pitchFamily="2" charset="2"/>
              </a:rPr>
              <a:t>python</a:t>
            </a:r>
            <a:r>
              <a:rPr lang="es-ES" dirty="0" smtClean="0">
                <a:sym typeface="Wingdings" panose="05000000000000000000" pitchFamily="2" charset="2"/>
              </a:rPr>
              <a:t>-&lt;</a:t>
            </a:r>
            <a:r>
              <a:rPr lang="es-ES" dirty="0" err="1" smtClean="0">
                <a:sym typeface="Wingdings" panose="05000000000000000000" pitchFamily="2" charset="2"/>
              </a:rPr>
              <a:t>nombre_paquete</a:t>
            </a:r>
            <a:r>
              <a:rPr lang="es-ES" dirty="0" smtClean="0">
                <a:sym typeface="Wingdings" panose="05000000000000000000" pitchFamily="2" charset="2"/>
              </a:rPr>
              <a:t>&gt;</a:t>
            </a:r>
          </a:p>
          <a:p>
            <a:r>
              <a:rPr lang="es-ES" dirty="0" smtClean="0">
                <a:sym typeface="Wingdings" panose="05000000000000000000" pitchFamily="2" charset="2"/>
              </a:rPr>
              <a:t>Ejemplo de uso de </a:t>
            </a:r>
            <a:r>
              <a:rPr lang="es-ES" dirty="0" err="1" smtClean="0">
                <a:sym typeface="Wingdings" panose="05000000000000000000" pitchFamily="2" charset="2"/>
              </a:rPr>
              <a:t>pip</a:t>
            </a:r>
            <a:r>
              <a:rPr lang="es-ES" dirty="0" smtClean="0">
                <a:sym typeface="Wingdings" panose="05000000000000000000" pitchFamily="2" charset="2"/>
              </a:rPr>
              <a:t>:</a:t>
            </a:r>
          </a:p>
          <a:p>
            <a:endParaRPr lang="es-ES" dirty="0">
              <a:sym typeface="Wingdings" panose="05000000000000000000" pitchFamily="2" charset="2"/>
            </a:endParaRPr>
          </a:p>
          <a:p>
            <a:r>
              <a:rPr lang="es-ES" dirty="0" err="1">
                <a:sym typeface="Wingdings" panose="05000000000000000000" pitchFamily="2" charset="2"/>
              </a:rPr>
              <a:t>dany@debian</a:t>
            </a:r>
            <a:r>
              <a:rPr lang="es-ES" dirty="0">
                <a:sym typeface="Wingdings" panose="05000000000000000000" pitchFamily="2" charset="2"/>
              </a:rPr>
              <a:t>:~$ sudo </a:t>
            </a:r>
            <a:r>
              <a:rPr lang="es-ES" dirty="0" err="1">
                <a:sym typeface="Wingdings" panose="05000000000000000000" pitchFamily="2" charset="2"/>
              </a:rPr>
              <a:t>pip</a:t>
            </a:r>
            <a:r>
              <a:rPr lang="es-ES" dirty="0">
                <a:sym typeface="Wingdings" panose="05000000000000000000" pitchFamily="2" charset="2"/>
              </a:rPr>
              <a:t> </a:t>
            </a:r>
            <a:r>
              <a:rPr lang="es-ES" dirty="0" err="1">
                <a:sym typeface="Wingdings" panose="05000000000000000000" pitchFamily="2" charset="2"/>
              </a:rPr>
              <a:t>install</a:t>
            </a:r>
            <a:r>
              <a:rPr lang="es-ES" dirty="0">
                <a:sym typeface="Wingdings" panose="05000000000000000000" pitchFamily="2" charset="2"/>
              </a:rPr>
              <a:t> </a:t>
            </a:r>
            <a:r>
              <a:rPr lang="es-ES" dirty="0" smtClean="0">
                <a:sym typeface="Wingdings" panose="05000000000000000000" pitchFamily="2" charset="2"/>
              </a:rPr>
              <a:t>pandas </a:t>
            </a:r>
          </a:p>
          <a:p>
            <a:endParaRPr lang="es-ES" dirty="0">
              <a:sym typeface="Wingdings" panose="05000000000000000000" pitchFamily="2" charset="2"/>
            </a:endParaRPr>
          </a:p>
          <a:p>
            <a:r>
              <a:rPr lang="en-US" dirty="0">
                <a:sym typeface="Wingdings" panose="05000000000000000000" pitchFamily="2" charset="2"/>
              </a:rPr>
              <a:t>Python 2.7.3 (default, Mar 14 2014, 11:57:14) </a:t>
            </a:r>
          </a:p>
          <a:p>
            <a:r>
              <a:rPr lang="en-US" dirty="0">
                <a:sym typeface="Wingdings" panose="05000000000000000000" pitchFamily="2" charset="2"/>
              </a:rPr>
              <a:t>[GCC 4.7.2] on linux2</a:t>
            </a:r>
          </a:p>
          <a:p>
            <a:r>
              <a:rPr lang="en-US" dirty="0">
                <a:sym typeface="Wingdings" panose="05000000000000000000" pitchFamily="2" charset="2"/>
              </a:rPr>
              <a:t>Type "help", "copyright", "credits" or "license" for more information.</a:t>
            </a:r>
          </a:p>
          <a:p>
            <a:r>
              <a:rPr lang="en-US" dirty="0">
                <a:sym typeface="Wingdings" panose="05000000000000000000" pitchFamily="2" charset="2"/>
              </a:rPr>
              <a:t>&gt;&gt;&gt; import pandas </a:t>
            </a:r>
          </a:p>
          <a:p>
            <a:endParaRPr lang="es-ES" dirty="0" smtClean="0">
              <a:sym typeface="Wingdings" panose="05000000000000000000" pitchFamily="2" charset="2"/>
            </a:endParaRPr>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110428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402272" cy="6924973"/>
          </a:xfrm>
          <a:prstGeom prst="rect">
            <a:avLst/>
          </a:prstGeom>
        </p:spPr>
        <p:txBody>
          <a:bodyPr wrap="square">
            <a:spAutoFit/>
          </a:bodyPr>
          <a:lstStyle/>
          <a:p>
            <a:r>
              <a:rPr lang="es-ES" b="1" u="sng" dirty="0" smtClean="0"/>
              <a:t>PAQUETE NUMPY</a:t>
            </a:r>
          </a:p>
          <a:p>
            <a:endParaRPr lang="es-ES" sz="1200" b="1" u="sng" dirty="0" smtClean="0"/>
          </a:p>
          <a:p>
            <a:r>
              <a:rPr lang="es-ES" dirty="0" smtClean="0"/>
              <a:t>Cálculo numérico y vectores y matrices (entre otras muchas cosas)</a:t>
            </a:r>
          </a:p>
          <a:p>
            <a:endParaRPr lang="es-ES" dirty="0" smtClean="0">
              <a:sym typeface="Wingdings" panose="05000000000000000000" pitchFamily="2" charset="2"/>
            </a:endParaRPr>
          </a:p>
          <a:p>
            <a:pPr marL="342900" indent="-342900">
              <a:buAutoNum type="arabicParenR"/>
            </a:pPr>
            <a:r>
              <a:rPr lang="es-ES" dirty="0" smtClean="0">
                <a:sym typeface="Wingdings" panose="05000000000000000000" pitchFamily="2" charset="2"/>
              </a:rPr>
              <a:t>Importamos </a:t>
            </a:r>
            <a:r>
              <a:rPr lang="es-ES" dirty="0" err="1" smtClean="0">
                <a:sym typeface="Wingdings" panose="05000000000000000000" pitchFamily="2" charset="2"/>
              </a:rPr>
              <a:t>numpy</a:t>
            </a:r>
            <a:endParaRPr lang="es-ES" dirty="0" smtClean="0">
              <a:sym typeface="Wingdings" panose="05000000000000000000" pitchFamily="2" charset="2"/>
            </a:endParaRPr>
          </a:p>
          <a:p>
            <a:endParaRPr lang="es-ES" dirty="0">
              <a:sym typeface="Wingdings" panose="05000000000000000000" pitchFamily="2" charset="2"/>
            </a:endParaRPr>
          </a:p>
          <a:p>
            <a:r>
              <a:rPr lang="es-ES" dirty="0" err="1" smtClean="0">
                <a:sym typeface="Wingdings" panose="05000000000000000000" pitchFamily="2" charset="2"/>
              </a:rPr>
              <a:t>import</a:t>
            </a:r>
            <a:r>
              <a:rPr lang="es-ES" dirty="0" smtClean="0">
                <a:sym typeface="Wingdings" panose="05000000000000000000" pitchFamily="2" charset="2"/>
              </a:rPr>
              <a:t> </a:t>
            </a:r>
            <a:r>
              <a:rPr lang="es-ES" dirty="0" err="1" smtClean="0">
                <a:sym typeface="Wingdings" panose="05000000000000000000" pitchFamily="2" charset="2"/>
              </a:rPr>
              <a:t>numpy</a:t>
            </a:r>
            <a:r>
              <a:rPr lang="es-ES" dirty="0" smtClean="0">
                <a:sym typeface="Wingdings" panose="05000000000000000000" pitchFamily="2" charset="2"/>
              </a:rPr>
              <a:t> as </a:t>
            </a:r>
            <a:r>
              <a:rPr lang="es-ES" dirty="0" err="1" smtClean="0">
                <a:sym typeface="Wingdings" panose="05000000000000000000" pitchFamily="2" charset="2"/>
              </a:rPr>
              <a:t>np</a:t>
            </a:r>
            <a:endParaRPr lang="es-ES" dirty="0" smtClean="0">
              <a:sym typeface="Wingdings" panose="05000000000000000000" pitchFamily="2" charset="2"/>
            </a:endParaRPr>
          </a:p>
          <a:p>
            <a:endParaRPr lang="es-ES" dirty="0">
              <a:sym typeface="Wingdings" panose="05000000000000000000" pitchFamily="2" charset="2"/>
            </a:endParaRPr>
          </a:p>
          <a:p>
            <a:r>
              <a:rPr lang="es-ES" b="1" dirty="0" err="1" smtClean="0">
                <a:sym typeface="Wingdings" panose="05000000000000000000" pitchFamily="2" charset="2"/>
              </a:rPr>
              <a:t>Arrays</a:t>
            </a:r>
            <a:r>
              <a:rPr lang="es-ES" b="1" dirty="0" smtClean="0">
                <a:sym typeface="Wingdings" panose="05000000000000000000" pitchFamily="2" charset="2"/>
              </a:rPr>
              <a:t> (vectores):</a:t>
            </a:r>
            <a:endParaRPr lang="es-ES" b="1" dirty="0" smtClean="0"/>
          </a:p>
          <a:p>
            <a:endParaRPr lang="es-ES" b="1" dirty="0" smtClean="0"/>
          </a:p>
          <a:p>
            <a:r>
              <a:rPr lang="es-ES" dirty="0" smtClean="0"/>
              <a:t>&gt;&gt;&gt; </a:t>
            </a:r>
            <a:r>
              <a:rPr lang="es-ES" dirty="0" err="1"/>
              <a:t>import</a:t>
            </a:r>
            <a:r>
              <a:rPr lang="es-ES" dirty="0"/>
              <a:t> </a:t>
            </a:r>
            <a:r>
              <a:rPr lang="es-ES" dirty="0" err="1"/>
              <a:t>numpy</a:t>
            </a:r>
            <a:r>
              <a:rPr lang="es-ES" dirty="0"/>
              <a:t> as </a:t>
            </a:r>
            <a:r>
              <a:rPr lang="es-ES" dirty="0" err="1"/>
              <a:t>np</a:t>
            </a:r>
            <a:endParaRPr lang="es-ES" dirty="0"/>
          </a:p>
          <a:p>
            <a:r>
              <a:rPr lang="es-ES" dirty="0"/>
              <a:t>&gt;&gt;&gt; v1 = </a:t>
            </a:r>
            <a:r>
              <a:rPr lang="es-ES" dirty="0" err="1"/>
              <a:t>np.arange</a:t>
            </a:r>
            <a:r>
              <a:rPr lang="es-ES" dirty="0"/>
              <a:t>(0, 2, 0.1</a:t>
            </a:r>
            <a:r>
              <a:rPr lang="es-ES" dirty="0" smtClean="0"/>
              <a:t>) # creamos un </a:t>
            </a:r>
            <a:r>
              <a:rPr lang="es-ES" dirty="0" err="1" smtClean="0"/>
              <a:t>array</a:t>
            </a:r>
            <a:r>
              <a:rPr lang="es-ES" dirty="0" smtClean="0"/>
              <a:t> de una sola dimensión</a:t>
            </a:r>
            <a:endParaRPr lang="es-ES" dirty="0"/>
          </a:p>
          <a:p>
            <a:r>
              <a:rPr lang="es-ES" dirty="0"/>
              <a:t>&gt;&gt;&gt; v1</a:t>
            </a:r>
          </a:p>
          <a:p>
            <a:r>
              <a:rPr lang="es-ES" dirty="0" err="1"/>
              <a:t>array</a:t>
            </a:r>
            <a:r>
              <a:rPr lang="es-ES" dirty="0"/>
              <a:t>([ 0. ,  0.1,  0.2,  0.3,  0.4,  0.5,  0.6,  0.7,  0.8,  0.9,  1. ,</a:t>
            </a:r>
          </a:p>
          <a:p>
            <a:r>
              <a:rPr lang="es-ES" dirty="0"/>
              <a:t>        1.1,  1.2,  1.3,  1.4,  1.5,  1.6,  1.7,  1.8,  1.9</a:t>
            </a:r>
            <a:r>
              <a:rPr lang="es-ES" dirty="0" smtClean="0"/>
              <a:t>])</a:t>
            </a:r>
          </a:p>
          <a:p>
            <a:endParaRPr lang="es-ES" dirty="0"/>
          </a:p>
          <a:p>
            <a:r>
              <a:rPr lang="es-ES" dirty="0" smtClean="0"/>
              <a:t>NO CONFUNDIR CON LISTA</a:t>
            </a:r>
          </a:p>
          <a:p>
            <a:endParaRPr lang="es-ES" dirty="0"/>
          </a:p>
          <a:p>
            <a:r>
              <a:rPr lang="es-ES" dirty="0" smtClean="0">
                <a:sym typeface="Wingdings" panose="05000000000000000000" pitchFamily="2" charset="2"/>
              </a:rPr>
              <a:t> Abrir arrays1.py</a:t>
            </a:r>
            <a:endParaRPr lang="es-ES" dirty="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6264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3868908" cy="6370975"/>
          </a:xfrm>
          <a:prstGeom prst="rect">
            <a:avLst/>
          </a:prstGeom>
        </p:spPr>
        <p:txBody>
          <a:bodyPr wrap="square">
            <a:spAutoFit/>
          </a:bodyPr>
          <a:lstStyle/>
          <a:p>
            <a:r>
              <a:rPr lang="es-ES" b="1" u="sng" dirty="0" smtClean="0"/>
              <a:t>PAQUETE NUMPY</a:t>
            </a:r>
          </a:p>
          <a:p>
            <a:endParaRPr lang="es-ES" sz="1200" b="1" u="sng" dirty="0" smtClean="0"/>
          </a:p>
          <a:p>
            <a:r>
              <a:rPr lang="es-ES" dirty="0" smtClean="0"/>
              <a:t>Creación de </a:t>
            </a:r>
            <a:r>
              <a:rPr lang="es-ES" dirty="0" err="1" smtClean="0"/>
              <a:t>arrays</a:t>
            </a:r>
            <a:endParaRPr lang="es-ES" dirty="0" smtClean="0"/>
          </a:p>
          <a:p>
            <a:endParaRPr lang="es-ES" dirty="0" smtClean="0">
              <a:sym typeface="Wingdings" panose="05000000000000000000" pitchFamily="2" charset="2"/>
            </a:endParaRPr>
          </a:p>
          <a:p>
            <a:pPr marL="342900" indent="-342900">
              <a:buAutoNum type="arabicParenR"/>
            </a:pPr>
            <a:r>
              <a:rPr lang="es-ES" dirty="0" smtClean="0">
                <a:sym typeface="Wingdings" panose="05000000000000000000" pitchFamily="2" charset="2"/>
              </a:rPr>
              <a:t>Una dimensión</a:t>
            </a:r>
            <a:endParaRPr lang="es-ES" dirty="0">
              <a:sym typeface="Wingdings" panose="05000000000000000000" pitchFamily="2" charset="2"/>
            </a:endParaRPr>
          </a:p>
          <a:p>
            <a:endParaRPr lang="es-ES" dirty="0" smtClean="0">
              <a:sym typeface="Wingdings" panose="05000000000000000000" pitchFamily="2" charset="2"/>
            </a:endParaRPr>
          </a:p>
          <a:p>
            <a:r>
              <a:rPr lang="es-ES" sz="1600" dirty="0" smtClean="0"/>
              <a:t>v1 </a:t>
            </a:r>
            <a:r>
              <a:rPr lang="es-ES" sz="1600" dirty="0"/>
              <a:t>= </a:t>
            </a:r>
            <a:r>
              <a:rPr lang="es-ES" sz="1600" dirty="0" err="1"/>
              <a:t>np.array</a:t>
            </a:r>
            <a:r>
              <a:rPr lang="es-ES" sz="1600" dirty="0"/>
              <a:t>([1, 1, 2, 3, 5, 8, 13, 21])</a:t>
            </a:r>
          </a:p>
          <a:p>
            <a:r>
              <a:rPr lang="es-ES" sz="1600" dirty="0" smtClean="0"/>
              <a:t>v2 </a:t>
            </a:r>
            <a:r>
              <a:rPr lang="es-ES" sz="1600" dirty="0"/>
              <a:t>= </a:t>
            </a:r>
            <a:r>
              <a:rPr lang="es-ES" sz="1600" dirty="0" err="1"/>
              <a:t>np.array</a:t>
            </a:r>
            <a:r>
              <a:rPr lang="es-ES" sz="1600" dirty="0"/>
              <a:t>([3.4, 6.9, 99.8, 12.8])</a:t>
            </a:r>
          </a:p>
          <a:p>
            <a:endParaRPr lang="es-ES" dirty="0" smtClean="0"/>
          </a:p>
          <a:p>
            <a:r>
              <a:rPr lang="es-ES" dirty="0" smtClean="0"/>
              <a:t>2) Matrices</a:t>
            </a:r>
          </a:p>
          <a:p>
            <a:endParaRPr lang="es-ES" dirty="0"/>
          </a:p>
          <a:p>
            <a:r>
              <a:rPr lang="en-US" sz="1600" dirty="0"/>
              <a:t>A = </a:t>
            </a:r>
            <a:r>
              <a:rPr lang="en-US" sz="1600" dirty="0" err="1"/>
              <a:t>np.array</a:t>
            </a:r>
            <a:r>
              <a:rPr lang="en-US" sz="1600" dirty="0"/>
              <a:t>([ [3.4, 8.7, 9.9], </a:t>
            </a:r>
          </a:p>
          <a:p>
            <a:r>
              <a:rPr lang="en-US" sz="1600" dirty="0"/>
              <a:t>               [1.1, -7.8, -0.7],</a:t>
            </a:r>
          </a:p>
          <a:p>
            <a:r>
              <a:rPr lang="en-US" sz="1600" dirty="0"/>
              <a:t>               [4.1, 12.3, 4.8]])</a:t>
            </a:r>
          </a:p>
          <a:p>
            <a:r>
              <a:rPr lang="en-US" sz="1600" dirty="0"/>
              <a:t>print(A)</a:t>
            </a:r>
          </a:p>
          <a:p>
            <a:r>
              <a:rPr lang="en-US" sz="1600" dirty="0"/>
              <a:t>print(</a:t>
            </a:r>
            <a:r>
              <a:rPr lang="en-US" sz="1600" dirty="0" err="1"/>
              <a:t>A.ndim</a:t>
            </a:r>
            <a:r>
              <a:rPr lang="en-US" sz="1600" dirty="0"/>
              <a:t>)</a:t>
            </a:r>
          </a:p>
          <a:p>
            <a:r>
              <a:rPr lang="en-US" sz="1600" dirty="0"/>
              <a:t>[[  3.4   8.7   9.9]</a:t>
            </a:r>
          </a:p>
          <a:p>
            <a:r>
              <a:rPr lang="en-US" sz="1600" dirty="0"/>
              <a:t> [  1.1  -7.8  -0.7]</a:t>
            </a:r>
          </a:p>
          <a:p>
            <a:r>
              <a:rPr lang="en-US" sz="1600" dirty="0"/>
              <a:t> [  4.1  12.3   4.8]]</a:t>
            </a:r>
          </a:p>
          <a:p>
            <a:r>
              <a:rPr lang="en-US" sz="1600" dirty="0"/>
              <a:t>2</a:t>
            </a:r>
            <a:endParaRPr lang="es-ES" sz="1600"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0" name="Rectángulo 9"/>
          <p:cNvSpPr/>
          <p:nvPr/>
        </p:nvSpPr>
        <p:spPr>
          <a:xfrm>
            <a:off x="5388860" y="1440288"/>
            <a:ext cx="3868908" cy="6740307"/>
          </a:xfrm>
          <a:prstGeom prst="rect">
            <a:avLst/>
          </a:prstGeom>
        </p:spPr>
        <p:txBody>
          <a:bodyPr wrap="square">
            <a:spAutoFit/>
          </a:bodyPr>
          <a:lstStyle/>
          <a:p>
            <a:endParaRPr lang="es-ES" b="1" u="sng" dirty="0"/>
          </a:p>
          <a:p>
            <a:endParaRPr lang="es-ES" dirty="0" smtClean="0"/>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Dimensiones del </a:t>
            </a:r>
            <a:r>
              <a:rPr lang="es-ES" dirty="0" err="1" smtClean="0">
                <a:sym typeface="Wingdings" panose="05000000000000000000" pitchFamily="2" charset="2"/>
              </a:rPr>
              <a:t>array</a:t>
            </a:r>
            <a:endParaRPr lang="es-ES" dirty="0">
              <a:sym typeface="Wingdings" panose="05000000000000000000" pitchFamily="2" charset="2"/>
            </a:endParaRPr>
          </a:p>
          <a:p>
            <a:endParaRPr lang="es-ES" sz="1400" dirty="0" smtClean="0">
              <a:sym typeface="Wingdings" panose="05000000000000000000" pitchFamily="2" charset="2"/>
            </a:endParaRPr>
          </a:p>
          <a:p>
            <a:r>
              <a:rPr lang="es-ES" sz="1600" dirty="0" err="1"/>
              <a:t>print</a:t>
            </a:r>
            <a:r>
              <a:rPr lang="es-ES" sz="1600" dirty="0"/>
              <a:t> </a:t>
            </a:r>
            <a:r>
              <a:rPr lang="es-ES" sz="1600" dirty="0" err="1"/>
              <a:t>np.shape</a:t>
            </a:r>
            <a:r>
              <a:rPr lang="es-ES" sz="1600" dirty="0"/>
              <a:t>(v1)</a:t>
            </a:r>
          </a:p>
          <a:p>
            <a:r>
              <a:rPr lang="es-ES" sz="1600" dirty="0"/>
              <a:t>1</a:t>
            </a:r>
          </a:p>
          <a:p>
            <a:endParaRPr lang="es-ES" sz="1400" dirty="0"/>
          </a:p>
          <a:p>
            <a:r>
              <a:rPr lang="es-ES" sz="1600" dirty="0" err="1"/>
              <a:t>print</a:t>
            </a:r>
            <a:r>
              <a:rPr lang="es-ES" sz="1600" dirty="0"/>
              <a:t>  </a:t>
            </a:r>
            <a:r>
              <a:rPr lang="es-ES" sz="1600" dirty="0" err="1"/>
              <a:t>np.shape</a:t>
            </a:r>
            <a:r>
              <a:rPr lang="es-ES" sz="1600" dirty="0"/>
              <a:t>(A)</a:t>
            </a:r>
          </a:p>
          <a:p>
            <a:r>
              <a:rPr lang="es-ES" sz="1600" dirty="0"/>
              <a:t>(1, 3)</a:t>
            </a:r>
          </a:p>
          <a:p>
            <a:endParaRPr lang="es-ES" dirty="0" smtClean="0"/>
          </a:p>
          <a:p>
            <a:pPr marL="285750" indent="-285750">
              <a:buFont typeface="Wingdings" panose="05000000000000000000" pitchFamily="2" charset="2"/>
              <a:buChar char="v"/>
            </a:pPr>
            <a:r>
              <a:rPr lang="es-ES" dirty="0" err="1" smtClean="0"/>
              <a:t>Array</a:t>
            </a:r>
            <a:r>
              <a:rPr lang="es-ES" dirty="0" smtClean="0"/>
              <a:t> de unos</a:t>
            </a:r>
          </a:p>
          <a:p>
            <a:endParaRPr lang="es-ES" sz="1400" dirty="0"/>
          </a:p>
          <a:p>
            <a:r>
              <a:rPr lang="es-ES" sz="1600" dirty="0"/>
              <a:t>&gt;&gt;&gt; </a:t>
            </a:r>
            <a:r>
              <a:rPr lang="es-ES" sz="1600" dirty="0" err="1"/>
              <a:t>np.ones</a:t>
            </a:r>
            <a:r>
              <a:rPr lang="es-ES" sz="1600" dirty="0"/>
              <a:t>(5)</a:t>
            </a:r>
          </a:p>
          <a:p>
            <a:r>
              <a:rPr lang="es-ES" sz="1600" dirty="0" err="1"/>
              <a:t>array</a:t>
            </a:r>
            <a:r>
              <a:rPr lang="es-ES" sz="1600" dirty="0"/>
              <a:t>([ 1.,  1.,  1.,  1.,  1.])</a:t>
            </a:r>
          </a:p>
          <a:p>
            <a:endParaRPr lang="es-ES" sz="1600" dirty="0"/>
          </a:p>
          <a:p>
            <a:pPr marL="285750" indent="-285750">
              <a:buFont typeface="Wingdings" panose="05000000000000000000" pitchFamily="2" charset="2"/>
              <a:buChar char="v"/>
            </a:pPr>
            <a:r>
              <a:rPr lang="es-ES" dirty="0" err="1" smtClean="0"/>
              <a:t>Array</a:t>
            </a:r>
            <a:r>
              <a:rPr lang="es-ES" dirty="0" smtClean="0"/>
              <a:t> de ceros</a:t>
            </a:r>
          </a:p>
          <a:p>
            <a:endParaRPr lang="es-ES" sz="1400" dirty="0"/>
          </a:p>
          <a:p>
            <a:r>
              <a:rPr lang="pt-BR" sz="1600" dirty="0"/>
              <a:t>&gt;&gt;&gt; </a:t>
            </a:r>
            <a:r>
              <a:rPr lang="pt-BR" sz="1600" dirty="0" err="1"/>
              <a:t>np.zeros</a:t>
            </a:r>
            <a:r>
              <a:rPr lang="pt-BR" sz="1600" dirty="0"/>
              <a:t>((2,2))</a:t>
            </a:r>
          </a:p>
          <a:p>
            <a:r>
              <a:rPr lang="pt-BR" sz="1600" dirty="0" err="1"/>
              <a:t>array</a:t>
            </a:r>
            <a:r>
              <a:rPr lang="pt-BR" sz="1600" dirty="0"/>
              <a:t>([[ 0.,  0.],</a:t>
            </a:r>
          </a:p>
          <a:p>
            <a:r>
              <a:rPr lang="pt-BR" sz="1600" dirty="0"/>
              <a:t>       [ 0.,  0.]])</a:t>
            </a:r>
          </a:p>
          <a:p>
            <a:endParaRPr lang="es-ES" dirty="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spTree>
    <p:extLst>
      <p:ext uri="{BB962C8B-B14F-4D97-AF65-F5344CB8AC3E}">
        <p14:creationId xmlns:p14="http://schemas.microsoft.com/office/powerpoint/2010/main" val="1979497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130765"/>
            <a:ext cx="3868908" cy="5539978"/>
          </a:xfrm>
          <a:prstGeom prst="rect">
            <a:avLst/>
          </a:prstGeom>
        </p:spPr>
        <p:txBody>
          <a:bodyPr wrap="square">
            <a:spAutoFit/>
          </a:bodyPr>
          <a:lstStyle/>
          <a:p>
            <a:r>
              <a:rPr lang="es-ES" b="1" u="sng" dirty="0" smtClean="0"/>
              <a:t>PAQUETE NUMPY</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err="1" smtClean="0">
                <a:sym typeface="Wingdings" panose="05000000000000000000" pitchFamily="2" charset="2"/>
              </a:rPr>
              <a:t>Reshape</a:t>
            </a:r>
            <a:r>
              <a:rPr lang="es-ES" dirty="0" smtClean="0">
                <a:sym typeface="Wingdings" panose="05000000000000000000" pitchFamily="2" charset="2"/>
              </a:rPr>
              <a:t>: </a:t>
            </a:r>
            <a:r>
              <a:rPr lang="es-ES" dirty="0" smtClean="0">
                <a:sym typeface="Wingdings" panose="05000000000000000000" pitchFamily="2" charset="2"/>
              </a:rPr>
              <a:t>Cambiamos </a:t>
            </a:r>
            <a:r>
              <a:rPr lang="es-ES" dirty="0" smtClean="0">
                <a:sym typeface="Wingdings" panose="05000000000000000000" pitchFamily="2" charset="2"/>
              </a:rPr>
              <a:t>la forma del </a:t>
            </a:r>
            <a:r>
              <a:rPr lang="es-ES" dirty="0" err="1" smtClean="0">
                <a:sym typeface="Wingdings" panose="05000000000000000000" pitchFamily="2" charset="2"/>
              </a:rPr>
              <a:t>array</a:t>
            </a:r>
            <a:endParaRPr lang="es-ES" dirty="0">
              <a:sym typeface="Wingdings" panose="05000000000000000000" pitchFamily="2" charset="2"/>
            </a:endParaRPr>
          </a:p>
          <a:p>
            <a:r>
              <a:rPr lang="es-ES" sz="1400" dirty="0"/>
              <a:t>X = </a:t>
            </a:r>
            <a:r>
              <a:rPr lang="es-ES" sz="1400" dirty="0" err="1"/>
              <a:t>np.array</a:t>
            </a:r>
            <a:r>
              <a:rPr lang="es-ES" sz="1400" dirty="0"/>
              <a:t>(</a:t>
            </a:r>
            <a:r>
              <a:rPr lang="es-ES" sz="1400" dirty="0" err="1"/>
              <a:t>range</a:t>
            </a:r>
            <a:r>
              <a:rPr lang="es-ES" sz="1400" dirty="0"/>
              <a:t>(24))</a:t>
            </a:r>
          </a:p>
          <a:p>
            <a:r>
              <a:rPr lang="es-ES" sz="1400" dirty="0"/>
              <a:t>Y = </a:t>
            </a:r>
            <a:r>
              <a:rPr lang="es-ES" sz="1400" dirty="0" err="1"/>
              <a:t>X.reshape</a:t>
            </a:r>
            <a:r>
              <a:rPr lang="es-ES" sz="1400" dirty="0"/>
              <a:t>((3,4,2))</a:t>
            </a:r>
          </a:p>
          <a:p>
            <a:r>
              <a:rPr lang="es-ES" sz="1400" dirty="0" smtClean="0"/>
              <a:t>Y</a:t>
            </a:r>
          </a:p>
          <a:p>
            <a:r>
              <a:rPr lang="en-US" sz="1400" dirty="0"/>
              <a:t>array([[[ 0,  1],</a:t>
            </a:r>
          </a:p>
          <a:p>
            <a:r>
              <a:rPr lang="en-US" sz="1400" dirty="0"/>
              <a:t>        [ 2,  3],</a:t>
            </a:r>
          </a:p>
          <a:p>
            <a:r>
              <a:rPr lang="en-US" sz="1400" dirty="0"/>
              <a:t>        [ 4,  5],</a:t>
            </a:r>
          </a:p>
          <a:p>
            <a:r>
              <a:rPr lang="en-US" sz="1400" dirty="0"/>
              <a:t>        [ 6,  7]],</a:t>
            </a:r>
          </a:p>
          <a:p>
            <a:r>
              <a:rPr lang="en-US" sz="1400" dirty="0"/>
              <a:t>       [[ 8,  9],</a:t>
            </a:r>
          </a:p>
          <a:p>
            <a:r>
              <a:rPr lang="en-US" sz="1400" dirty="0"/>
              <a:t>        [10, 11],</a:t>
            </a:r>
          </a:p>
          <a:p>
            <a:r>
              <a:rPr lang="en-US" sz="1400" dirty="0"/>
              <a:t>        [12, 13],</a:t>
            </a:r>
          </a:p>
          <a:p>
            <a:r>
              <a:rPr lang="en-US" sz="1400" dirty="0"/>
              <a:t>        [14, 15]],</a:t>
            </a:r>
          </a:p>
          <a:p>
            <a:r>
              <a:rPr lang="en-US" sz="1400" dirty="0"/>
              <a:t>       [[16, 17],</a:t>
            </a:r>
          </a:p>
          <a:p>
            <a:r>
              <a:rPr lang="en-US" sz="1400" dirty="0"/>
              <a:t>        [18, 19],</a:t>
            </a:r>
          </a:p>
          <a:p>
            <a:r>
              <a:rPr lang="en-US" sz="1400" dirty="0"/>
              <a:t>        [20, 21],</a:t>
            </a:r>
          </a:p>
          <a:p>
            <a:r>
              <a:rPr lang="en-US" sz="1400" dirty="0"/>
              <a:t>        [22, 23]]])</a:t>
            </a:r>
            <a:endParaRPr lang="es-ES" sz="1400"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0" name="Rectángulo 9"/>
          <p:cNvSpPr/>
          <p:nvPr/>
        </p:nvSpPr>
        <p:spPr>
          <a:xfrm>
            <a:off x="4361920" y="1116732"/>
            <a:ext cx="5935631" cy="7109639"/>
          </a:xfrm>
          <a:prstGeom prst="rect">
            <a:avLst/>
          </a:prstGeom>
        </p:spPr>
        <p:txBody>
          <a:bodyPr wrap="square">
            <a:spAutoFit/>
          </a:bodyPr>
          <a:lstStyle/>
          <a:p>
            <a:endParaRPr lang="es-ES" dirty="0">
              <a:sym typeface="Wingdings" panose="05000000000000000000" pitchFamily="2" charset="2"/>
            </a:endParaRP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Concatenar </a:t>
            </a:r>
            <a:r>
              <a:rPr lang="es-ES" dirty="0" err="1" smtClean="0">
                <a:sym typeface="Wingdings" panose="05000000000000000000" pitchFamily="2" charset="2"/>
              </a:rPr>
              <a:t>arrays</a:t>
            </a:r>
            <a:r>
              <a:rPr lang="es-ES" dirty="0" smtClean="0">
                <a:sym typeface="Wingdings" panose="05000000000000000000" pitchFamily="2" charset="2"/>
              </a:rPr>
              <a:t>:</a:t>
            </a:r>
            <a:endParaRPr lang="es-ES" dirty="0">
              <a:sym typeface="Wingdings" panose="05000000000000000000" pitchFamily="2" charset="2"/>
            </a:endParaRPr>
          </a:p>
          <a:p>
            <a:r>
              <a:rPr lang="es-ES" sz="1400" dirty="0">
                <a:sym typeface="Wingdings" panose="05000000000000000000" pitchFamily="2" charset="2"/>
              </a:rPr>
              <a:t>x = </a:t>
            </a:r>
            <a:r>
              <a:rPr lang="es-ES" sz="1400" dirty="0" err="1">
                <a:sym typeface="Wingdings" panose="05000000000000000000" pitchFamily="2" charset="2"/>
              </a:rPr>
              <a:t>np.array</a:t>
            </a:r>
            <a:r>
              <a:rPr lang="es-ES" sz="1400" dirty="0">
                <a:sym typeface="Wingdings" panose="05000000000000000000" pitchFamily="2" charset="2"/>
              </a:rPr>
              <a:t>([11,22])</a:t>
            </a:r>
          </a:p>
          <a:p>
            <a:r>
              <a:rPr lang="es-ES" sz="1400" dirty="0">
                <a:sym typeface="Wingdings" panose="05000000000000000000" pitchFamily="2" charset="2"/>
              </a:rPr>
              <a:t>y = </a:t>
            </a:r>
            <a:r>
              <a:rPr lang="es-ES" sz="1400" dirty="0" err="1">
                <a:sym typeface="Wingdings" panose="05000000000000000000" pitchFamily="2" charset="2"/>
              </a:rPr>
              <a:t>np.array</a:t>
            </a:r>
            <a:r>
              <a:rPr lang="es-ES" sz="1400" dirty="0">
                <a:sym typeface="Wingdings" panose="05000000000000000000" pitchFamily="2" charset="2"/>
              </a:rPr>
              <a:t>([18,7,6])</a:t>
            </a:r>
          </a:p>
          <a:p>
            <a:r>
              <a:rPr lang="es-ES" sz="1400" dirty="0">
                <a:sym typeface="Wingdings" panose="05000000000000000000" pitchFamily="2" charset="2"/>
              </a:rPr>
              <a:t>z = </a:t>
            </a:r>
            <a:r>
              <a:rPr lang="es-ES" sz="1400" dirty="0" err="1">
                <a:sym typeface="Wingdings" panose="05000000000000000000" pitchFamily="2" charset="2"/>
              </a:rPr>
              <a:t>np.array</a:t>
            </a:r>
            <a:r>
              <a:rPr lang="es-ES" sz="1400" dirty="0">
                <a:sym typeface="Wingdings" panose="05000000000000000000" pitchFamily="2" charset="2"/>
              </a:rPr>
              <a:t>([1,3,5])</a:t>
            </a:r>
          </a:p>
          <a:p>
            <a:r>
              <a:rPr lang="es-ES" sz="1400" dirty="0">
                <a:sym typeface="Wingdings" panose="05000000000000000000" pitchFamily="2" charset="2"/>
              </a:rPr>
              <a:t>c = </a:t>
            </a:r>
            <a:r>
              <a:rPr lang="es-ES" sz="1400" dirty="0" err="1">
                <a:sym typeface="Wingdings" panose="05000000000000000000" pitchFamily="2" charset="2"/>
              </a:rPr>
              <a:t>np.concatenate</a:t>
            </a:r>
            <a:r>
              <a:rPr lang="es-ES" sz="1400" dirty="0">
                <a:sym typeface="Wingdings" panose="05000000000000000000" pitchFamily="2" charset="2"/>
              </a:rPr>
              <a:t>((</a:t>
            </a:r>
            <a:r>
              <a:rPr lang="es-ES" sz="1400" dirty="0" err="1">
                <a:sym typeface="Wingdings" panose="05000000000000000000" pitchFamily="2" charset="2"/>
              </a:rPr>
              <a:t>x,y,z</a:t>
            </a:r>
            <a:r>
              <a:rPr lang="es-ES" sz="1400" dirty="0">
                <a:sym typeface="Wingdings" panose="05000000000000000000" pitchFamily="2" charset="2"/>
              </a:rPr>
              <a:t>))</a:t>
            </a:r>
          </a:p>
          <a:p>
            <a:r>
              <a:rPr lang="es-ES" sz="1400" dirty="0" err="1">
                <a:sym typeface="Wingdings" panose="05000000000000000000" pitchFamily="2" charset="2"/>
              </a:rPr>
              <a:t>print</a:t>
            </a:r>
            <a:r>
              <a:rPr lang="es-ES" sz="1400" dirty="0">
                <a:sym typeface="Wingdings" panose="05000000000000000000" pitchFamily="2" charset="2"/>
              </a:rPr>
              <a:t>(c)</a:t>
            </a:r>
          </a:p>
          <a:p>
            <a:r>
              <a:rPr lang="es-ES" sz="1400" dirty="0">
                <a:sym typeface="Wingdings" panose="05000000000000000000" pitchFamily="2" charset="2"/>
              </a:rPr>
              <a:t>[11 22 18  7  6  1  3  5</a:t>
            </a:r>
            <a:r>
              <a:rPr lang="es-ES" sz="1400" dirty="0" smtClean="0">
                <a:sym typeface="Wingdings" panose="05000000000000000000" pitchFamily="2" charset="2"/>
              </a:rPr>
              <a:t>]</a:t>
            </a:r>
          </a:p>
          <a:p>
            <a:endParaRPr lang="es-ES" sz="1400" dirty="0">
              <a:sym typeface="Wingdings" panose="05000000000000000000" pitchFamily="2" charset="2"/>
            </a:endParaRPr>
          </a:p>
          <a:p>
            <a:r>
              <a:rPr lang="es-ES" sz="1400" dirty="0" smtClean="0">
                <a:solidFill>
                  <a:srgbClr val="FF0000"/>
                </a:solidFill>
                <a:sym typeface="Wingdings" panose="05000000000000000000" pitchFamily="2" charset="2"/>
              </a:rPr>
              <a:t>OJO QUE ESTO ES DIFERENTE CON RESPECTO A  UNA LISTA!!</a:t>
            </a:r>
          </a:p>
          <a:p>
            <a:endParaRPr lang="es-ES" sz="14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a:sym typeface="Wingdings" panose="05000000000000000000" pitchFamily="2" charset="2"/>
              </a:rPr>
              <a:t>Matrices</a:t>
            </a:r>
            <a:r>
              <a:rPr lang="es-ES" dirty="0" smtClean="0">
                <a:sym typeface="Wingdings" panose="05000000000000000000" pitchFamily="2" charset="2"/>
              </a:rPr>
              <a:t>:</a:t>
            </a:r>
          </a:p>
          <a:p>
            <a:endParaRPr lang="es-ES" dirty="0">
              <a:sym typeface="Wingdings" panose="05000000000000000000" pitchFamily="2" charset="2"/>
            </a:endParaRPr>
          </a:p>
          <a:p>
            <a:r>
              <a:rPr lang="es-ES" sz="1600" dirty="0">
                <a:sym typeface="Wingdings" panose="05000000000000000000" pitchFamily="2" charset="2"/>
              </a:rPr>
              <a:t>&gt;&gt;&gt; x = </a:t>
            </a:r>
            <a:r>
              <a:rPr lang="es-ES" sz="1600" dirty="0" err="1">
                <a:sym typeface="Wingdings" panose="05000000000000000000" pitchFamily="2" charset="2"/>
              </a:rPr>
              <a:t>np.array</a:t>
            </a:r>
            <a:r>
              <a:rPr lang="es-ES" sz="1600" dirty="0">
                <a:sym typeface="Wingdings" panose="05000000000000000000" pitchFamily="2" charset="2"/>
              </a:rPr>
              <a:t>( ((2,3), (3, 5)) )</a:t>
            </a:r>
          </a:p>
          <a:p>
            <a:r>
              <a:rPr lang="es-ES" sz="1600" dirty="0">
                <a:sym typeface="Wingdings" panose="05000000000000000000" pitchFamily="2" charset="2"/>
              </a:rPr>
              <a:t>&gt;&gt;&gt; y = </a:t>
            </a:r>
            <a:r>
              <a:rPr lang="es-ES" sz="1600" dirty="0" err="1">
                <a:sym typeface="Wingdings" panose="05000000000000000000" pitchFamily="2" charset="2"/>
              </a:rPr>
              <a:t>np.matrix</a:t>
            </a:r>
            <a:r>
              <a:rPr lang="es-ES" sz="1600" dirty="0">
                <a:sym typeface="Wingdings" panose="05000000000000000000" pitchFamily="2" charset="2"/>
              </a:rPr>
              <a:t>( ((1,2), (5, -1)) </a:t>
            </a:r>
            <a:r>
              <a:rPr lang="es-ES" sz="1600" dirty="0" smtClean="0">
                <a:sym typeface="Wingdings" panose="05000000000000000000" pitchFamily="2" charset="2"/>
              </a:rPr>
              <a:t>) </a:t>
            </a:r>
            <a:r>
              <a:rPr lang="es-ES" sz="1600" dirty="0" smtClean="0">
                <a:solidFill>
                  <a:srgbClr val="00B0F0"/>
                </a:solidFill>
                <a:sym typeface="Wingdings" panose="05000000000000000000" pitchFamily="2" charset="2"/>
              </a:rPr>
              <a:t># clase matriz</a:t>
            </a:r>
            <a:endParaRPr lang="es-ES" sz="1600" dirty="0">
              <a:solidFill>
                <a:srgbClr val="00B0F0"/>
              </a:solidFill>
              <a:sym typeface="Wingdings" panose="05000000000000000000" pitchFamily="2" charset="2"/>
            </a:endParaRPr>
          </a:p>
          <a:p>
            <a:r>
              <a:rPr lang="es-ES" sz="1600" dirty="0">
                <a:sym typeface="Wingdings" panose="05000000000000000000" pitchFamily="2" charset="2"/>
              </a:rPr>
              <a:t>&gt;&gt;&gt; np.dot(</a:t>
            </a:r>
            <a:r>
              <a:rPr lang="es-ES" sz="1600" dirty="0" err="1">
                <a:sym typeface="Wingdings" panose="05000000000000000000" pitchFamily="2" charset="2"/>
              </a:rPr>
              <a:t>x,y</a:t>
            </a:r>
            <a:r>
              <a:rPr lang="es-ES" sz="1600" dirty="0" smtClean="0">
                <a:sym typeface="Wingdings" panose="05000000000000000000" pitchFamily="2" charset="2"/>
              </a:rPr>
              <a:t>) </a:t>
            </a:r>
            <a:r>
              <a:rPr lang="es-ES" sz="1600" dirty="0" smtClean="0">
                <a:solidFill>
                  <a:srgbClr val="00B0F0"/>
                </a:solidFill>
                <a:sym typeface="Wingdings" panose="05000000000000000000" pitchFamily="2" charset="2"/>
              </a:rPr>
              <a:t># porque x es un </a:t>
            </a:r>
            <a:r>
              <a:rPr lang="es-ES" sz="1600" dirty="0" err="1" smtClean="0">
                <a:solidFill>
                  <a:srgbClr val="00B0F0"/>
                </a:solidFill>
                <a:sym typeface="Wingdings" panose="05000000000000000000" pitchFamily="2" charset="2"/>
              </a:rPr>
              <a:t>arrary</a:t>
            </a:r>
            <a:endParaRPr lang="es-ES" sz="1600" dirty="0">
              <a:solidFill>
                <a:srgbClr val="00B0F0"/>
              </a:solidFill>
              <a:sym typeface="Wingdings" panose="05000000000000000000" pitchFamily="2" charset="2"/>
            </a:endParaRPr>
          </a:p>
          <a:p>
            <a:r>
              <a:rPr lang="es-ES" sz="1600" dirty="0" err="1">
                <a:solidFill>
                  <a:srgbClr val="00B0F0"/>
                </a:solidFill>
                <a:sym typeface="Wingdings" panose="05000000000000000000" pitchFamily="2" charset="2"/>
              </a:rPr>
              <a:t>matrix</a:t>
            </a:r>
            <a:r>
              <a:rPr lang="es-ES" sz="1600" dirty="0">
                <a:solidFill>
                  <a:srgbClr val="00B0F0"/>
                </a:solidFill>
                <a:sym typeface="Wingdings" panose="05000000000000000000" pitchFamily="2" charset="2"/>
              </a:rPr>
              <a:t>([[17,  1],</a:t>
            </a:r>
          </a:p>
          <a:p>
            <a:r>
              <a:rPr lang="es-ES" sz="1600" dirty="0">
                <a:sym typeface="Wingdings" panose="05000000000000000000" pitchFamily="2" charset="2"/>
              </a:rPr>
              <a:t>        [28,  1]])</a:t>
            </a:r>
          </a:p>
          <a:p>
            <a:endParaRPr lang="es-ES" sz="1400" dirty="0" smtClean="0">
              <a:solidFill>
                <a:srgbClr val="FF0000"/>
              </a:solidFill>
              <a:sym typeface="Wingdings" panose="05000000000000000000" pitchFamily="2" charset="2"/>
            </a:endParaRPr>
          </a:p>
          <a:p>
            <a:r>
              <a:rPr lang="fr-FR" sz="1400" dirty="0">
                <a:sym typeface="Wingdings" panose="05000000000000000000" pitchFamily="2" charset="2"/>
              </a:rPr>
              <a:t>&gt;&gt;&gt; </a:t>
            </a:r>
            <a:r>
              <a:rPr lang="fr-FR" sz="1400" dirty="0" err="1">
                <a:sym typeface="Wingdings" panose="05000000000000000000" pitchFamily="2" charset="2"/>
              </a:rPr>
              <a:t>np.mat</a:t>
            </a:r>
            <a:r>
              <a:rPr lang="fr-FR" sz="1400" dirty="0">
                <a:sym typeface="Wingdings" panose="05000000000000000000" pitchFamily="2" charset="2"/>
              </a:rPr>
              <a:t>(x) * </a:t>
            </a:r>
            <a:r>
              <a:rPr lang="fr-FR" sz="1400" dirty="0" err="1">
                <a:sym typeface="Wingdings" panose="05000000000000000000" pitchFamily="2" charset="2"/>
              </a:rPr>
              <a:t>np.mat</a:t>
            </a:r>
            <a:r>
              <a:rPr lang="fr-FR" sz="1400" dirty="0">
                <a:sym typeface="Wingdings" panose="05000000000000000000" pitchFamily="2" charset="2"/>
              </a:rPr>
              <a:t>(y</a:t>
            </a:r>
            <a:r>
              <a:rPr lang="fr-FR" sz="1400" dirty="0" smtClean="0">
                <a:sym typeface="Wingdings" panose="05000000000000000000" pitchFamily="2" charset="2"/>
              </a:rPr>
              <a:t>) </a:t>
            </a:r>
            <a:r>
              <a:rPr lang="fr-FR" sz="1400" dirty="0" smtClean="0">
                <a:solidFill>
                  <a:srgbClr val="00B0F0"/>
                </a:solidFill>
                <a:sym typeface="Wingdings" panose="05000000000000000000" pitchFamily="2" charset="2"/>
              </a:rPr>
              <a:t># </a:t>
            </a:r>
            <a:r>
              <a:rPr lang="fr-FR" sz="1400" dirty="0" err="1" smtClean="0">
                <a:solidFill>
                  <a:srgbClr val="00B0F0"/>
                </a:solidFill>
                <a:sym typeface="Wingdings" panose="05000000000000000000" pitchFamily="2" charset="2"/>
              </a:rPr>
              <a:t>hacemos</a:t>
            </a:r>
            <a:r>
              <a:rPr lang="fr-FR" sz="1400" dirty="0" smtClean="0">
                <a:solidFill>
                  <a:srgbClr val="00B0F0"/>
                </a:solidFill>
                <a:sym typeface="Wingdings" panose="05000000000000000000" pitchFamily="2" charset="2"/>
              </a:rPr>
              <a:t> la </a:t>
            </a:r>
            <a:r>
              <a:rPr lang="fr-FR" sz="1400" dirty="0" err="1" smtClean="0">
                <a:solidFill>
                  <a:srgbClr val="00B0F0"/>
                </a:solidFill>
                <a:sym typeface="Wingdings" panose="05000000000000000000" pitchFamily="2" charset="2"/>
              </a:rPr>
              <a:t>conversión</a:t>
            </a:r>
            <a:r>
              <a:rPr lang="fr-FR" sz="1400" dirty="0" smtClean="0">
                <a:solidFill>
                  <a:srgbClr val="00B0F0"/>
                </a:solidFill>
                <a:sym typeface="Wingdings" panose="05000000000000000000" pitchFamily="2" charset="2"/>
              </a:rPr>
              <a:t> en matrices</a:t>
            </a:r>
            <a:endParaRPr lang="fr-FR" sz="1400" dirty="0">
              <a:solidFill>
                <a:srgbClr val="00B0F0"/>
              </a:solidFill>
              <a:sym typeface="Wingdings" panose="05000000000000000000" pitchFamily="2" charset="2"/>
            </a:endParaRPr>
          </a:p>
          <a:p>
            <a:r>
              <a:rPr lang="fr-FR" sz="1400" dirty="0">
                <a:sym typeface="Wingdings" panose="05000000000000000000" pitchFamily="2" charset="2"/>
              </a:rPr>
              <a:t>matrix([[17,  1],</a:t>
            </a:r>
          </a:p>
          <a:p>
            <a:r>
              <a:rPr lang="fr-FR" sz="1400" dirty="0">
                <a:sym typeface="Wingdings" panose="05000000000000000000" pitchFamily="2" charset="2"/>
              </a:rPr>
              <a:t>        [28,  1]])</a:t>
            </a:r>
            <a:endParaRPr lang="es-ES" sz="1400" dirty="0" smtClean="0">
              <a:sym typeface="Wingdings" panose="05000000000000000000" pitchFamily="2" charset="2"/>
            </a:endParaRPr>
          </a:p>
          <a:p>
            <a:endParaRPr lang="es-ES" dirty="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spTree>
    <p:extLst>
      <p:ext uri="{BB962C8B-B14F-4D97-AF65-F5344CB8AC3E}">
        <p14:creationId xmlns:p14="http://schemas.microsoft.com/office/powerpoint/2010/main" val="19450480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3" y="1130765"/>
            <a:ext cx="8981822" cy="5355312"/>
          </a:xfrm>
          <a:prstGeom prst="rect">
            <a:avLst/>
          </a:prstGeom>
        </p:spPr>
        <p:txBody>
          <a:bodyPr wrap="square">
            <a:spAutoFit/>
          </a:bodyPr>
          <a:lstStyle/>
          <a:p>
            <a:r>
              <a:rPr lang="es-ES" b="1" u="sng" dirty="0" smtClean="0"/>
              <a:t>PAQUETE MATPLOTLIB</a:t>
            </a:r>
          </a:p>
          <a:p>
            <a:endParaRPr lang="es-ES" dirty="0" smtClean="0">
              <a:sym typeface="Wingdings" panose="05000000000000000000" pitchFamily="2" charset="2"/>
            </a:endParaRPr>
          </a:p>
          <a:p>
            <a:r>
              <a:rPr lang="es-ES" dirty="0" smtClean="0">
                <a:sym typeface="Wingdings" panose="05000000000000000000" pitchFamily="2" charset="2"/>
              </a:rPr>
              <a:t>Paquete muy potente para realizar graficas (solo vamos a ver algunas pinceladas, esto daría para otro curso completo)</a:t>
            </a:r>
            <a:endParaRPr lang="es-ES" dirty="0">
              <a:sym typeface="Wingdings" panose="05000000000000000000" pitchFamily="2" charset="2"/>
            </a:endParaRPr>
          </a:p>
          <a:p>
            <a:endParaRPr lang="es-ES" dirty="0" smtClean="0"/>
          </a:p>
          <a:p>
            <a:r>
              <a:rPr lang="es-ES" dirty="0">
                <a:hlinkClick r:id="rId2"/>
              </a:rPr>
              <a:t>http://matplotlib.org</a:t>
            </a:r>
            <a:r>
              <a:rPr lang="es-ES" dirty="0" smtClean="0">
                <a:hlinkClick r:id="rId2"/>
              </a:rPr>
              <a:t>/</a:t>
            </a:r>
            <a:endParaRPr lang="es-ES" dirty="0" smtClean="0"/>
          </a:p>
          <a:p>
            <a:endParaRPr lang="es-ES" dirty="0"/>
          </a:p>
          <a:p>
            <a:pPr marL="285750" indent="-285750">
              <a:buFont typeface="Wingdings" panose="05000000000000000000" pitchFamily="2" charset="2"/>
              <a:buChar char="à"/>
            </a:pPr>
            <a:r>
              <a:rPr lang="es-ES" dirty="0" smtClean="0">
                <a:sym typeface="Wingdings" panose="05000000000000000000" pitchFamily="2" charset="2"/>
              </a:rPr>
              <a:t>La documentación no es muy buena, más bien liosa. La forma más sencilla es encontrar un ejemplo de la gráfica que queremos realizar e intentar modificar el código a nuestro problema.</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grafica_1.py</a:t>
            </a:r>
            <a:r>
              <a:rPr lang="es-ES" dirty="0" smtClean="0">
                <a:solidFill>
                  <a:srgbClr val="FF0000"/>
                </a:solidFill>
              </a:rPr>
              <a:t> </a:t>
            </a:r>
          </a:p>
          <a:p>
            <a:pPr marL="285750" indent="-285750">
              <a:buFont typeface="Wingdings" panose="05000000000000000000" pitchFamily="2" charset="2"/>
              <a:buChar char="à"/>
            </a:pPr>
            <a:endParaRPr lang="es-ES" dirty="0">
              <a:solidFill>
                <a:srgbClr val="FF0000"/>
              </a:solidFill>
            </a:endParaRPr>
          </a:p>
          <a:p>
            <a:r>
              <a:rPr lang="es-ES" dirty="0" smtClean="0"/>
              <a:t>Enlace para ver marcadores y colores disponibles</a:t>
            </a:r>
          </a:p>
          <a:p>
            <a:r>
              <a:rPr lang="es-ES" dirty="0">
                <a:hlinkClick r:id="rId3"/>
              </a:rPr>
              <a:t>http://</a:t>
            </a:r>
            <a:r>
              <a:rPr lang="es-ES" dirty="0" smtClean="0">
                <a:hlinkClick r:id="rId3"/>
              </a:rPr>
              <a:t>www.python-course.eu/matplotlib.php</a:t>
            </a:r>
            <a:endParaRPr lang="es-ES" dirty="0" smtClean="0"/>
          </a:p>
          <a:p>
            <a:endParaRPr lang="es-ES" dirty="0"/>
          </a:p>
          <a:p>
            <a:pPr marL="285750" indent="-285750">
              <a:buFont typeface="Wingdings" panose="05000000000000000000" pitchFamily="2" charset="2"/>
              <a:buChar char="à"/>
            </a:pPr>
            <a:r>
              <a:rPr lang="es-ES" b="1" dirty="0" smtClean="0">
                <a:solidFill>
                  <a:srgbClr val="FF0000"/>
                </a:solidFill>
                <a:sym typeface="Wingdings" panose="05000000000000000000" pitchFamily="2" charset="2"/>
              </a:rPr>
              <a:t>Abrir gráfica_2.py</a:t>
            </a:r>
          </a:p>
          <a:p>
            <a:pPr marL="285750" indent="-285750">
              <a:buFont typeface="Wingdings" panose="05000000000000000000" pitchFamily="2" charset="2"/>
              <a:buChar char="à"/>
            </a:pPr>
            <a:endParaRPr lang="es-ES" b="1" dirty="0">
              <a:solidFill>
                <a:srgbClr val="FF0000"/>
              </a:solidFill>
            </a:endParaRPr>
          </a:p>
          <a:p>
            <a:r>
              <a:rPr lang="es-ES" b="1" dirty="0" smtClean="0">
                <a:solidFill>
                  <a:srgbClr val="FF0000"/>
                </a:solidFill>
                <a:sym typeface="Wingdings" panose="05000000000000000000" pitchFamily="2" charset="2"/>
              </a:rPr>
              <a:t> Abrir gráfica_3.py</a:t>
            </a:r>
            <a:endParaRPr lang="es-ES" b="1" dirty="0">
              <a:solidFill>
                <a:srgbClr val="FF0000"/>
              </a:solidFill>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3812525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3" y="1130765"/>
            <a:ext cx="8981822" cy="2031325"/>
          </a:xfrm>
          <a:prstGeom prst="rect">
            <a:avLst/>
          </a:prstGeom>
        </p:spPr>
        <p:txBody>
          <a:bodyPr wrap="square">
            <a:spAutoFit/>
          </a:bodyPr>
          <a:lstStyle/>
          <a:p>
            <a:r>
              <a:rPr lang="es-ES" b="1" u="sng" dirty="0" smtClean="0"/>
              <a:t>SCIPY:</a:t>
            </a:r>
            <a:endParaRPr lang="es-ES" b="1" u="sng" dirty="0" smtClean="0"/>
          </a:p>
          <a:p>
            <a:endParaRPr lang="es-ES" dirty="0" smtClean="0">
              <a:sym typeface="Wingdings" panose="05000000000000000000" pitchFamily="2" charset="2"/>
            </a:endParaRPr>
          </a:p>
          <a:p>
            <a:r>
              <a:rPr lang="es-ES" dirty="0" smtClean="0">
                <a:sym typeface="Wingdings" panose="05000000000000000000" pitchFamily="2" charset="2"/>
              </a:rPr>
              <a:t>Colección de algoritmos y funciones matemáticas</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docs.scipy.org/doc/scipy-0.16.0/reference/tutorial/index.html</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868282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Índice</a:t>
            </a:r>
            <a:endParaRPr lang="es-ES" dirty="0"/>
          </a:p>
        </p:txBody>
      </p:sp>
      <p:sp>
        <p:nvSpPr>
          <p:cNvPr id="3" name="Marcador de contenido 2"/>
          <p:cNvSpPr>
            <a:spLocks noGrp="1"/>
          </p:cNvSpPr>
          <p:nvPr>
            <p:ph idx="1"/>
          </p:nvPr>
        </p:nvSpPr>
        <p:spPr>
          <a:xfrm>
            <a:off x="677334" y="1761341"/>
            <a:ext cx="8596668" cy="3880773"/>
          </a:xfrm>
        </p:spPr>
        <p:txBody>
          <a:bodyPr>
            <a:noAutofit/>
          </a:bodyPr>
          <a:lstStyle/>
          <a:p>
            <a:pPr marL="514350" indent="-514350">
              <a:buFont typeface="+mj-lt"/>
              <a:buAutoNum type="arabicParenR"/>
            </a:pPr>
            <a:r>
              <a:rPr lang="es-ES" sz="3200" dirty="0" smtClean="0"/>
              <a:t>Introducción al lenguaje de programación Python (2 días).</a:t>
            </a:r>
          </a:p>
          <a:p>
            <a:pPr marL="514350" indent="-514350">
              <a:buFont typeface="+mj-lt"/>
              <a:buAutoNum type="arabicParenR"/>
            </a:pPr>
            <a:r>
              <a:rPr lang="es-ES" sz="3200" dirty="0" smtClean="0"/>
              <a:t>Técnicas de optimización basadas en algoritmos evolutivos (1 día).</a:t>
            </a:r>
          </a:p>
          <a:p>
            <a:pPr marL="514350" indent="-514350">
              <a:buFont typeface="+mj-lt"/>
              <a:buAutoNum type="arabicParenR"/>
            </a:pPr>
            <a:r>
              <a:rPr lang="es-ES" sz="3200" dirty="0" smtClean="0"/>
              <a:t>Paquete de optimización DEAP (1 día).</a:t>
            </a:r>
          </a:p>
          <a:p>
            <a:pPr marL="514350" indent="-514350">
              <a:buFont typeface="+mj-lt"/>
              <a:buAutoNum type="arabicParenR"/>
            </a:pPr>
            <a:r>
              <a:rPr lang="es-ES" sz="3200" dirty="0" smtClean="0"/>
              <a:t>Ejemplos de problemas de optimización (1 día).</a:t>
            </a:r>
            <a:endParaRPr lang="es-ES" sz="3200" dirty="0"/>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7" name="Rectángulo 6"/>
          <p:cNvSpPr/>
          <p:nvPr/>
        </p:nvSpPr>
        <p:spPr>
          <a:xfrm>
            <a:off x="519911" y="3931624"/>
            <a:ext cx="8810363" cy="708338"/>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92974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Paquete de Python con el que podemos implementar algoritmos evolutivos. Ha sido desarrollado por </a:t>
            </a:r>
            <a:r>
              <a:rPr lang="en-US" dirty="0">
                <a:sym typeface="Wingdings" panose="05000000000000000000" pitchFamily="2" charset="2"/>
              </a:rPr>
              <a:t>Computer Vision and Systems Laboratory (CVSL) at </a:t>
            </a:r>
            <a:r>
              <a:rPr lang="en-US" dirty="0" err="1">
                <a:sym typeface="Wingdings" panose="05000000000000000000" pitchFamily="2" charset="2"/>
              </a:rPr>
              <a:t>Université</a:t>
            </a:r>
            <a:r>
              <a:rPr lang="en-US" dirty="0">
                <a:sym typeface="Wingdings" panose="05000000000000000000" pitchFamily="2" charset="2"/>
              </a:rPr>
              <a:t> Laval, </a:t>
            </a:r>
            <a:r>
              <a:rPr lang="en-US" dirty="0" smtClean="0">
                <a:sym typeface="Wingdings" panose="05000000000000000000" pitchFamily="2" charset="2"/>
              </a:rPr>
              <a:t>Quebec, Canada</a:t>
            </a:r>
            <a:r>
              <a:rPr lang="en-US" dirty="0">
                <a:sym typeface="Wingdings" panose="05000000000000000000" pitchFamily="2" charset="2"/>
              </a:rPr>
              <a:t> </a:t>
            </a:r>
            <a:r>
              <a:rPr lang="en-US" dirty="0" smtClean="0">
                <a:sym typeface="Wingdings" panose="05000000000000000000" pitchFamily="2" charset="2"/>
              </a:rPr>
              <a:t> Proyecto </a:t>
            </a:r>
            <a:r>
              <a:rPr lang="en-US" dirty="0" err="1" smtClean="0">
                <a:sym typeface="Wingdings" panose="05000000000000000000" pitchFamily="2" charset="2"/>
              </a:rPr>
              <a:t>activo</a:t>
            </a:r>
            <a:r>
              <a:rPr lang="en-US" dirty="0" smtClean="0">
                <a:sym typeface="Wingdings" panose="05000000000000000000" pitchFamily="2" charset="2"/>
              </a:rPr>
              <a:t>.</a:t>
            </a:r>
            <a:endParaRPr lang="es-ES" dirty="0" smtClean="0">
              <a:sym typeface="Wingdings" panose="05000000000000000000" pitchFamily="2" charset="2"/>
            </a:endParaRPr>
          </a:p>
          <a:p>
            <a:pPr marL="285750" indent="-285750">
              <a:buFont typeface="Wingdings" panose="05000000000000000000" pitchFamily="2" charset="2"/>
              <a:buChar char="à"/>
            </a:pPr>
            <a:endParaRPr lang="es-ES" dirty="0">
              <a:sym typeface="Wingdings" panose="05000000000000000000" pitchFamily="2" charset="2"/>
            </a:endParaRPr>
          </a:p>
          <a:p>
            <a:r>
              <a:rPr lang="es-ES" dirty="0" smtClean="0"/>
              <a:t>Algoritmos de optimización que podemos usar con DEAP:</a:t>
            </a:r>
          </a:p>
          <a:p>
            <a:pPr marL="285750" indent="-285750">
              <a:buFont typeface="Arial" panose="020B0604020202020204" pitchFamily="34" charset="0"/>
              <a:buChar char="•"/>
            </a:pPr>
            <a:r>
              <a:rPr lang="es-ES" dirty="0" smtClean="0"/>
              <a:t>Algoritmos genéticos (single </a:t>
            </a:r>
            <a:r>
              <a:rPr lang="es-ES" dirty="0" err="1" smtClean="0"/>
              <a:t>objective</a:t>
            </a:r>
            <a:r>
              <a:rPr lang="es-ES" dirty="0" smtClean="0"/>
              <a:t>)</a:t>
            </a:r>
          </a:p>
          <a:p>
            <a:endParaRPr lang="es-ES" dirty="0" smtClean="0"/>
          </a:p>
          <a:p>
            <a:pPr marL="285750" indent="-285750">
              <a:buFont typeface="Arial" panose="020B0604020202020204" pitchFamily="34" charset="0"/>
              <a:buChar char="•"/>
            </a:pPr>
            <a:r>
              <a:rPr lang="es-ES" dirty="0" smtClean="0"/>
              <a:t>Algoritmos genéticos </a:t>
            </a:r>
            <a:r>
              <a:rPr lang="es-ES" dirty="0" err="1" smtClean="0"/>
              <a:t>multi</a:t>
            </a:r>
            <a:r>
              <a:rPr lang="es-ES" dirty="0" smtClean="0"/>
              <a:t>-objetivos</a:t>
            </a:r>
          </a:p>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smtClean="0"/>
              <a:t>Programación genética</a:t>
            </a:r>
          </a:p>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err="1" smtClean="0"/>
              <a:t>Particle</a:t>
            </a:r>
            <a:r>
              <a:rPr lang="es-ES" dirty="0" smtClean="0"/>
              <a:t> </a:t>
            </a:r>
            <a:r>
              <a:rPr lang="es-ES" dirty="0" err="1" smtClean="0"/>
              <a:t>Swarm</a:t>
            </a:r>
            <a:r>
              <a:rPr lang="es-ES" dirty="0" smtClean="0"/>
              <a:t> </a:t>
            </a:r>
            <a:r>
              <a:rPr lang="es-ES" dirty="0" err="1" smtClean="0"/>
              <a:t>Optimization</a:t>
            </a:r>
            <a:endParaRPr lang="es-ES" dirty="0" smtClean="0"/>
          </a:p>
          <a:p>
            <a:endParaRPr lang="es-ES" dirty="0" smtClean="0">
              <a:sym typeface="Wingdings" panose="05000000000000000000" pitchFamily="2" charset="2"/>
            </a:endParaRPr>
          </a:p>
          <a:p>
            <a:r>
              <a:rPr lang="es-ES" b="1" u="sng" dirty="0" smtClean="0">
                <a:sym typeface="Wingdings" panose="05000000000000000000" pitchFamily="2" charset="2"/>
              </a:rPr>
              <a:t>Metodología:</a:t>
            </a:r>
            <a:r>
              <a:rPr lang="es-ES" dirty="0" smtClean="0">
                <a:sym typeface="Wingdings" panose="05000000000000000000" pitchFamily="2" charset="2"/>
              </a:rPr>
              <a:t> Vamos a realizar un aprendizaje basado en ejemplos.</a:t>
            </a:r>
          </a:p>
          <a:p>
            <a:endParaRPr lang="es-ES" b="1" u="sng" dirty="0" smtClean="0">
              <a:sym typeface="Wingdings" panose="05000000000000000000" pitchFamily="2" charset="2"/>
            </a:endParaRPr>
          </a:p>
          <a:p>
            <a:r>
              <a:rPr lang="es-ES" dirty="0" smtClean="0">
                <a:sym typeface="Wingdings" panose="05000000000000000000" pitchFamily="2" charset="2"/>
              </a:rPr>
              <a:t>VAMOS A EMPEZAR CON UN EJEMPLO SENCILLO, Y PASO A PASO VAMOS A VER TODOS LOS COMPONENTES QUE DEFINEN EL PROBLEMA DE OPTIMIZACIÓN</a:t>
            </a: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805282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1: </a:t>
            </a:r>
            <a:r>
              <a:rPr lang="es-ES" dirty="0" smtClean="0">
                <a:solidFill>
                  <a:srgbClr val="FF0000"/>
                </a:solidFill>
                <a:sym typeface="Wingdings" panose="05000000000000000000" pitchFamily="2" charset="2"/>
              </a:rPr>
              <a:t>Definir el “individuo” (solución potencial) y el tipo de problema</a:t>
            </a:r>
            <a:r>
              <a:rPr lang="es-ES" dirty="0" smtClean="0">
                <a:sym typeface="Wingdings" panose="05000000000000000000" pitchFamily="2" charset="2"/>
              </a:rPr>
              <a:t>. DEAP nos da mucha libertad para definir el tipo de individuo. En nuestro ejemplo es muy sencillo, necesitamos un lista  CLASE CREATOR</a:t>
            </a:r>
          </a:p>
          <a:p>
            <a:endParaRPr lang="es-ES" dirty="0">
              <a:sym typeface="Wingdings" panose="05000000000000000000" pitchFamily="2" charset="2"/>
            </a:endParaRPr>
          </a:p>
          <a:p>
            <a:r>
              <a:rPr lang="en-US" dirty="0">
                <a:sym typeface="Wingdings" panose="05000000000000000000" pitchFamily="2" charset="2"/>
              </a:rPr>
              <a:t>import </a:t>
            </a:r>
            <a:r>
              <a:rPr lang="en-US" dirty="0" smtClean="0">
                <a:sym typeface="Wingdings" panose="05000000000000000000" pitchFamily="2" charset="2"/>
              </a:rPr>
              <a:t>random</a:t>
            </a:r>
            <a:endParaRPr lang="en-US" dirty="0">
              <a:sym typeface="Wingdings" panose="05000000000000000000" pitchFamily="2" charset="2"/>
            </a:endParaRPr>
          </a:p>
          <a:p>
            <a:r>
              <a:rPr lang="en-US" dirty="0">
                <a:sym typeface="Wingdings" panose="05000000000000000000" pitchFamily="2" charset="2"/>
              </a:rPr>
              <a:t>from </a:t>
            </a:r>
            <a:r>
              <a:rPr lang="en-US" dirty="0" err="1">
                <a:sym typeface="Wingdings" panose="05000000000000000000" pitchFamily="2" charset="2"/>
              </a:rPr>
              <a:t>deap</a:t>
            </a:r>
            <a:r>
              <a:rPr lang="en-US" dirty="0">
                <a:sym typeface="Wingdings" panose="05000000000000000000" pitchFamily="2" charset="2"/>
              </a:rPr>
              <a:t> import base</a:t>
            </a:r>
          </a:p>
          <a:p>
            <a:r>
              <a:rPr lang="en-US" dirty="0">
                <a:sym typeface="Wingdings" panose="05000000000000000000" pitchFamily="2" charset="2"/>
              </a:rPr>
              <a:t>from </a:t>
            </a:r>
            <a:r>
              <a:rPr lang="en-US" dirty="0" err="1">
                <a:sym typeface="Wingdings" panose="05000000000000000000" pitchFamily="2" charset="2"/>
              </a:rPr>
              <a:t>deap</a:t>
            </a:r>
            <a:r>
              <a:rPr lang="en-US" dirty="0">
                <a:sym typeface="Wingdings" panose="05000000000000000000" pitchFamily="2" charset="2"/>
              </a:rPr>
              <a:t> import creator</a:t>
            </a:r>
          </a:p>
          <a:p>
            <a:r>
              <a:rPr lang="en-US" dirty="0">
                <a:sym typeface="Wingdings" panose="05000000000000000000" pitchFamily="2" charset="2"/>
              </a:rPr>
              <a:t>from </a:t>
            </a:r>
            <a:r>
              <a:rPr lang="en-US" dirty="0" err="1">
                <a:sym typeface="Wingdings" panose="05000000000000000000" pitchFamily="2" charset="2"/>
              </a:rPr>
              <a:t>deap</a:t>
            </a:r>
            <a:r>
              <a:rPr lang="en-US" dirty="0">
                <a:sym typeface="Wingdings" panose="05000000000000000000" pitchFamily="2" charset="2"/>
              </a:rPr>
              <a:t> import </a:t>
            </a:r>
            <a:r>
              <a:rPr lang="en-US" dirty="0" smtClean="0">
                <a:sym typeface="Wingdings" panose="05000000000000000000" pitchFamily="2" charset="2"/>
              </a:rPr>
              <a:t>tools</a:t>
            </a:r>
          </a:p>
          <a:p>
            <a:endParaRPr lang="en-US" dirty="0">
              <a:sym typeface="Wingdings" panose="05000000000000000000" pitchFamily="2" charset="2"/>
            </a:endParaRPr>
          </a:p>
          <a:p>
            <a:r>
              <a:rPr lang="en-US" dirty="0" err="1">
                <a:sym typeface="Wingdings" panose="05000000000000000000" pitchFamily="2" charset="2"/>
              </a:rPr>
              <a:t>creator.create</a:t>
            </a:r>
            <a:r>
              <a:rPr lang="en-US" dirty="0">
                <a:sym typeface="Wingdings" panose="05000000000000000000" pitchFamily="2" charset="2"/>
              </a:rPr>
              <a:t>("</a:t>
            </a:r>
            <a:r>
              <a:rPr lang="en-US" dirty="0" err="1">
                <a:sym typeface="Wingdings" panose="05000000000000000000" pitchFamily="2" charset="2"/>
              </a:rPr>
              <a:t>FitnessMax</a:t>
            </a:r>
            <a:r>
              <a:rPr lang="en-US" dirty="0">
                <a:sym typeface="Wingdings" panose="05000000000000000000" pitchFamily="2" charset="2"/>
              </a:rPr>
              <a:t>", </a:t>
            </a:r>
            <a:r>
              <a:rPr lang="en-US" dirty="0" err="1">
                <a:sym typeface="Wingdings" panose="05000000000000000000" pitchFamily="2" charset="2"/>
              </a:rPr>
              <a:t>base.Fitness</a:t>
            </a:r>
            <a:r>
              <a:rPr lang="en-US" dirty="0">
                <a:sym typeface="Wingdings" panose="05000000000000000000" pitchFamily="2" charset="2"/>
              </a:rPr>
              <a:t>, weights=(1.0</a:t>
            </a:r>
            <a:r>
              <a:rPr lang="en-US" dirty="0" smtClean="0">
                <a:sym typeface="Wingdings" panose="05000000000000000000" pitchFamily="2" charset="2"/>
              </a:rPr>
              <a:t>,)) </a:t>
            </a:r>
            <a:r>
              <a:rPr lang="en-US" dirty="0" smtClean="0">
                <a:solidFill>
                  <a:srgbClr val="0070C0"/>
                </a:solidFill>
                <a:sym typeface="Wingdings" panose="05000000000000000000" pitchFamily="2" charset="2"/>
              </a:rPr>
              <a:t># maximizer, single objective</a:t>
            </a:r>
          </a:p>
          <a:p>
            <a:endParaRPr lang="en-US" dirty="0">
              <a:sym typeface="Wingdings" panose="05000000000000000000" pitchFamily="2" charset="2"/>
            </a:endParaRPr>
          </a:p>
          <a:p>
            <a:r>
              <a:rPr lang="en-US" dirty="0" err="1">
                <a:sym typeface="Wingdings" panose="05000000000000000000" pitchFamily="2" charset="2"/>
              </a:rPr>
              <a:t>creator.create</a:t>
            </a:r>
            <a:r>
              <a:rPr lang="en-US" dirty="0">
                <a:sym typeface="Wingdings" panose="05000000000000000000" pitchFamily="2" charset="2"/>
              </a:rPr>
              <a:t>("Individual", list, fitness=</a:t>
            </a:r>
            <a:r>
              <a:rPr lang="en-US" dirty="0" err="1">
                <a:sym typeface="Wingdings" panose="05000000000000000000" pitchFamily="2" charset="2"/>
              </a:rPr>
              <a:t>creator.FitnessMax</a:t>
            </a:r>
            <a:r>
              <a:rPr lang="en-US" dirty="0" smtClean="0">
                <a:sym typeface="Wingdings" panose="05000000000000000000" pitchFamily="2" charset="2"/>
              </a:rPr>
              <a:t>) </a:t>
            </a:r>
            <a:r>
              <a:rPr lang="en-US" dirty="0" smtClean="0">
                <a:solidFill>
                  <a:srgbClr val="0070C0"/>
                </a:solidFill>
                <a:sym typeface="Wingdings" panose="05000000000000000000" pitchFamily="2" charset="2"/>
              </a:rPr>
              <a:t># </a:t>
            </a:r>
            <a:r>
              <a:rPr lang="en-US" dirty="0" err="1" smtClean="0">
                <a:solidFill>
                  <a:srgbClr val="0070C0"/>
                </a:solidFill>
                <a:sym typeface="Wingdings" panose="05000000000000000000" pitchFamily="2" charset="2"/>
              </a:rPr>
              <a:t>creamos</a:t>
            </a:r>
            <a:r>
              <a:rPr lang="en-US" dirty="0" smtClean="0">
                <a:solidFill>
                  <a:srgbClr val="0070C0"/>
                </a:solidFill>
                <a:sym typeface="Wingdings" panose="05000000000000000000" pitchFamily="2" charset="2"/>
              </a:rPr>
              <a:t> el </a:t>
            </a:r>
            <a:r>
              <a:rPr lang="en-US" dirty="0" err="1" smtClean="0">
                <a:solidFill>
                  <a:srgbClr val="0070C0"/>
                </a:solidFill>
                <a:sym typeface="Wingdings" panose="05000000000000000000" pitchFamily="2" charset="2"/>
              </a:rPr>
              <a:t>individuo</a:t>
            </a:r>
            <a:endParaRPr lang="es-ES" dirty="0">
              <a:solidFill>
                <a:srgbClr val="0070C0"/>
              </a:solidFill>
              <a:sym typeface="Wingdings" panose="05000000000000000000" pitchFamily="2" charset="2"/>
            </a:endParaRP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02715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2: </a:t>
            </a:r>
            <a:r>
              <a:rPr lang="es-ES" dirty="0" smtClean="0">
                <a:solidFill>
                  <a:srgbClr val="FF0000"/>
                </a:solidFill>
                <a:sym typeface="Wingdings" panose="05000000000000000000" pitchFamily="2" charset="2"/>
              </a:rPr>
              <a:t>Definición de funciones de inicialización del individuo y de la población</a:t>
            </a:r>
            <a:r>
              <a:rPr lang="es-ES" dirty="0" smtClean="0">
                <a:sym typeface="Wingdings" panose="05000000000000000000" pitchFamily="2" charset="2"/>
              </a:rPr>
              <a:t>. Necesitamos partir de una población inicial (Aleatoria).</a:t>
            </a:r>
          </a:p>
          <a:p>
            <a:pPr marL="285750" indent="-285750">
              <a:buFont typeface="Wingdings" panose="05000000000000000000" pitchFamily="2" charset="2"/>
              <a:buChar char="à"/>
            </a:pPr>
            <a:r>
              <a:rPr lang="es-ES" dirty="0" smtClean="0">
                <a:sym typeface="Wingdings" panose="05000000000000000000" pitchFamily="2" charset="2"/>
              </a:rPr>
              <a:t>La clase </a:t>
            </a:r>
            <a:r>
              <a:rPr lang="es-ES" dirty="0" err="1" smtClean="0">
                <a:sym typeface="Wingdings" panose="05000000000000000000" pitchFamily="2" charset="2"/>
              </a:rPr>
              <a:t>Toolbox</a:t>
            </a:r>
            <a:r>
              <a:rPr lang="es-ES" dirty="0" smtClean="0">
                <a:sym typeface="Wingdings" panose="05000000000000000000" pitchFamily="2" charset="2"/>
              </a:rPr>
              <a:t> nos permite registrar funciones</a:t>
            </a:r>
          </a:p>
          <a:p>
            <a:pPr marL="285750" indent="-285750">
              <a:buFont typeface="Wingdings" panose="05000000000000000000" pitchFamily="2" charset="2"/>
              <a:buChar char="à"/>
            </a:pPr>
            <a:r>
              <a:rPr lang="es-ES" dirty="0" err="1" smtClean="0">
                <a:sym typeface="Wingdings" panose="05000000000000000000" pitchFamily="2" charset="2"/>
              </a:rPr>
              <a:t>toolbox.register</a:t>
            </a:r>
            <a:r>
              <a:rPr lang="es-ES" dirty="0" smtClean="0">
                <a:sym typeface="Wingdings" panose="05000000000000000000" pitchFamily="2" charset="2"/>
              </a:rPr>
              <a:t>(“alias”, función, atributos)</a:t>
            </a:r>
          </a:p>
          <a:p>
            <a:endParaRPr lang="es-ES" dirty="0" smtClean="0">
              <a:sym typeface="Wingdings" panose="05000000000000000000" pitchFamily="2" charset="2"/>
            </a:endParaRPr>
          </a:p>
          <a:p>
            <a:r>
              <a:rPr lang="es-ES" dirty="0" err="1">
                <a:sym typeface="Wingdings" panose="05000000000000000000" pitchFamily="2" charset="2"/>
              </a:rPr>
              <a:t>toolbox</a:t>
            </a:r>
            <a:r>
              <a:rPr lang="es-ES" dirty="0">
                <a:sym typeface="Wingdings" panose="05000000000000000000" pitchFamily="2" charset="2"/>
              </a:rPr>
              <a:t> = </a:t>
            </a:r>
            <a:r>
              <a:rPr lang="es-ES" dirty="0" err="1">
                <a:sym typeface="Wingdings" panose="05000000000000000000" pitchFamily="2" charset="2"/>
              </a:rPr>
              <a:t>base.Toolbox</a:t>
            </a:r>
            <a:r>
              <a:rPr lang="es-ES" dirty="0" smtClean="0">
                <a:sym typeface="Wingdings" panose="05000000000000000000" pitchFamily="2" charset="2"/>
              </a:rPr>
              <a:t>() </a:t>
            </a:r>
            <a:endParaRPr lang="es-ES" dirty="0">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Attribute</a:t>
            </a:r>
            <a:r>
              <a:rPr lang="es-ES" dirty="0">
                <a:sym typeface="Wingdings" panose="05000000000000000000" pitchFamily="2" charset="2"/>
              </a:rPr>
              <a:t> </a:t>
            </a:r>
            <a:r>
              <a:rPr lang="es-ES" dirty="0" err="1">
                <a:sym typeface="Wingdings" panose="05000000000000000000" pitchFamily="2" charset="2"/>
              </a:rPr>
              <a:t>generator</a:t>
            </a:r>
            <a:endParaRPr lang="es-ES" dirty="0">
              <a:sym typeface="Wingdings" panose="05000000000000000000" pitchFamily="2" charset="2"/>
            </a:endParaRPr>
          </a:p>
          <a:p>
            <a:r>
              <a:rPr lang="es-ES" dirty="0" err="1">
                <a:sym typeface="Wingdings" panose="05000000000000000000" pitchFamily="2" charset="2"/>
              </a:rPr>
              <a:t>toolbox.register</a:t>
            </a:r>
            <a:r>
              <a:rPr lang="es-ES" dirty="0">
                <a:sym typeface="Wingdings" panose="05000000000000000000" pitchFamily="2" charset="2"/>
              </a:rPr>
              <a:t>("</a:t>
            </a:r>
            <a:r>
              <a:rPr lang="es-ES" dirty="0" err="1">
                <a:sym typeface="Wingdings" panose="05000000000000000000" pitchFamily="2" charset="2"/>
              </a:rPr>
              <a:t>attr_bool</a:t>
            </a:r>
            <a:r>
              <a:rPr lang="es-ES" dirty="0">
                <a:sym typeface="Wingdings" panose="05000000000000000000" pitchFamily="2" charset="2"/>
              </a:rPr>
              <a:t>", </a:t>
            </a:r>
            <a:r>
              <a:rPr lang="es-ES" dirty="0" err="1">
                <a:sym typeface="Wingdings" panose="05000000000000000000" pitchFamily="2" charset="2"/>
              </a:rPr>
              <a:t>random.randint</a:t>
            </a:r>
            <a:r>
              <a:rPr lang="es-ES" dirty="0">
                <a:sym typeface="Wingdings" panose="05000000000000000000" pitchFamily="2" charset="2"/>
              </a:rPr>
              <a:t>, 0, 1</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números aleatorios (0, 1)</a:t>
            </a:r>
            <a:endParaRPr lang="es-ES" dirty="0">
              <a:solidFill>
                <a:srgbClr val="0070C0"/>
              </a:solidFill>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Structure</a:t>
            </a:r>
            <a:r>
              <a:rPr lang="es-ES" dirty="0">
                <a:sym typeface="Wingdings" panose="05000000000000000000" pitchFamily="2" charset="2"/>
              </a:rPr>
              <a:t> </a:t>
            </a:r>
            <a:r>
              <a:rPr lang="es-ES" dirty="0" err="1">
                <a:sym typeface="Wingdings" panose="05000000000000000000" pitchFamily="2" charset="2"/>
              </a:rPr>
              <a:t>initializers</a:t>
            </a:r>
            <a:endParaRPr lang="es-ES" dirty="0">
              <a:sym typeface="Wingdings" panose="05000000000000000000" pitchFamily="2" charset="2"/>
            </a:endParaRPr>
          </a:p>
          <a:p>
            <a:r>
              <a:rPr lang="es-ES" dirty="0" err="1">
                <a:sym typeface="Wingdings" panose="05000000000000000000" pitchFamily="2" charset="2"/>
              </a:rPr>
              <a:t>toolbox.register</a:t>
            </a:r>
            <a:r>
              <a:rPr lang="es-ES" dirty="0">
                <a:sym typeface="Wingdings" panose="05000000000000000000" pitchFamily="2" charset="2"/>
              </a:rPr>
              <a:t>("individual", </a:t>
            </a:r>
            <a:r>
              <a:rPr lang="es-ES" dirty="0" err="1">
                <a:sym typeface="Wingdings" panose="05000000000000000000" pitchFamily="2" charset="2"/>
              </a:rPr>
              <a:t>tools.initRepeat</a:t>
            </a:r>
            <a:r>
              <a:rPr lang="es-ES" dirty="0">
                <a:sym typeface="Wingdings" panose="05000000000000000000" pitchFamily="2" charset="2"/>
              </a:rPr>
              <a:t>, </a:t>
            </a:r>
            <a:r>
              <a:rPr lang="es-ES" dirty="0" err="1">
                <a:sym typeface="Wingdings" panose="05000000000000000000" pitchFamily="2" charset="2"/>
              </a:rPr>
              <a:t>creator.Individual</a:t>
            </a:r>
            <a:r>
              <a:rPr lang="es-ES" dirty="0">
                <a:sym typeface="Wingdings" panose="05000000000000000000" pitchFamily="2" charset="2"/>
              </a:rPr>
              <a:t>, </a:t>
            </a:r>
          </a:p>
          <a:p>
            <a:r>
              <a:rPr lang="es-ES" dirty="0" err="1" smtClean="0">
                <a:sym typeface="Wingdings" panose="05000000000000000000" pitchFamily="2" charset="2"/>
              </a:rPr>
              <a:t>toolbox.attr_bool</a:t>
            </a:r>
            <a:r>
              <a:rPr lang="es-ES" dirty="0">
                <a:sym typeface="Wingdings" panose="05000000000000000000" pitchFamily="2" charset="2"/>
              </a:rPr>
              <a:t>, 100</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función que inicializa el individuo, la lista tiene una longitud de 100</a:t>
            </a:r>
            <a:endParaRPr lang="es-ES" dirty="0">
              <a:solidFill>
                <a:srgbClr val="0070C0"/>
              </a:solidFill>
              <a:sym typeface="Wingdings" panose="05000000000000000000" pitchFamily="2" charset="2"/>
            </a:endParaRPr>
          </a:p>
          <a:p>
            <a:r>
              <a:rPr lang="es-ES" dirty="0" err="1">
                <a:sym typeface="Wingdings" panose="05000000000000000000" pitchFamily="2" charset="2"/>
              </a:rPr>
              <a:t>toolbox.register</a:t>
            </a:r>
            <a:r>
              <a:rPr lang="es-ES" dirty="0">
                <a:sym typeface="Wingdings" panose="05000000000000000000" pitchFamily="2" charset="2"/>
              </a:rPr>
              <a:t>("</a:t>
            </a:r>
            <a:r>
              <a:rPr lang="es-ES" dirty="0" err="1">
                <a:sym typeface="Wingdings" panose="05000000000000000000" pitchFamily="2" charset="2"/>
              </a:rPr>
              <a:t>population</a:t>
            </a:r>
            <a:r>
              <a:rPr lang="es-ES" dirty="0">
                <a:sym typeface="Wingdings" panose="05000000000000000000" pitchFamily="2" charset="2"/>
              </a:rPr>
              <a:t>", </a:t>
            </a:r>
            <a:r>
              <a:rPr lang="es-ES" dirty="0" err="1">
                <a:sym typeface="Wingdings" panose="05000000000000000000" pitchFamily="2" charset="2"/>
              </a:rPr>
              <a:t>tools.initRepeat</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 </a:t>
            </a:r>
            <a:r>
              <a:rPr lang="es-ES" dirty="0" err="1">
                <a:sym typeface="Wingdings" panose="05000000000000000000" pitchFamily="2" charset="2"/>
              </a:rPr>
              <a:t>toolbox.individual</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inicializamos la población</a:t>
            </a:r>
            <a:endParaRPr lang="es-ES" dirty="0">
              <a:sym typeface="Wingdings" panose="05000000000000000000" pitchFamily="2" charset="2"/>
            </a:endParaRP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204539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b="1" u="sng" dirty="0" smtClean="0">
                <a:sym typeface="Wingdings" panose="05000000000000000000" pitchFamily="2" charset="2"/>
              </a:rPr>
              <a:t>Más detalles del paso 2</a:t>
            </a:r>
          </a:p>
          <a:p>
            <a:endParaRPr lang="es-ES" dirty="0" smtClean="0"/>
          </a:p>
          <a:p>
            <a:r>
              <a:rPr lang="es-ES" dirty="0"/>
              <a:t> </a:t>
            </a:r>
            <a:r>
              <a:rPr lang="es-ES" dirty="0" err="1"/>
              <a:t>toolbox.attr_bool</a:t>
            </a:r>
            <a:r>
              <a:rPr lang="es-ES" dirty="0" smtClean="0"/>
              <a:t>() </a:t>
            </a:r>
            <a:r>
              <a:rPr lang="es-ES" dirty="0" smtClean="0">
                <a:solidFill>
                  <a:srgbClr val="0070C0"/>
                </a:solidFill>
              </a:rPr>
              <a:t># está función genera un número entero aleatorio entre 0 y 1</a:t>
            </a:r>
          </a:p>
          <a:p>
            <a:endParaRPr lang="es-ES" dirty="0">
              <a:solidFill>
                <a:srgbClr val="0070C0"/>
              </a:solidFill>
            </a:endParaRPr>
          </a:p>
          <a:p>
            <a:r>
              <a:rPr lang="es-ES" dirty="0" smtClean="0"/>
              <a:t>Otro ejemplo con flotantes en vez de enteros</a:t>
            </a:r>
          </a:p>
          <a:p>
            <a:endParaRPr lang="es-ES" dirty="0"/>
          </a:p>
          <a:p>
            <a:r>
              <a:rPr lang="es-ES" dirty="0" err="1"/>
              <a:t>toolbox</a:t>
            </a:r>
            <a:r>
              <a:rPr lang="es-ES" dirty="0"/>
              <a:t> = </a:t>
            </a:r>
            <a:r>
              <a:rPr lang="es-ES" dirty="0" err="1"/>
              <a:t>base.Toolbox</a:t>
            </a:r>
            <a:r>
              <a:rPr lang="es-ES" dirty="0"/>
              <a:t>()</a:t>
            </a:r>
          </a:p>
          <a:p>
            <a:r>
              <a:rPr lang="es-ES" dirty="0" err="1"/>
              <a:t>toolbox.register</a:t>
            </a:r>
            <a:r>
              <a:rPr lang="es-ES" dirty="0"/>
              <a:t>("</a:t>
            </a:r>
            <a:r>
              <a:rPr lang="es-ES" dirty="0" err="1"/>
              <a:t>attr_float</a:t>
            </a:r>
            <a:r>
              <a:rPr lang="es-ES" dirty="0"/>
              <a:t>", </a:t>
            </a:r>
            <a:r>
              <a:rPr lang="es-ES" dirty="0" err="1"/>
              <a:t>random.random</a:t>
            </a:r>
            <a:r>
              <a:rPr lang="es-ES" dirty="0"/>
              <a:t>)</a:t>
            </a:r>
          </a:p>
          <a:p>
            <a:r>
              <a:rPr lang="es-ES" dirty="0" err="1"/>
              <a:t>toolbox.register</a:t>
            </a:r>
            <a:r>
              <a:rPr lang="es-ES" dirty="0"/>
              <a:t>("individual", </a:t>
            </a:r>
            <a:r>
              <a:rPr lang="es-ES" dirty="0" err="1"/>
              <a:t>tools.initRepeat</a:t>
            </a:r>
            <a:r>
              <a:rPr lang="es-ES" dirty="0"/>
              <a:t>, </a:t>
            </a:r>
            <a:r>
              <a:rPr lang="es-ES" dirty="0" err="1"/>
              <a:t>creator.Individual</a:t>
            </a:r>
            <a:r>
              <a:rPr lang="es-ES" dirty="0"/>
              <a:t>,</a:t>
            </a:r>
          </a:p>
          <a:p>
            <a:r>
              <a:rPr lang="es-ES" dirty="0" err="1" smtClean="0"/>
              <a:t>toolbox.attr_float</a:t>
            </a:r>
            <a:r>
              <a:rPr lang="es-ES" dirty="0"/>
              <a:t>, n=IND_SIZE)</a:t>
            </a:r>
            <a:endParaRPr lang="es-ES" dirty="0" smtClean="0"/>
          </a:p>
          <a:p>
            <a:endParaRPr lang="es-ES" dirty="0" smtClean="0"/>
          </a:p>
          <a:p>
            <a:r>
              <a:rPr lang="es-ES" dirty="0" smtClean="0"/>
              <a:t>Definición de </a:t>
            </a:r>
            <a:r>
              <a:rPr lang="es-ES" dirty="0" err="1" smtClean="0"/>
              <a:t>tools.initRepeat</a:t>
            </a:r>
            <a:endParaRPr lang="es-ES" dirty="0" smtClean="0"/>
          </a:p>
          <a:p>
            <a:r>
              <a:rPr lang="es-ES" dirty="0">
                <a:hlinkClick r:id="rId2"/>
              </a:rPr>
              <a:t>http://</a:t>
            </a:r>
            <a:r>
              <a:rPr lang="es-ES" dirty="0" smtClean="0">
                <a:hlinkClick r:id="rId2"/>
              </a:rPr>
              <a:t>deap.gel.ulaval.ca/doc/default/api/tools.html#deap.tools.initRepeat</a:t>
            </a:r>
            <a:endParaRPr lang="es-ES" dirty="0" smtClean="0"/>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7548999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4247317"/>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3: </a:t>
            </a:r>
            <a:r>
              <a:rPr lang="es-ES" dirty="0" smtClean="0">
                <a:solidFill>
                  <a:srgbClr val="FF0000"/>
                </a:solidFill>
                <a:sym typeface="Wingdings" panose="05000000000000000000" pitchFamily="2" charset="2"/>
              </a:rPr>
              <a:t>Función de evaluación (</a:t>
            </a:r>
            <a:r>
              <a:rPr lang="es-ES" dirty="0" err="1" smtClean="0">
                <a:solidFill>
                  <a:srgbClr val="FF0000"/>
                </a:solidFill>
                <a:sym typeface="Wingdings" panose="05000000000000000000" pitchFamily="2" charset="2"/>
              </a:rPr>
              <a:t>Fitness</a:t>
            </a:r>
            <a:r>
              <a:rPr lang="es-ES" dirty="0" smtClean="0">
                <a:solidFill>
                  <a:srgbClr val="FF0000"/>
                </a:solidFill>
                <a:sym typeface="Wingdings" panose="05000000000000000000" pitchFamily="2" charset="2"/>
              </a:rPr>
              <a:t> </a:t>
            </a:r>
            <a:r>
              <a:rPr lang="es-ES" dirty="0" err="1" smtClean="0">
                <a:solidFill>
                  <a:srgbClr val="FF0000"/>
                </a:solidFill>
                <a:sym typeface="Wingdings" panose="05000000000000000000" pitchFamily="2" charset="2"/>
              </a:rPr>
              <a:t>Function</a:t>
            </a:r>
            <a:r>
              <a:rPr lang="es-ES" dirty="0" smtClean="0">
                <a:solidFill>
                  <a:srgbClr val="FF0000"/>
                </a:solidFill>
                <a:sym typeface="Wingdings" panose="05000000000000000000" pitchFamily="2" charset="2"/>
              </a:rPr>
              <a:t>)</a:t>
            </a:r>
            <a:r>
              <a:rPr lang="es-ES" dirty="0" smtClean="0">
                <a:sym typeface="Wingdings" panose="05000000000000000000" pitchFamily="2" charset="2"/>
              </a:rPr>
              <a:t>. Forma de mediar la calidad de nuestras soluciones.</a:t>
            </a:r>
          </a:p>
          <a:p>
            <a:pPr marL="285750" indent="-285750">
              <a:buFont typeface="Wingdings" panose="05000000000000000000" pitchFamily="2" charset="2"/>
              <a:buChar char="à"/>
            </a:pPr>
            <a:r>
              <a:rPr lang="es-ES" dirty="0" smtClean="0">
                <a:sym typeface="Wingdings" panose="05000000000000000000" pitchFamily="2" charset="2"/>
              </a:rPr>
              <a:t>Parte del modelado del problema más importante</a:t>
            </a:r>
          </a:p>
          <a:p>
            <a:endParaRPr lang="es-ES" dirty="0" smtClean="0">
              <a:sym typeface="Wingdings" panose="05000000000000000000" pitchFamily="2" charset="2"/>
            </a:endParaRPr>
          </a:p>
          <a:p>
            <a:r>
              <a:rPr lang="es-ES" dirty="0" err="1">
                <a:sym typeface="Wingdings" panose="05000000000000000000" pitchFamily="2" charset="2"/>
              </a:rPr>
              <a:t>def</a:t>
            </a:r>
            <a:r>
              <a:rPr lang="es-ES" dirty="0">
                <a:sym typeface="Wingdings" panose="05000000000000000000" pitchFamily="2" charset="2"/>
              </a:rPr>
              <a:t> </a:t>
            </a:r>
            <a:r>
              <a:rPr lang="es-ES" dirty="0" err="1">
                <a:sym typeface="Wingdings" panose="05000000000000000000" pitchFamily="2" charset="2"/>
              </a:rPr>
              <a:t>evalOneMax</a:t>
            </a:r>
            <a:r>
              <a:rPr lang="es-ES" dirty="0">
                <a:sym typeface="Wingdings" panose="05000000000000000000" pitchFamily="2" charset="2"/>
              </a:rPr>
              <a:t>(individual):</a:t>
            </a:r>
          </a:p>
          <a:p>
            <a:r>
              <a:rPr lang="es-ES" dirty="0">
                <a:sym typeface="Wingdings" panose="05000000000000000000" pitchFamily="2" charset="2"/>
              </a:rPr>
              <a:t>    </a:t>
            </a:r>
            <a:r>
              <a:rPr lang="es-ES" dirty="0" err="1">
                <a:sym typeface="Wingdings" panose="05000000000000000000" pitchFamily="2" charset="2"/>
              </a:rPr>
              <a:t>return</a:t>
            </a:r>
            <a:r>
              <a:rPr lang="es-ES" dirty="0">
                <a:sym typeface="Wingdings" panose="05000000000000000000" pitchFamily="2" charset="2"/>
              </a:rPr>
              <a:t> sum(individual</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Esa coma es importante (</a:t>
            </a:r>
            <a:r>
              <a:rPr lang="es-ES" dirty="0" err="1" smtClean="0">
                <a:solidFill>
                  <a:srgbClr val="0070C0"/>
                </a:solidFill>
                <a:sym typeface="Wingdings" panose="05000000000000000000" pitchFamily="2" charset="2"/>
              </a:rPr>
              <a:t>multi</a:t>
            </a:r>
            <a:r>
              <a:rPr lang="es-ES" dirty="0" smtClean="0">
                <a:solidFill>
                  <a:srgbClr val="0070C0"/>
                </a:solidFill>
                <a:sym typeface="Wingdings" panose="05000000000000000000" pitchFamily="2" charset="2"/>
              </a:rPr>
              <a:t> objetivo)</a:t>
            </a:r>
          </a:p>
          <a:p>
            <a:endParaRPr lang="es-ES" dirty="0">
              <a:sym typeface="Wingdings" panose="05000000000000000000" pitchFamily="2" charset="2"/>
            </a:endParaRPr>
          </a:p>
          <a:p>
            <a:r>
              <a:rPr lang="es-ES" dirty="0" smtClean="0">
                <a:sym typeface="Wingdings" panose="05000000000000000000" pitchFamily="2" charset="2"/>
              </a:rPr>
              <a:t>Esta función la sustituiremos por nuestra </a:t>
            </a:r>
            <a:r>
              <a:rPr lang="es-ES" dirty="0" err="1" smtClean="0">
                <a:sym typeface="Wingdings" panose="05000000000000000000" pitchFamily="2" charset="2"/>
              </a:rPr>
              <a:t>fitness</a:t>
            </a:r>
            <a:r>
              <a:rPr lang="es-ES" dirty="0" smtClean="0">
                <a:sym typeface="Wingdings" panose="05000000000000000000" pitchFamily="2" charset="2"/>
              </a:rPr>
              <a:t> </a:t>
            </a:r>
            <a:r>
              <a:rPr lang="es-ES" dirty="0" err="1" smtClean="0">
                <a:sym typeface="Wingdings" panose="05000000000000000000" pitchFamily="2" charset="2"/>
              </a:rPr>
              <a:t>function</a:t>
            </a:r>
            <a:r>
              <a:rPr lang="es-ES" dirty="0" smtClean="0">
                <a:sym typeface="Wingdings" panose="05000000000000000000" pitchFamily="2" charset="2"/>
              </a:rPr>
              <a:t>. El resto podemos dejarlo casi como está (tipo receta) y adaptarlo a nuestro problema.</a:t>
            </a:r>
            <a:endParaRPr lang="es-ES" dirty="0">
              <a:sym typeface="Wingdings" panose="05000000000000000000" pitchFamily="2" charset="2"/>
            </a:endParaRP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3747212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sz="1400" dirty="0" smtClean="0">
              <a:sym typeface="Wingdings" panose="05000000000000000000" pitchFamily="2" charset="2"/>
            </a:endParaRPr>
          </a:p>
          <a:p>
            <a:r>
              <a:rPr lang="es-ES" dirty="0" smtClean="0">
                <a:sym typeface="Wingdings" panose="05000000000000000000" pitchFamily="2" charset="2"/>
              </a:rPr>
              <a:t>Paso 4: </a:t>
            </a:r>
            <a:r>
              <a:rPr lang="es-ES" dirty="0" smtClean="0">
                <a:solidFill>
                  <a:srgbClr val="FF0000"/>
                </a:solidFill>
                <a:sym typeface="Wingdings" panose="05000000000000000000" pitchFamily="2" charset="2"/>
              </a:rPr>
              <a:t>Operadores genéticos</a:t>
            </a:r>
            <a:r>
              <a:rPr lang="es-ES" dirty="0" smtClean="0">
                <a:sym typeface="Wingdings" panose="05000000000000000000" pitchFamily="2" charset="2"/>
              </a:rPr>
              <a:t>. Propiedades del algoritmo genético que vamos a utilizar.</a:t>
            </a:r>
          </a:p>
          <a:p>
            <a:pPr marL="285750" indent="-285750">
              <a:buFont typeface="Wingdings" panose="05000000000000000000" pitchFamily="2" charset="2"/>
              <a:buChar char="à"/>
            </a:pPr>
            <a:r>
              <a:rPr lang="es-ES" dirty="0" smtClean="0">
                <a:sym typeface="Wingdings" panose="05000000000000000000" pitchFamily="2" charset="2"/>
              </a:rPr>
              <a:t>Los registramos como funciones</a:t>
            </a:r>
          </a:p>
          <a:p>
            <a:endParaRPr lang="es-ES" dirty="0" smtClean="0">
              <a:sym typeface="Wingdings" panose="05000000000000000000" pitchFamily="2" charset="2"/>
            </a:endParaRPr>
          </a:p>
          <a:p>
            <a:r>
              <a:rPr lang="es-ES" dirty="0" err="1"/>
              <a:t>toolbox.register</a:t>
            </a:r>
            <a:r>
              <a:rPr lang="es-ES" dirty="0"/>
              <a:t>("</a:t>
            </a:r>
            <a:r>
              <a:rPr lang="es-ES" dirty="0" err="1"/>
              <a:t>evaluate</a:t>
            </a:r>
            <a:r>
              <a:rPr lang="es-ES" dirty="0"/>
              <a:t>", </a:t>
            </a:r>
            <a:r>
              <a:rPr lang="es-ES" dirty="0" err="1"/>
              <a:t>evalOneMax</a:t>
            </a:r>
            <a:r>
              <a:rPr lang="es-ES" dirty="0" smtClean="0"/>
              <a:t>) </a:t>
            </a:r>
            <a:r>
              <a:rPr lang="es-ES" dirty="0" smtClean="0">
                <a:solidFill>
                  <a:srgbClr val="0070C0"/>
                </a:solidFill>
              </a:rPr>
              <a:t># </a:t>
            </a:r>
            <a:r>
              <a:rPr lang="es-ES" dirty="0" err="1" smtClean="0">
                <a:solidFill>
                  <a:srgbClr val="0070C0"/>
                </a:solidFill>
              </a:rPr>
              <a:t>fitness</a:t>
            </a:r>
            <a:r>
              <a:rPr lang="es-ES" dirty="0" smtClean="0">
                <a:solidFill>
                  <a:srgbClr val="0070C0"/>
                </a:solidFill>
              </a:rPr>
              <a:t> </a:t>
            </a:r>
            <a:r>
              <a:rPr lang="es-ES" dirty="0" err="1" smtClean="0">
                <a:solidFill>
                  <a:srgbClr val="0070C0"/>
                </a:solidFill>
              </a:rPr>
              <a:t>fucntion</a:t>
            </a:r>
            <a:endParaRPr lang="es-ES" dirty="0">
              <a:solidFill>
                <a:srgbClr val="0070C0"/>
              </a:solidFill>
            </a:endParaRPr>
          </a:p>
          <a:p>
            <a:r>
              <a:rPr lang="es-ES" dirty="0" err="1"/>
              <a:t>toolbox.register</a:t>
            </a:r>
            <a:r>
              <a:rPr lang="es-ES" dirty="0"/>
              <a:t>("mate", </a:t>
            </a:r>
            <a:r>
              <a:rPr lang="es-ES" dirty="0" err="1"/>
              <a:t>tools.cxTwoPoint</a:t>
            </a:r>
            <a:r>
              <a:rPr lang="es-ES" dirty="0" smtClean="0"/>
              <a:t>) </a:t>
            </a:r>
            <a:r>
              <a:rPr lang="es-ES" dirty="0" smtClean="0">
                <a:solidFill>
                  <a:srgbClr val="0070C0"/>
                </a:solidFill>
              </a:rPr>
              <a:t># tipo de crossover</a:t>
            </a:r>
            <a:endParaRPr lang="es-ES" dirty="0">
              <a:solidFill>
                <a:srgbClr val="0070C0"/>
              </a:solidFill>
            </a:endParaRPr>
          </a:p>
          <a:p>
            <a:r>
              <a:rPr lang="es-ES" dirty="0" err="1"/>
              <a:t>toolbox.register</a:t>
            </a:r>
            <a:r>
              <a:rPr lang="es-ES" dirty="0"/>
              <a:t>("</a:t>
            </a:r>
            <a:r>
              <a:rPr lang="es-ES" dirty="0" err="1"/>
              <a:t>mutate</a:t>
            </a:r>
            <a:r>
              <a:rPr lang="es-ES" dirty="0"/>
              <a:t>", </a:t>
            </a:r>
            <a:r>
              <a:rPr lang="es-ES" dirty="0" err="1"/>
              <a:t>tools.mutFlipBit</a:t>
            </a:r>
            <a:r>
              <a:rPr lang="es-ES" dirty="0"/>
              <a:t>, </a:t>
            </a:r>
            <a:r>
              <a:rPr lang="es-ES" dirty="0" err="1"/>
              <a:t>indpb</a:t>
            </a:r>
            <a:r>
              <a:rPr lang="es-ES" dirty="0"/>
              <a:t>=0.05</a:t>
            </a:r>
            <a:r>
              <a:rPr lang="es-ES" dirty="0" smtClean="0"/>
              <a:t>) </a:t>
            </a:r>
            <a:r>
              <a:rPr lang="es-ES" dirty="0" smtClean="0">
                <a:solidFill>
                  <a:srgbClr val="0070C0"/>
                </a:solidFill>
              </a:rPr>
              <a:t># tipo de mutación y probabilidad</a:t>
            </a:r>
            <a:endParaRPr lang="es-ES" dirty="0">
              <a:solidFill>
                <a:srgbClr val="0070C0"/>
              </a:solidFill>
            </a:endParaRPr>
          </a:p>
          <a:p>
            <a:r>
              <a:rPr lang="es-ES" dirty="0" err="1"/>
              <a:t>toolbox.register</a:t>
            </a:r>
            <a:r>
              <a:rPr lang="es-ES" dirty="0"/>
              <a:t>("</a:t>
            </a:r>
            <a:r>
              <a:rPr lang="es-ES" dirty="0" err="1"/>
              <a:t>select</a:t>
            </a:r>
            <a:r>
              <a:rPr lang="es-ES" dirty="0"/>
              <a:t>", </a:t>
            </a:r>
            <a:r>
              <a:rPr lang="es-ES" dirty="0" err="1"/>
              <a:t>tools.selTournament</a:t>
            </a:r>
            <a:r>
              <a:rPr lang="es-ES" dirty="0"/>
              <a:t>, </a:t>
            </a:r>
            <a:r>
              <a:rPr lang="es-ES" dirty="0" err="1"/>
              <a:t>tournsize</a:t>
            </a:r>
            <a:r>
              <a:rPr lang="es-ES" dirty="0"/>
              <a:t>=3</a:t>
            </a:r>
            <a:r>
              <a:rPr lang="es-ES" dirty="0" smtClean="0"/>
              <a:t>) </a:t>
            </a:r>
            <a:r>
              <a:rPr lang="es-ES" dirty="0" smtClean="0">
                <a:solidFill>
                  <a:srgbClr val="0070C0"/>
                </a:solidFill>
              </a:rPr>
              <a:t># Selección de padres</a:t>
            </a:r>
          </a:p>
          <a:p>
            <a:endParaRPr lang="es-ES" b="1" dirty="0" smtClean="0"/>
          </a:p>
          <a:p>
            <a:pPr marL="285750" indent="-285750">
              <a:buFont typeface="Wingdings" panose="05000000000000000000" pitchFamily="2" charset="2"/>
              <a:buChar char="à"/>
            </a:pPr>
            <a:r>
              <a:rPr lang="es-ES" b="1" dirty="0" smtClean="0">
                <a:sym typeface="Wingdings" panose="05000000000000000000" pitchFamily="2" charset="2"/>
              </a:rPr>
              <a:t>ESTAS FUNCIONES YA ESTÁN CREADAS EN DEAP</a:t>
            </a:r>
          </a:p>
          <a:p>
            <a:endParaRPr lang="es-ES" sz="1400" b="1" dirty="0" smtClean="0">
              <a:sym typeface="Wingdings" panose="05000000000000000000" pitchFamily="2" charset="2"/>
            </a:endParaRPr>
          </a:p>
          <a:p>
            <a:r>
              <a:rPr lang="es-ES" b="1" dirty="0" smtClean="0">
                <a:sym typeface="Wingdings" panose="05000000000000000000" pitchFamily="2" charset="2"/>
              </a:rPr>
              <a:t>Ejemplo de como funciona </a:t>
            </a:r>
            <a:r>
              <a:rPr lang="es-ES" b="1" dirty="0" err="1" smtClean="0">
                <a:sym typeface="Wingdings" panose="05000000000000000000" pitchFamily="2" charset="2"/>
              </a:rPr>
              <a:t>toolbox.register</a:t>
            </a:r>
            <a:endParaRPr lang="es-ES" b="1" dirty="0" smtClean="0">
              <a:sym typeface="Wingdings" panose="05000000000000000000" pitchFamily="2" charset="2"/>
            </a:endParaRPr>
          </a:p>
          <a:p>
            <a:r>
              <a:rPr lang="es-ES" b="1" dirty="0">
                <a:hlinkClick r:id="rId2"/>
              </a:rPr>
              <a:t>http://</a:t>
            </a:r>
            <a:r>
              <a:rPr lang="es-ES" b="1" dirty="0" smtClean="0">
                <a:hlinkClick r:id="rId2"/>
              </a:rPr>
              <a:t>deap.gel.ulaval.ca/doc/default/api/base.html#toolbox</a:t>
            </a:r>
            <a:endParaRPr lang="es-ES" b="1"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978259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2585323"/>
          </a:xfrm>
          <a:prstGeom prst="rect">
            <a:avLst/>
          </a:prstGeom>
        </p:spPr>
        <p:txBody>
          <a:bodyPr wrap="square">
            <a:spAutoFit/>
          </a:bodyPr>
          <a:lstStyle/>
          <a:p>
            <a:r>
              <a:rPr lang="es-ES" dirty="0" smtClean="0">
                <a:sym typeface="Wingdings" panose="05000000000000000000" pitchFamily="2" charset="2"/>
              </a:rPr>
              <a:t> Debemos consultar la documentación de DEAP para utilizar los operadores genéticos que más nos interesen para nuestro problema.</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deap.gel.ulaval.ca/doc/default/api/tools.html#module-deap.tools</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b="1"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4"/>
          <a:stretch>
            <a:fillRect/>
          </a:stretch>
        </p:blipFill>
        <p:spPr>
          <a:xfrm>
            <a:off x="516563" y="3099784"/>
            <a:ext cx="10334625" cy="3543300"/>
          </a:xfrm>
          <a:prstGeom prst="rect">
            <a:avLst/>
          </a:prstGeom>
        </p:spPr>
      </p:pic>
    </p:spTree>
    <p:extLst>
      <p:ext uri="{BB962C8B-B14F-4D97-AF65-F5344CB8AC3E}">
        <p14:creationId xmlns:p14="http://schemas.microsoft.com/office/powerpoint/2010/main" val="4884607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4524315"/>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5: </a:t>
            </a:r>
            <a:r>
              <a:rPr lang="es-ES" dirty="0" smtClean="0">
                <a:solidFill>
                  <a:srgbClr val="FF0000"/>
                </a:solidFill>
                <a:sym typeface="Wingdings" panose="05000000000000000000" pitchFamily="2" charset="2"/>
              </a:rPr>
              <a:t>Creamos la población y la primera evaluación. </a:t>
            </a:r>
          </a:p>
          <a:p>
            <a:endParaRPr lang="es-ES" dirty="0" smtClean="0">
              <a:sym typeface="Wingdings" panose="05000000000000000000" pitchFamily="2" charset="2"/>
            </a:endParaRPr>
          </a:p>
          <a:p>
            <a:r>
              <a:rPr lang="es-ES" dirty="0" err="1"/>
              <a:t>def</a:t>
            </a:r>
            <a:r>
              <a:rPr lang="es-ES" dirty="0"/>
              <a:t> </a:t>
            </a:r>
            <a:r>
              <a:rPr lang="es-ES" dirty="0" err="1"/>
              <a:t>main</a:t>
            </a:r>
            <a:r>
              <a:rPr lang="es-ES" dirty="0"/>
              <a:t>():</a:t>
            </a:r>
          </a:p>
          <a:p>
            <a:r>
              <a:rPr lang="es-ES" dirty="0"/>
              <a:t>    pop = </a:t>
            </a:r>
            <a:r>
              <a:rPr lang="es-ES" dirty="0" err="1"/>
              <a:t>toolbox.population</a:t>
            </a:r>
            <a:r>
              <a:rPr lang="es-ES" dirty="0"/>
              <a:t>(n=300</a:t>
            </a:r>
            <a:r>
              <a:rPr lang="es-ES" dirty="0" smtClean="0"/>
              <a:t>) </a:t>
            </a:r>
            <a:r>
              <a:rPr lang="es-ES" dirty="0" smtClean="0">
                <a:solidFill>
                  <a:srgbClr val="0070C0"/>
                </a:solidFill>
              </a:rPr>
              <a:t># </a:t>
            </a:r>
            <a:r>
              <a:rPr lang="es-ES" dirty="0" err="1" smtClean="0">
                <a:solidFill>
                  <a:srgbClr val="0070C0"/>
                </a:solidFill>
              </a:rPr>
              <a:t>toolbox.population</a:t>
            </a:r>
            <a:r>
              <a:rPr lang="es-ES" dirty="0" smtClean="0">
                <a:solidFill>
                  <a:srgbClr val="0070C0"/>
                </a:solidFill>
              </a:rPr>
              <a:t> ya lo teníamos definido</a:t>
            </a:r>
          </a:p>
          <a:p>
            <a:endParaRPr lang="es-ES" dirty="0"/>
          </a:p>
          <a:p>
            <a:r>
              <a:rPr lang="en-US" dirty="0">
                <a:solidFill>
                  <a:srgbClr val="0070C0"/>
                </a:solidFill>
              </a:rPr>
              <a:t> # </a:t>
            </a:r>
            <a:r>
              <a:rPr lang="en-US" dirty="0" err="1" smtClean="0">
                <a:solidFill>
                  <a:srgbClr val="0070C0"/>
                </a:solidFill>
              </a:rPr>
              <a:t>Evaluamos</a:t>
            </a:r>
            <a:r>
              <a:rPr lang="en-US" dirty="0" smtClean="0">
                <a:solidFill>
                  <a:srgbClr val="0070C0"/>
                </a:solidFill>
              </a:rPr>
              <a:t> la </a:t>
            </a:r>
            <a:r>
              <a:rPr lang="en-US" dirty="0" err="1" smtClean="0">
                <a:solidFill>
                  <a:srgbClr val="0070C0"/>
                </a:solidFill>
              </a:rPr>
              <a:t>población</a:t>
            </a:r>
            <a:r>
              <a:rPr lang="en-US" dirty="0" smtClean="0">
                <a:solidFill>
                  <a:srgbClr val="0070C0"/>
                </a:solidFill>
              </a:rPr>
              <a:t> </a:t>
            </a:r>
            <a:r>
              <a:rPr lang="en-US" dirty="0" err="1" smtClean="0">
                <a:solidFill>
                  <a:srgbClr val="0070C0"/>
                </a:solidFill>
              </a:rPr>
              <a:t>inicial</a:t>
            </a:r>
            <a:endParaRPr lang="en-US" dirty="0">
              <a:solidFill>
                <a:srgbClr val="0070C0"/>
              </a:solidFill>
            </a:endParaRPr>
          </a:p>
          <a:p>
            <a:r>
              <a:rPr lang="en-US" dirty="0"/>
              <a:t>    </a:t>
            </a:r>
            <a:r>
              <a:rPr lang="en-US" dirty="0" err="1"/>
              <a:t>fitnesses</a:t>
            </a:r>
            <a:r>
              <a:rPr lang="en-US" dirty="0"/>
              <a:t> = list(map(</a:t>
            </a:r>
            <a:r>
              <a:rPr lang="en-US" dirty="0" err="1"/>
              <a:t>toolbox.evaluate</a:t>
            </a:r>
            <a:r>
              <a:rPr lang="en-US" dirty="0"/>
              <a:t>, pop</a:t>
            </a:r>
            <a:r>
              <a:rPr lang="en-US" dirty="0" smtClean="0"/>
              <a:t>)) </a:t>
            </a:r>
            <a:r>
              <a:rPr lang="en-US" dirty="0" smtClean="0">
                <a:solidFill>
                  <a:srgbClr val="0070C0"/>
                </a:solidFill>
              </a:rPr>
              <a:t># </a:t>
            </a:r>
            <a:r>
              <a:rPr lang="en-US" dirty="0" err="1" smtClean="0">
                <a:solidFill>
                  <a:srgbClr val="0070C0"/>
                </a:solidFill>
              </a:rPr>
              <a:t>aplicamos</a:t>
            </a:r>
            <a:r>
              <a:rPr lang="en-US" dirty="0" smtClean="0">
                <a:solidFill>
                  <a:srgbClr val="0070C0"/>
                </a:solidFill>
              </a:rPr>
              <a:t> el fitness a </a:t>
            </a:r>
            <a:r>
              <a:rPr lang="en-US" dirty="0" err="1" smtClean="0">
                <a:solidFill>
                  <a:srgbClr val="0070C0"/>
                </a:solidFill>
              </a:rPr>
              <a:t>cada</a:t>
            </a:r>
            <a:r>
              <a:rPr lang="en-US" dirty="0" smtClean="0">
                <a:solidFill>
                  <a:srgbClr val="0070C0"/>
                </a:solidFill>
              </a:rPr>
              <a:t> </a:t>
            </a:r>
            <a:r>
              <a:rPr lang="en-US" dirty="0" err="1" smtClean="0">
                <a:solidFill>
                  <a:srgbClr val="0070C0"/>
                </a:solidFill>
              </a:rPr>
              <a:t>individuo</a:t>
            </a:r>
            <a:r>
              <a:rPr lang="en-US" dirty="0" smtClean="0">
                <a:solidFill>
                  <a:srgbClr val="0070C0"/>
                </a:solidFill>
              </a:rPr>
              <a:t> de la </a:t>
            </a:r>
            <a:r>
              <a:rPr lang="en-US" dirty="0" err="1" smtClean="0">
                <a:solidFill>
                  <a:srgbClr val="0070C0"/>
                </a:solidFill>
              </a:rPr>
              <a:t>población</a:t>
            </a:r>
            <a:endParaRPr lang="en-US" dirty="0">
              <a:solidFill>
                <a:srgbClr val="0070C0"/>
              </a:solidFill>
            </a:endParaRPr>
          </a:p>
          <a:p>
            <a:r>
              <a:rPr lang="en-US" dirty="0"/>
              <a:t>    for </a:t>
            </a:r>
            <a:r>
              <a:rPr lang="en-US" dirty="0" err="1"/>
              <a:t>ind</a:t>
            </a:r>
            <a:r>
              <a:rPr lang="en-US" dirty="0"/>
              <a:t>, fit in zip(pop, </a:t>
            </a:r>
            <a:r>
              <a:rPr lang="en-US" dirty="0" err="1"/>
              <a:t>fitnesses</a:t>
            </a:r>
            <a:r>
              <a:rPr lang="en-US" dirty="0"/>
              <a:t>):</a:t>
            </a:r>
          </a:p>
          <a:p>
            <a:r>
              <a:rPr lang="en-US" dirty="0"/>
              <a:t>        </a:t>
            </a:r>
            <a:r>
              <a:rPr lang="en-US" dirty="0" err="1"/>
              <a:t>ind.fitness.values</a:t>
            </a:r>
            <a:r>
              <a:rPr lang="en-US" dirty="0"/>
              <a:t> = fit</a:t>
            </a:r>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9642934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3970318"/>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6: </a:t>
            </a:r>
            <a:r>
              <a:rPr lang="es-ES" dirty="0" smtClean="0">
                <a:solidFill>
                  <a:srgbClr val="FF0000"/>
                </a:solidFill>
                <a:sym typeface="Wingdings" panose="05000000000000000000" pitchFamily="2" charset="2"/>
              </a:rPr>
              <a:t>Evolución de la población</a:t>
            </a:r>
          </a:p>
          <a:p>
            <a:endParaRPr lang="es-ES" dirty="0" smtClean="0">
              <a:sym typeface="Wingdings" panose="05000000000000000000" pitchFamily="2" charset="2"/>
            </a:endParaRPr>
          </a:p>
          <a:p>
            <a:r>
              <a:rPr lang="en-US" dirty="0">
                <a:sym typeface="Wingdings" panose="05000000000000000000" pitchFamily="2" charset="2"/>
              </a:rPr>
              <a:t> </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Empezamos</a:t>
            </a:r>
            <a:r>
              <a:rPr lang="en-US" dirty="0" smtClean="0">
                <a:solidFill>
                  <a:srgbClr val="00B0F0"/>
                </a:solidFill>
                <a:sym typeface="Wingdings" panose="05000000000000000000" pitchFamily="2" charset="2"/>
              </a:rPr>
              <a:t> la </a:t>
            </a:r>
            <a:r>
              <a:rPr lang="en-US" dirty="0" err="1" smtClean="0">
                <a:solidFill>
                  <a:srgbClr val="00B0F0"/>
                </a:solidFill>
                <a:sym typeface="Wingdings" panose="05000000000000000000" pitchFamily="2" charset="2"/>
              </a:rPr>
              <a:t>evolución</a:t>
            </a:r>
            <a:r>
              <a:rPr lang="en-US" dirty="0" smtClean="0">
                <a:solidFill>
                  <a:srgbClr val="00B0F0"/>
                </a:solidFill>
                <a:sym typeface="Wingdings" panose="05000000000000000000" pitchFamily="2" charset="2"/>
              </a:rPr>
              <a:t>, NGEN  </a:t>
            </a:r>
            <a:r>
              <a:rPr lang="en-US" dirty="0" err="1" smtClean="0">
                <a:solidFill>
                  <a:srgbClr val="00B0F0"/>
                </a:solidFill>
                <a:sym typeface="Wingdings" panose="05000000000000000000" pitchFamily="2" charset="2"/>
              </a:rPr>
              <a:t>Número</a:t>
            </a:r>
            <a:r>
              <a:rPr lang="en-US" dirty="0" smtClean="0">
                <a:solidFill>
                  <a:srgbClr val="00B0F0"/>
                </a:solidFill>
                <a:sym typeface="Wingdings" panose="05000000000000000000" pitchFamily="2" charset="2"/>
              </a:rPr>
              <a:t> de </a:t>
            </a:r>
            <a:r>
              <a:rPr lang="en-US" dirty="0" err="1" smtClean="0">
                <a:solidFill>
                  <a:srgbClr val="00B0F0"/>
                </a:solidFill>
                <a:sym typeface="Wingdings" panose="05000000000000000000" pitchFamily="2" charset="2"/>
              </a:rPr>
              <a:t>generaciones</a:t>
            </a:r>
            <a:endParaRPr lang="en-US" dirty="0">
              <a:sym typeface="Wingdings" panose="05000000000000000000" pitchFamily="2" charset="2"/>
            </a:endParaRPr>
          </a:p>
          <a:p>
            <a:r>
              <a:rPr lang="en-US" dirty="0">
                <a:sym typeface="Wingdings" panose="05000000000000000000" pitchFamily="2" charset="2"/>
              </a:rPr>
              <a:t>    for g in range(NGEN):</a:t>
            </a:r>
          </a:p>
          <a:p>
            <a:r>
              <a:rPr lang="en-US" dirty="0">
                <a:sym typeface="Wingdings" panose="05000000000000000000" pitchFamily="2" charset="2"/>
              </a:rPr>
              <a:t>        print("-- Generation %</a:t>
            </a:r>
            <a:r>
              <a:rPr lang="en-US" dirty="0" err="1">
                <a:sym typeface="Wingdings" panose="05000000000000000000" pitchFamily="2" charset="2"/>
              </a:rPr>
              <a:t>i</a:t>
            </a:r>
            <a:r>
              <a:rPr lang="en-US" dirty="0">
                <a:sym typeface="Wingdings" panose="05000000000000000000" pitchFamily="2" charset="2"/>
              </a:rPr>
              <a:t> --" % g</a:t>
            </a:r>
            <a:r>
              <a:rPr lang="en-US" dirty="0" smtClean="0">
                <a:sym typeface="Wingdings" panose="05000000000000000000" pitchFamily="2" charset="2"/>
              </a:rPr>
              <a:t>)</a:t>
            </a:r>
            <a:endParaRPr lang="es-ES" dirty="0" smtClean="0">
              <a:sym typeface="Wingdings" panose="05000000000000000000" pitchFamily="2" charset="2"/>
            </a:endParaRPr>
          </a:p>
          <a:p>
            <a:r>
              <a:rPr lang="en-US" dirty="0"/>
              <a:t>  </a:t>
            </a:r>
            <a:r>
              <a:rPr lang="en-US" dirty="0" smtClean="0"/>
              <a:t>      </a:t>
            </a:r>
            <a:r>
              <a:rPr lang="en-US" dirty="0" smtClean="0">
                <a:solidFill>
                  <a:srgbClr val="00B0F0"/>
                </a:solidFill>
              </a:rPr>
              <a:t># </a:t>
            </a:r>
            <a:r>
              <a:rPr lang="en-US" dirty="0" err="1" smtClean="0">
                <a:solidFill>
                  <a:srgbClr val="00B0F0"/>
                </a:solidFill>
              </a:rPr>
              <a:t>Seleccionamos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individuos</a:t>
            </a:r>
            <a:r>
              <a:rPr lang="en-US" dirty="0" smtClean="0">
                <a:solidFill>
                  <a:srgbClr val="00B0F0"/>
                </a:solidFill>
              </a:rPr>
              <a:t> padres </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Selección</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basada</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en</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torneo</a:t>
            </a:r>
            <a:endParaRPr lang="en-US" dirty="0"/>
          </a:p>
          <a:p>
            <a:r>
              <a:rPr lang="en-US" dirty="0"/>
              <a:t>        offspring = </a:t>
            </a:r>
            <a:r>
              <a:rPr lang="en-US" dirty="0" err="1"/>
              <a:t>toolbox.select</a:t>
            </a:r>
            <a:r>
              <a:rPr lang="en-US" dirty="0"/>
              <a:t>(pop, </a:t>
            </a:r>
            <a:r>
              <a:rPr lang="en-US" dirty="0" err="1"/>
              <a:t>len</a:t>
            </a:r>
            <a:r>
              <a:rPr lang="en-US" dirty="0"/>
              <a:t>(pop))</a:t>
            </a:r>
          </a:p>
          <a:p>
            <a:r>
              <a:rPr lang="en-US" dirty="0"/>
              <a:t>        </a:t>
            </a:r>
            <a:r>
              <a:rPr lang="en-US" dirty="0">
                <a:solidFill>
                  <a:srgbClr val="00B0F0"/>
                </a:solidFill>
              </a:rPr>
              <a:t># </a:t>
            </a:r>
            <a:r>
              <a:rPr lang="en-US" dirty="0" err="1" smtClean="0">
                <a:solidFill>
                  <a:srgbClr val="00B0F0"/>
                </a:solidFill>
              </a:rPr>
              <a:t>Clonamos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individuos</a:t>
            </a:r>
            <a:r>
              <a:rPr lang="en-US" dirty="0" smtClean="0">
                <a:solidFill>
                  <a:srgbClr val="00B0F0"/>
                </a:solidFill>
              </a:rPr>
              <a:t>. </a:t>
            </a:r>
            <a:r>
              <a:rPr lang="en-US" dirty="0" err="1" smtClean="0">
                <a:solidFill>
                  <a:srgbClr val="00B0F0"/>
                </a:solidFill>
              </a:rPr>
              <a:t>Esto</a:t>
            </a:r>
            <a:r>
              <a:rPr lang="en-US" dirty="0" smtClean="0">
                <a:solidFill>
                  <a:srgbClr val="00B0F0"/>
                </a:solidFill>
              </a:rPr>
              <a:t> para no </a:t>
            </a:r>
            <a:r>
              <a:rPr lang="en-US" dirty="0" err="1" smtClean="0">
                <a:solidFill>
                  <a:srgbClr val="00B0F0"/>
                </a:solidFill>
              </a:rPr>
              <a:t>tocar</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originales</a:t>
            </a:r>
            <a:endParaRPr lang="en-US" dirty="0">
              <a:solidFill>
                <a:srgbClr val="00B0F0"/>
              </a:solidFill>
            </a:endParaRPr>
          </a:p>
          <a:p>
            <a:r>
              <a:rPr lang="en-US" dirty="0"/>
              <a:t>        offspring = list(map(</a:t>
            </a:r>
            <a:r>
              <a:rPr lang="en-US" dirty="0" err="1"/>
              <a:t>toolbox.clone</a:t>
            </a:r>
            <a:r>
              <a:rPr lang="en-US" dirty="0"/>
              <a:t>, offspring</a:t>
            </a:r>
            <a:r>
              <a:rPr lang="en-US" dirty="0" smtClean="0"/>
              <a:t>))</a:t>
            </a:r>
          </a:p>
          <a:p>
            <a:endParaRPr lang="en-US" dirty="0"/>
          </a:p>
          <a:p>
            <a:r>
              <a:rPr lang="es-ES" dirty="0"/>
              <a:t> </a:t>
            </a:r>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911333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6: </a:t>
            </a:r>
            <a:r>
              <a:rPr lang="es-ES" dirty="0" smtClean="0">
                <a:solidFill>
                  <a:srgbClr val="FF0000"/>
                </a:solidFill>
                <a:sym typeface="Wingdings" panose="05000000000000000000" pitchFamily="2" charset="2"/>
              </a:rPr>
              <a:t>Evolución de la población  Operaciones genéticas</a:t>
            </a:r>
          </a:p>
          <a:p>
            <a:endParaRPr lang="es-ES" dirty="0" smtClean="0">
              <a:sym typeface="Wingdings" panose="05000000000000000000" pitchFamily="2" charset="2"/>
            </a:endParaRPr>
          </a:p>
          <a:p>
            <a:r>
              <a:rPr lang="en-US" dirty="0">
                <a:solidFill>
                  <a:srgbClr val="00B0F0"/>
                </a:solidFill>
              </a:rPr>
              <a:t> # </a:t>
            </a:r>
            <a:r>
              <a:rPr lang="en-US" dirty="0" err="1" smtClean="0">
                <a:solidFill>
                  <a:srgbClr val="00B0F0"/>
                </a:solidFill>
              </a:rPr>
              <a:t>Aplicamos</a:t>
            </a:r>
            <a:r>
              <a:rPr lang="en-US" dirty="0" smtClean="0">
                <a:solidFill>
                  <a:srgbClr val="00B0F0"/>
                </a:solidFill>
              </a:rPr>
              <a:t> crossover y </a:t>
            </a:r>
            <a:r>
              <a:rPr lang="en-US" dirty="0" err="1" smtClean="0">
                <a:solidFill>
                  <a:srgbClr val="00B0F0"/>
                </a:solidFill>
              </a:rPr>
              <a:t>mutación</a:t>
            </a:r>
            <a:r>
              <a:rPr lang="en-US" dirty="0" smtClean="0">
                <a:solidFill>
                  <a:srgbClr val="00B0F0"/>
                </a:solidFill>
              </a:rPr>
              <a:t> </a:t>
            </a:r>
            <a:r>
              <a:rPr lang="en-US" dirty="0" err="1" smtClean="0">
                <a:solidFill>
                  <a:srgbClr val="00B0F0"/>
                </a:solidFill>
              </a:rPr>
              <a:t>en</a:t>
            </a:r>
            <a:r>
              <a:rPr lang="en-US" dirty="0" smtClean="0">
                <a:solidFill>
                  <a:srgbClr val="00B0F0"/>
                </a:solidFill>
              </a:rPr>
              <a:t> la </a:t>
            </a:r>
            <a:r>
              <a:rPr lang="en-US" dirty="0" err="1" smtClean="0">
                <a:solidFill>
                  <a:srgbClr val="00B0F0"/>
                </a:solidFill>
              </a:rPr>
              <a:t>nueva</a:t>
            </a:r>
            <a:r>
              <a:rPr lang="en-US" dirty="0" smtClean="0">
                <a:solidFill>
                  <a:srgbClr val="00B0F0"/>
                </a:solidFill>
              </a:rPr>
              <a:t> </a:t>
            </a:r>
            <a:r>
              <a:rPr lang="en-US" dirty="0" err="1" smtClean="0">
                <a:solidFill>
                  <a:srgbClr val="00B0F0"/>
                </a:solidFill>
              </a:rPr>
              <a:t>población</a:t>
            </a:r>
            <a:endParaRPr lang="en-US" dirty="0">
              <a:solidFill>
                <a:srgbClr val="00B0F0"/>
              </a:solidFill>
            </a:endParaRPr>
          </a:p>
          <a:p>
            <a:r>
              <a:rPr lang="en-US" dirty="0"/>
              <a:t>        for child1, child2 in zip(offspring[::2], offspring[1::2]):</a:t>
            </a:r>
          </a:p>
          <a:p>
            <a:r>
              <a:rPr lang="en-US" dirty="0"/>
              <a:t>            if </a:t>
            </a:r>
            <a:r>
              <a:rPr lang="en-US" dirty="0" err="1"/>
              <a:t>random.random</a:t>
            </a:r>
            <a:r>
              <a:rPr lang="en-US" dirty="0"/>
              <a:t>() &lt; CXPB</a:t>
            </a:r>
            <a:r>
              <a:rPr lang="en-US" dirty="0" smtClean="0"/>
              <a:t>: </a:t>
            </a:r>
            <a:r>
              <a:rPr lang="en-US" dirty="0" smtClean="0">
                <a:solidFill>
                  <a:srgbClr val="00B0F0"/>
                </a:solidFill>
              </a:rPr>
              <a:t># </a:t>
            </a:r>
            <a:r>
              <a:rPr lang="en-US" dirty="0" err="1" smtClean="0">
                <a:solidFill>
                  <a:srgbClr val="00B0F0"/>
                </a:solidFill>
              </a:rPr>
              <a:t>parámetros</a:t>
            </a:r>
            <a:r>
              <a:rPr lang="en-US" dirty="0" smtClean="0">
                <a:solidFill>
                  <a:srgbClr val="00B0F0"/>
                </a:solidFill>
              </a:rPr>
              <a:t> de </a:t>
            </a:r>
            <a:r>
              <a:rPr lang="en-US" dirty="0" err="1" smtClean="0">
                <a:solidFill>
                  <a:srgbClr val="00B0F0"/>
                </a:solidFill>
              </a:rPr>
              <a:t>diseño</a:t>
            </a:r>
            <a:r>
              <a:rPr lang="en-US" dirty="0" smtClean="0">
                <a:solidFill>
                  <a:srgbClr val="00B0F0"/>
                </a:solidFill>
              </a:rPr>
              <a:t> del </a:t>
            </a:r>
            <a:r>
              <a:rPr lang="en-US" dirty="0" err="1" smtClean="0">
                <a:solidFill>
                  <a:srgbClr val="00B0F0"/>
                </a:solidFill>
              </a:rPr>
              <a:t>algoritmo</a:t>
            </a:r>
            <a:r>
              <a:rPr lang="en-US" dirty="0" smtClean="0">
                <a:solidFill>
                  <a:srgbClr val="00B0F0"/>
                </a:solidFill>
              </a:rPr>
              <a:t> </a:t>
            </a:r>
            <a:r>
              <a:rPr lang="en-US" dirty="0" err="1" smtClean="0">
                <a:solidFill>
                  <a:srgbClr val="00B0F0"/>
                </a:solidFill>
              </a:rPr>
              <a:t>genético</a:t>
            </a:r>
            <a:endParaRPr lang="en-US" dirty="0">
              <a:solidFill>
                <a:srgbClr val="00B0F0"/>
              </a:solidFill>
            </a:endParaRPr>
          </a:p>
          <a:p>
            <a:r>
              <a:rPr lang="en-US" dirty="0"/>
              <a:t>                </a:t>
            </a:r>
            <a:r>
              <a:rPr lang="en-US" dirty="0" err="1"/>
              <a:t>toolbox.mate</a:t>
            </a:r>
            <a:r>
              <a:rPr lang="en-US" dirty="0"/>
              <a:t>(child1, child2)</a:t>
            </a:r>
          </a:p>
          <a:p>
            <a:r>
              <a:rPr lang="en-US" dirty="0"/>
              <a:t>                del </a:t>
            </a:r>
            <a:r>
              <a:rPr lang="en-US" dirty="0" smtClean="0"/>
              <a:t>child1.fitness.values </a:t>
            </a:r>
            <a:r>
              <a:rPr lang="en-US" dirty="0" smtClean="0">
                <a:solidFill>
                  <a:srgbClr val="00B0F0"/>
                </a:solidFill>
              </a:rPr>
              <a:t># </a:t>
            </a:r>
            <a:r>
              <a:rPr lang="en-US" dirty="0" err="1" smtClean="0">
                <a:solidFill>
                  <a:srgbClr val="00B0F0"/>
                </a:solidFill>
              </a:rPr>
              <a:t>eliminamos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valores</a:t>
            </a:r>
            <a:r>
              <a:rPr lang="en-US" dirty="0" smtClean="0">
                <a:solidFill>
                  <a:srgbClr val="00B0F0"/>
                </a:solidFill>
              </a:rPr>
              <a:t> de fitness</a:t>
            </a:r>
            <a:endParaRPr lang="en-US" dirty="0">
              <a:solidFill>
                <a:srgbClr val="00B0F0"/>
              </a:solidFill>
            </a:endParaRPr>
          </a:p>
          <a:p>
            <a:r>
              <a:rPr lang="en-US" dirty="0"/>
              <a:t>                del child2.fitness.values</a:t>
            </a:r>
          </a:p>
          <a:p>
            <a:endParaRPr lang="en-US" dirty="0"/>
          </a:p>
          <a:p>
            <a:r>
              <a:rPr lang="en-US" dirty="0"/>
              <a:t>        for mutant in offspring:</a:t>
            </a:r>
          </a:p>
          <a:p>
            <a:r>
              <a:rPr lang="en-US" dirty="0"/>
              <a:t>            if </a:t>
            </a:r>
            <a:r>
              <a:rPr lang="en-US" dirty="0" err="1"/>
              <a:t>random.random</a:t>
            </a:r>
            <a:r>
              <a:rPr lang="en-US" dirty="0"/>
              <a:t>() &lt; MUTPB</a:t>
            </a:r>
            <a:r>
              <a:rPr lang="en-US" dirty="0" smtClean="0"/>
              <a:t>: </a:t>
            </a:r>
            <a:r>
              <a:rPr lang="en-US" dirty="0" smtClean="0">
                <a:solidFill>
                  <a:srgbClr val="00B0F0"/>
                </a:solidFill>
              </a:rPr>
              <a:t># </a:t>
            </a:r>
            <a:r>
              <a:rPr lang="en-US" dirty="0" err="1" smtClean="0">
                <a:solidFill>
                  <a:srgbClr val="00B0F0"/>
                </a:solidFill>
              </a:rPr>
              <a:t>parámetro</a:t>
            </a:r>
            <a:r>
              <a:rPr lang="en-US" dirty="0" smtClean="0">
                <a:solidFill>
                  <a:srgbClr val="00B0F0"/>
                </a:solidFill>
              </a:rPr>
              <a:t> de </a:t>
            </a:r>
            <a:r>
              <a:rPr lang="en-US" dirty="0" err="1" smtClean="0">
                <a:solidFill>
                  <a:srgbClr val="00B0F0"/>
                </a:solidFill>
              </a:rPr>
              <a:t>diseño</a:t>
            </a:r>
            <a:endParaRPr lang="en-US" dirty="0">
              <a:solidFill>
                <a:srgbClr val="00B0F0"/>
              </a:solidFill>
            </a:endParaRPr>
          </a:p>
          <a:p>
            <a:r>
              <a:rPr lang="en-US" dirty="0"/>
              <a:t>                </a:t>
            </a:r>
            <a:r>
              <a:rPr lang="en-US" dirty="0" err="1"/>
              <a:t>toolbox.mutate</a:t>
            </a:r>
            <a:r>
              <a:rPr lang="en-US" dirty="0"/>
              <a:t>(mutant)</a:t>
            </a:r>
          </a:p>
          <a:p>
            <a:r>
              <a:rPr lang="en-US" dirty="0"/>
              <a:t>                del </a:t>
            </a:r>
            <a:r>
              <a:rPr lang="en-US" dirty="0" err="1"/>
              <a:t>mutant.fitness.values</a:t>
            </a:r>
            <a:endParaRPr lang="en-US" dirty="0"/>
          </a:p>
          <a:p>
            <a:r>
              <a:rPr lang="es-ES" dirty="0"/>
              <a:t> </a:t>
            </a:r>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5624264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693319"/>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6: </a:t>
            </a:r>
            <a:r>
              <a:rPr lang="es-ES" dirty="0" smtClean="0">
                <a:solidFill>
                  <a:srgbClr val="FF0000"/>
                </a:solidFill>
                <a:sym typeface="Wingdings" panose="05000000000000000000" pitchFamily="2" charset="2"/>
              </a:rPr>
              <a:t>Evaluamos los nuevos individuos</a:t>
            </a:r>
          </a:p>
          <a:p>
            <a:endParaRPr lang="es-ES" dirty="0" smtClean="0">
              <a:sym typeface="Wingdings" panose="05000000000000000000" pitchFamily="2" charset="2"/>
            </a:endParaRPr>
          </a:p>
          <a:p>
            <a:r>
              <a:rPr lang="en-US" dirty="0"/>
              <a:t> </a:t>
            </a:r>
            <a:r>
              <a:rPr lang="en-US" dirty="0" smtClean="0">
                <a:solidFill>
                  <a:srgbClr val="00B0F0"/>
                </a:solidFill>
              </a:rPr>
              <a:t># </a:t>
            </a:r>
            <a:r>
              <a:rPr lang="en-US" dirty="0" err="1" smtClean="0">
                <a:solidFill>
                  <a:srgbClr val="00B0F0"/>
                </a:solidFill>
              </a:rPr>
              <a:t>Sólo</a:t>
            </a:r>
            <a:r>
              <a:rPr lang="en-US" dirty="0" smtClean="0">
                <a:solidFill>
                  <a:srgbClr val="00B0F0"/>
                </a:solidFill>
              </a:rPr>
              <a:t> </a:t>
            </a:r>
            <a:r>
              <a:rPr lang="en-US" dirty="0" err="1" smtClean="0">
                <a:solidFill>
                  <a:srgbClr val="00B0F0"/>
                </a:solidFill>
              </a:rPr>
              <a:t>evaluamos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nuevos</a:t>
            </a:r>
            <a:r>
              <a:rPr lang="en-US" dirty="0" smtClean="0">
                <a:solidFill>
                  <a:srgbClr val="00B0F0"/>
                </a:solidFill>
              </a:rPr>
              <a:t> </a:t>
            </a:r>
            <a:r>
              <a:rPr lang="en-US" dirty="0" err="1" smtClean="0">
                <a:solidFill>
                  <a:srgbClr val="00B0F0"/>
                </a:solidFill>
              </a:rPr>
              <a:t>individuos</a:t>
            </a:r>
            <a:endParaRPr lang="en-US" dirty="0"/>
          </a:p>
          <a:p>
            <a:r>
              <a:rPr lang="en-US" dirty="0"/>
              <a:t>        </a:t>
            </a:r>
            <a:r>
              <a:rPr lang="en-US" dirty="0" err="1"/>
              <a:t>invalid_ind</a:t>
            </a:r>
            <a:r>
              <a:rPr lang="en-US" dirty="0"/>
              <a:t> = [</a:t>
            </a:r>
            <a:r>
              <a:rPr lang="en-US" dirty="0" err="1"/>
              <a:t>ind</a:t>
            </a:r>
            <a:r>
              <a:rPr lang="en-US" dirty="0"/>
              <a:t> for </a:t>
            </a:r>
            <a:r>
              <a:rPr lang="en-US" dirty="0" err="1"/>
              <a:t>ind</a:t>
            </a:r>
            <a:r>
              <a:rPr lang="en-US" dirty="0"/>
              <a:t> in offspring if not </a:t>
            </a:r>
            <a:r>
              <a:rPr lang="en-US" dirty="0" err="1"/>
              <a:t>ind.fitness.valid</a:t>
            </a:r>
            <a:r>
              <a:rPr lang="en-US" dirty="0"/>
              <a:t>]</a:t>
            </a:r>
          </a:p>
          <a:p>
            <a:r>
              <a:rPr lang="en-US" dirty="0"/>
              <a:t>        </a:t>
            </a:r>
            <a:r>
              <a:rPr lang="en-US" dirty="0" err="1"/>
              <a:t>fitnesses</a:t>
            </a:r>
            <a:r>
              <a:rPr lang="en-US" dirty="0"/>
              <a:t> = map(</a:t>
            </a:r>
            <a:r>
              <a:rPr lang="en-US" dirty="0" err="1"/>
              <a:t>toolbox.evaluate</a:t>
            </a:r>
            <a:r>
              <a:rPr lang="en-US" dirty="0"/>
              <a:t>, </a:t>
            </a:r>
            <a:r>
              <a:rPr lang="en-US" dirty="0" err="1"/>
              <a:t>invalid_ind</a:t>
            </a:r>
            <a:r>
              <a:rPr lang="en-US" dirty="0"/>
              <a:t>)</a:t>
            </a:r>
          </a:p>
          <a:p>
            <a:r>
              <a:rPr lang="en-US" dirty="0"/>
              <a:t>        for </a:t>
            </a:r>
            <a:r>
              <a:rPr lang="en-US" dirty="0" err="1"/>
              <a:t>ind</a:t>
            </a:r>
            <a:r>
              <a:rPr lang="en-US" dirty="0"/>
              <a:t>, fit in zip(</a:t>
            </a:r>
            <a:r>
              <a:rPr lang="en-US" dirty="0" err="1"/>
              <a:t>invalid_ind</a:t>
            </a:r>
            <a:r>
              <a:rPr lang="en-US" dirty="0"/>
              <a:t>, </a:t>
            </a:r>
            <a:r>
              <a:rPr lang="en-US" dirty="0" err="1"/>
              <a:t>fitnesses</a:t>
            </a:r>
            <a:r>
              <a:rPr lang="en-US" dirty="0"/>
              <a:t>):</a:t>
            </a:r>
          </a:p>
          <a:p>
            <a:r>
              <a:rPr lang="en-US" dirty="0"/>
              <a:t>            </a:t>
            </a:r>
            <a:r>
              <a:rPr lang="en-US" dirty="0" err="1"/>
              <a:t>ind.fitness.values</a:t>
            </a:r>
            <a:r>
              <a:rPr lang="en-US" dirty="0"/>
              <a:t> = </a:t>
            </a:r>
            <a:r>
              <a:rPr lang="en-US" dirty="0" smtClean="0"/>
              <a:t>fit</a:t>
            </a:r>
          </a:p>
          <a:p>
            <a:endParaRPr lang="es-ES" b="1" dirty="0"/>
          </a:p>
          <a:p>
            <a:r>
              <a:rPr lang="es-ES" dirty="0" smtClean="0">
                <a:solidFill>
                  <a:srgbClr val="00B0F0"/>
                </a:solidFill>
              </a:rPr>
              <a:t># nueva población</a:t>
            </a:r>
            <a:endParaRPr lang="es-ES" dirty="0">
              <a:solidFill>
                <a:srgbClr val="00B0F0"/>
              </a:solidFill>
            </a:endParaRPr>
          </a:p>
          <a:p>
            <a:r>
              <a:rPr lang="es-ES" dirty="0"/>
              <a:t>pop[:] = </a:t>
            </a:r>
            <a:r>
              <a:rPr lang="es-ES" dirty="0" err="1"/>
              <a:t>offspring</a:t>
            </a:r>
            <a:endParaRPr lang="es-ES"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82929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1754326"/>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Vamos a volver a ver el ejemplo de un vez (algunos detalles más)</a:t>
            </a:r>
          </a:p>
          <a:p>
            <a:endParaRPr lang="es-ES" dirty="0">
              <a:solidFill>
                <a:srgbClr val="FF0000"/>
              </a:solidFill>
              <a:sym typeface="Wingdings" panose="05000000000000000000" pitchFamily="2" charset="2"/>
            </a:endParaRPr>
          </a:p>
          <a:p>
            <a:r>
              <a:rPr lang="es-ES" dirty="0" smtClean="0">
                <a:solidFill>
                  <a:srgbClr val="FF0000"/>
                </a:solidFill>
                <a:sym typeface="Wingdings" panose="05000000000000000000" pitchFamily="2" charset="2"/>
              </a:rPr>
              <a:t> Abrir singlemax.py</a:t>
            </a: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7161145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6186309"/>
          </a:xfrm>
          <a:prstGeom prst="rect">
            <a:avLst/>
          </a:prstGeom>
        </p:spPr>
        <p:txBody>
          <a:bodyPr wrap="square">
            <a:spAutoFit/>
          </a:bodyPr>
          <a:lstStyle/>
          <a:p>
            <a:r>
              <a:rPr lang="es-ES" dirty="0" smtClean="0">
                <a:sym typeface="Wingdings" panose="05000000000000000000" pitchFamily="2" charset="2"/>
              </a:rPr>
              <a:t>Más detalles: </a:t>
            </a:r>
          </a:p>
          <a:p>
            <a:endParaRPr lang="es-ES" sz="12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Selección de “padres”</a:t>
            </a:r>
          </a:p>
          <a:p>
            <a:endParaRPr lang="es-ES" sz="1200" dirty="0">
              <a:solidFill>
                <a:srgbClr val="FF0000"/>
              </a:solidFill>
              <a:sym typeface="Wingdings" panose="05000000000000000000" pitchFamily="2" charset="2"/>
            </a:endParaRPr>
          </a:p>
          <a:p>
            <a:pPr marL="342900" indent="-342900">
              <a:buFont typeface="+mj-lt"/>
              <a:buAutoNum type="arabicPeriod"/>
            </a:pPr>
            <a:r>
              <a:rPr lang="es-ES" dirty="0" smtClean="0">
                <a:sym typeface="Wingdings" panose="05000000000000000000" pitchFamily="2" charset="2"/>
              </a:rPr>
              <a:t>Selección basada en torneo (</a:t>
            </a:r>
            <a:r>
              <a:rPr lang="es-ES" dirty="0" err="1" smtClean="0">
                <a:sym typeface="Wingdings" panose="05000000000000000000" pitchFamily="2" charset="2"/>
              </a:rPr>
              <a:t>tournament</a:t>
            </a:r>
            <a:r>
              <a:rPr lang="es-ES" dirty="0" smtClean="0">
                <a:sym typeface="Wingdings" panose="05000000000000000000" pitchFamily="2" charset="2"/>
              </a:rPr>
              <a:t> </a:t>
            </a:r>
            <a:r>
              <a:rPr lang="es-ES" dirty="0" err="1" smtClean="0">
                <a:sym typeface="Wingdings" panose="05000000000000000000" pitchFamily="2" charset="2"/>
              </a:rPr>
              <a:t>selection</a:t>
            </a:r>
            <a:r>
              <a:rPr lang="es-ES" dirty="0" smtClean="0">
                <a:sym typeface="Wingdings" panose="05000000000000000000" pitchFamily="2" charset="2"/>
              </a:rPr>
              <a:t>):</a:t>
            </a:r>
          </a:p>
          <a:p>
            <a:endParaRPr lang="es-ES" sz="1200" dirty="0">
              <a:sym typeface="Wingdings" panose="05000000000000000000" pitchFamily="2" charset="2"/>
            </a:endParaRPr>
          </a:p>
          <a:p>
            <a:r>
              <a:rPr lang="es-ES" dirty="0" smtClean="0">
                <a:sym typeface="Wingdings" panose="05000000000000000000" pitchFamily="2" charset="2"/>
              </a:rPr>
              <a:t>Se seleccionan de forma aleatoria un número de individuos de la población de forma aleatoria y se crea un torneo entre ellos. El torneo lo gana el individuo con mayor </a:t>
            </a:r>
            <a:r>
              <a:rPr lang="es-ES" dirty="0" err="1" smtClean="0">
                <a:sym typeface="Wingdings" panose="05000000000000000000" pitchFamily="2" charset="2"/>
              </a:rPr>
              <a:t>fitness</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Parámetros</a:t>
            </a:r>
            <a:r>
              <a:rPr lang="es-ES" dirty="0" smtClean="0">
                <a:sym typeface="Wingdings" panose="05000000000000000000" pitchFamily="2" charset="2"/>
              </a:rPr>
              <a:t> que se deben considerar: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se deben seleccionar.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participan en el torneo.</a:t>
            </a:r>
          </a:p>
          <a:p>
            <a:endParaRPr lang="es-ES" dirty="0">
              <a:sym typeface="Wingdings" panose="05000000000000000000" pitchFamily="2" charset="2"/>
            </a:endParaRPr>
          </a:p>
          <a:p>
            <a:r>
              <a:rPr lang="es-ES" dirty="0" err="1"/>
              <a:t>toolbox.register</a:t>
            </a:r>
            <a:r>
              <a:rPr lang="es-ES" dirty="0"/>
              <a:t>("</a:t>
            </a:r>
            <a:r>
              <a:rPr lang="es-ES" dirty="0" err="1"/>
              <a:t>select</a:t>
            </a:r>
            <a:r>
              <a:rPr lang="es-ES" dirty="0"/>
              <a:t>", </a:t>
            </a:r>
            <a:r>
              <a:rPr lang="es-ES" dirty="0" err="1"/>
              <a:t>tools.selTournament</a:t>
            </a:r>
            <a:r>
              <a:rPr lang="es-ES" dirty="0"/>
              <a:t>, </a:t>
            </a:r>
            <a:r>
              <a:rPr lang="es-ES" dirty="0" err="1"/>
              <a:t>tournsize</a:t>
            </a:r>
            <a:r>
              <a:rPr lang="es-ES" dirty="0"/>
              <a:t>=3) </a:t>
            </a:r>
            <a:r>
              <a:rPr lang="es-ES" dirty="0">
                <a:solidFill>
                  <a:srgbClr val="0070C0"/>
                </a:solidFill>
              </a:rPr>
              <a:t># Selección de </a:t>
            </a:r>
            <a:r>
              <a:rPr lang="es-ES" dirty="0" smtClean="0">
                <a:solidFill>
                  <a:srgbClr val="0070C0"/>
                </a:solidFill>
              </a:rPr>
              <a:t>padres</a:t>
            </a:r>
          </a:p>
          <a:p>
            <a:r>
              <a:rPr lang="en-US" dirty="0"/>
              <a:t>offspring = </a:t>
            </a:r>
            <a:r>
              <a:rPr lang="en-US" dirty="0" err="1"/>
              <a:t>toolbox.select</a:t>
            </a:r>
            <a:r>
              <a:rPr lang="en-US" dirty="0"/>
              <a:t>(pop, </a:t>
            </a:r>
            <a:r>
              <a:rPr lang="en-US" dirty="0" err="1"/>
              <a:t>len</a:t>
            </a:r>
            <a:r>
              <a:rPr lang="en-US" dirty="0"/>
              <a:t>(pop</a:t>
            </a:r>
            <a:r>
              <a:rPr lang="en-US" dirty="0" smtClean="0"/>
              <a:t>)) </a:t>
            </a:r>
            <a:r>
              <a:rPr lang="en-US" dirty="0" smtClean="0">
                <a:solidFill>
                  <a:srgbClr val="0070C0"/>
                </a:solidFill>
              </a:rPr>
              <a:t># </a:t>
            </a:r>
            <a:r>
              <a:rPr lang="en-US" dirty="0" err="1" smtClean="0">
                <a:solidFill>
                  <a:srgbClr val="0070C0"/>
                </a:solidFill>
              </a:rPr>
              <a:t>aquí</a:t>
            </a:r>
            <a:r>
              <a:rPr lang="en-US" dirty="0" smtClean="0">
                <a:solidFill>
                  <a:srgbClr val="0070C0"/>
                </a:solidFill>
              </a:rPr>
              <a:t> </a:t>
            </a:r>
            <a:r>
              <a:rPr lang="en-US" dirty="0" err="1" smtClean="0">
                <a:solidFill>
                  <a:srgbClr val="0070C0"/>
                </a:solidFill>
              </a:rPr>
              <a:t>selecionamos</a:t>
            </a:r>
            <a:r>
              <a:rPr lang="en-US" dirty="0" smtClean="0">
                <a:solidFill>
                  <a:srgbClr val="0070C0"/>
                </a:solidFill>
              </a:rPr>
              <a:t> </a:t>
            </a:r>
            <a:r>
              <a:rPr lang="en-US" dirty="0" err="1" smtClean="0">
                <a:solidFill>
                  <a:srgbClr val="0070C0"/>
                </a:solidFill>
              </a:rPr>
              <a:t>los</a:t>
            </a:r>
            <a:r>
              <a:rPr lang="en-US" dirty="0" smtClean="0">
                <a:solidFill>
                  <a:srgbClr val="0070C0"/>
                </a:solidFill>
              </a:rPr>
              <a:t> </a:t>
            </a:r>
            <a:r>
              <a:rPr lang="en-US" dirty="0" err="1" smtClean="0">
                <a:solidFill>
                  <a:srgbClr val="0070C0"/>
                </a:solidFill>
              </a:rPr>
              <a:t>otros</a:t>
            </a:r>
            <a:r>
              <a:rPr lang="en-US" dirty="0" smtClean="0">
                <a:solidFill>
                  <a:srgbClr val="0070C0"/>
                </a:solidFill>
              </a:rPr>
              <a:t> </a:t>
            </a:r>
            <a:r>
              <a:rPr lang="en-US" dirty="0" err="1" smtClean="0">
                <a:solidFill>
                  <a:srgbClr val="0070C0"/>
                </a:solidFill>
              </a:rPr>
              <a:t>parámetros</a:t>
            </a:r>
            <a:r>
              <a:rPr lang="en-US" dirty="0" smtClean="0">
                <a:solidFill>
                  <a:srgbClr val="0070C0"/>
                </a:solidFill>
              </a:rPr>
              <a:t> que </a:t>
            </a:r>
            <a:r>
              <a:rPr lang="en-US" dirty="0" err="1" smtClean="0">
                <a:solidFill>
                  <a:srgbClr val="0070C0"/>
                </a:solidFill>
              </a:rPr>
              <a:t>nos</a:t>
            </a:r>
            <a:r>
              <a:rPr lang="en-US" dirty="0" smtClean="0">
                <a:solidFill>
                  <a:srgbClr val="0070C0"/>
                </a:solidFill>
              </a:rPr>
              <a:t> </a:t>
            </a:r>
            <a:r>
              <a:rPr lang="en-US" dirty="0" err="1" smtClean="0">
                <a:solidFill>
                  <a:srgbClr val="0070C0"/>
                </a:solidFill>
              </a:rPr>
              <a:t>faltaban</a:t>
            </a:r>
            <a:r>
              <a:rPr lang="en-US" dirty="0" smtClean="0">
                <a:solidFill>
                  <a:srgbClr val="0070C0"/>
                </a:solidFill>
              </a:rPr>
              <a:t>, pop (</a:t>
            </a:r>
            <a:r>
              <a:rPr lang="en-US" dirty="0" err="1" smtClean="0">
                <a:solidFill>
                  <a:srgbClr val="0070C0"/>
                </a:solidFill>
              </a:rPr>
              <a:t>individuos</a:t>
            </a:r>
            <a:r>
              <a:rPr lang="en-US" dirty="0" smtClean="0">
                <a:solidFill>
                  <a:srgbClr val="0070C0"/>
                </a:solidFill>
              </a:rPr>
              <a:t> que participant) y </a:t>
            </a:r>
            <a:r>
              <a:rPr lang="en-US" dirty="0" err="1" smtClean="0">
                <a:solidFill>
                  <a:srgbClr val="0070C0"/>
                </a:solidFill>
              </a:rPr>
              <a:t>len</a:t>
            </a:r>
            <a:r>
              <a:rPr lang="en-US" dirty="0" smtClean="0">
                <a:solidFill>
                  <a:srgbClr val="0070C0"/>
                </a:solidFill>
              </a:rPr>
              <a:t>(pop) (</a:t>
            </a:r>
            <a:r>
              <a:rPr lang="en-US" dirty="0" err="1" smtClean="0">
                <a:solidFill>
                  <a:srgbClr val="0070C0"/>
                </a:solidFill>
              </a:rPr>
              <a:t>cuantos</a:t>
            </a:r>
            <a:r>
              <a:rPr lang="en-US" dirty="0" smtClean="0">
                <a:solidFill>
                  <a:srgbClr val="0070C0"/>
                </a:solidFill>
              </a:rPr>
              <a:t> hay que </a:t>
            </a:r>
            <a:r>
              <a:rPr lang="en-US" dirty="0" err="1" smtClean="0">
                <a:solidFill>
                  <a:srgbClr val="0070C0"/>
                </a:solidFill>
              </a:rPr>
              <a:t>seleccionar</a:t>
            </a:r>
            <a:r>
              <a:rPr lang="en-US" dirty="0" smtClean="0">
                <a:solidFill>
                  <a:srgbClr val="0070C0"/>
                </a:solidFill>
              </a:rPr>
              <a:t>) </a:t>
            </a:r>
            <a:endParaRPr lang="es-ES" dirty="0">
              <a:solidFill>
                <a:srgbClr val="0070C0"/>
              </a:solidFill>
              <a:sym typeface="Wingdings" panose="05000000000000000000" pitchFamily="2" charset="2"/>
              <a:hlinkClick r:id="rId2"/>
            </a:endParaRPr>
          </a:p>
          <a:p>
            <a:r>
              <a:rPr lang="es-ES" dirty="0" smtClean="0">
                <a:sym typeface="Wingdings" panose="05000000000000000000" pitchFamily="2" charset="2"/>
                <a:hlinkClick r:id="rId2"/>
              </a:rPr>
              <a:t>http</a:t>
            </a:r>
            <a:r>
              <a:rPr lang="es-ES" dirty="0">
                <a:sym typeface="Wingdings" panose="05000000000000000000" pitchFamily="2" charset="2"/>
                <a:hlinkClick r:id="rId2"/>
              </a:rPr>
              <a:t>://</a:t>
            </a:r>
            <a:r>
              <a:rPr lang="es-ES" dirty="0" smtClean="0">
                <a:sym typeface="Wingdings" panose="05000000000000000000" pitchFamily="2" charset="2"/>
                <a:hlinkClick r:id="rId2"/>
              </a:rPr>
              <a:t>deap.gel.ulaval.ca/doc/default/api/tools.html#deap.tools.selTournament</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olidFill>
                  <a:srgbClr val="C00000"/>
                </a:solidFill>
                <a:sym typeface="Wingdings" panose="05000000000000000000" pitchFamily="2" charset="2"/>
              </a:rPr>
              <a:t>En nuestro caso se hacen </a:t>
            </a:r>
            <a:r>
              <a:rPr lang="es-ES" dirty="0" err="1" smtClean="0">
                <a:solidFill>
                  <a:srgbClr val="C00000"/>
                </a:solidFill>
                <a:sym typeface="Wingdings" panose="05000000000000000000" pitchFamily="2" charset="2"/>
              </a:rPr>
              <a:t>len</a:t>
            </a:r>
            <a:r>
              <a:rPr lang="es-ES" dirty="0" smtClean="0">
                <a:solidFill>
                  <a:srgbClr val="C00000"/>
                </a:solidFill>
                <a:sym typeface="Wingdings" panose="05000000000000000000" pitchFamily="2" charset="2"/>
              </a:rPr>
              <a:t>(pop) torneos de 3 individuos cada uno. </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998814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94268" y="1661378"/>
            <a:ext cx="9496976" cy="5909310"/>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Selección de “padres”</a:t>
            </a:r>
          </a:p>
          <a:p>
            <a:endParaRPr lang="es-ES" dirty="0">
              <a:solidFill>
                <a:srgbClr val="FF0000"/>
              </a:solidFill>
              <a:sym typeface="Wingdings" panose="05000000000000000000" pitchFamily="2" charset="2"/>
            </a:endParaRPr>
          </a:p>
          <a:p>
            <a:r>
              <a:rPr lang="es-ES" dirty="0" smtClean="0">
                <a:sym typeface="Wingdings" panose="05000000000000000000" pitchFamily="2" charset="2"/>
              </a:rPr>
              <a:t>2. Selección basada en ruleta (</a:t>
            </a:r>
            <a:r>
              <a:rPr lang="es-ES" b="1" dirty="0" err="1"/>
              <a:t>Roulette</a:t>
            </a:r>
            <a:r>
              <a:rPr lang="es-ES" dirty="0" smtClean="0">
                <a:sym typeface="Wingdings" panose="05000000000000000000" pitchFamily="2" charset="2"/>
              </a:rPr>
              <a:t>):</a:t>
            </a:r>
          </a:p>
          <a:p>
            <a:endParaRPr lang="es-ES" dirty="0">
              <a:sym typeface="Wingdings" panose="05000000000000000000" pitchFamily="2" charset="2"/>
            </a:endParaRPr>
          </a:p>
          <a:p>
            <a:r>
              <a:rPr lang="es-ES" dirty="0" smtClean="0">
                <a:sym typeface="Wingdings" panose="05000000000000000000" pitchFamily="2" charset="2"/>
              </a:rPr>
              <a:t>Se hace “girar” una ruleta con los individuos y se selecciona uno. La probabilidad de que un individuo sea seleccionado depende de su </a:t>
            </a:r>
            <a:r>
              <a:rPr lang="es-ES" dirty="0" err="1" smtClean="0">
                <a:sym typeface="Wingdings" panose="05000000000000000000" pitchFamily="2" charset="2"/>
              </a:rPr>
              <a:t>fitness</a:t>
            </a:r>
            <a:r>
              <a:rPr lang="es-ES" dirty="0" smtClean="0">
                <a:sym typeface="Wingdings" panose="05000000000000000000" pitchFamily="2" charset="2"/>
              </a:rPr>
              <a:t>. Mayor </a:t>
            </a:r>
            <a:r>
              <a:rPr lang="es-ES" dirty="0" err="1" smtClean="0">
                <a:sym typeface="Wingdings" panose="05000000000000000000" pitchFamily="2" charset="2"/>
              </a:rPr>
              <a:t>fitness</a:t>
            </a:r>
            <a:r>
              <a:rPr lang="es-ES" dirty="0" smtClean="0">
                <a:sym typeface="Wingdings" panose="05000000000000000000" pitchFamily="2" charset="2"/>
              </a:rPr>
              <a:t> mayor probabilidad. Parámetros que se deben configurar: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se deben seleccionar.</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deap.gel.ulaval.ca/doc/default/api/tools.html#deap.tools.selRoulette</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olidFill>
                  <a:srgbClr val="FF0000"/>
                </a:solidFill>
                <a:sym typeface="Wingdings" panose="05000000000000000000" pitchFamily="2" charset="2"/>
              </a:rPr>
              <a:t> Abrir siglemax.py </a:t>
            </a: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797385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94268" y="1661378"/>
            <a:ext cx="9496976" cy="5078313"/>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Selección de “padres”</a:t>
            </a:r>
          </a:p>
          <a:p>
            <a:endParaRPr lang="es-ES" dirty="0">
              <a:solidFill>
                <a:srgbClr val="FF0000"/>
              </a:solidFill>
              <a:sym typeface="Wingdings" panose="05000000000000000000" pitchFamily="2" charset="2"/>
            </a:endParaRPr>
          </a:p>
          <a:p>
            <a:r>
              <a:rPr lang="es-ES" dirty="0" smtClean="0">
                <a:sym typeface="Wingdings" panose="05000000000000000000" pitchFamily="2" charset="2"/>
              </a:rPr>
              <a:t>3. Elitismo  Seleccionamos a los mejores siempre:</a:t>
            </a:r>
          </a:p>
          <a:p>
            <a:endParaRPr lang="es-ES" dirty="0">
              <a:sym typeface="Wingdings" panose="05000000000000000000" pitchFamily="2" charset="2"/>
            </a:endParaRPr>
          </a:p>
          <a:p>
            <a:r>
              <a:rPr lang="es-ES" dirty="0" smtClean="0">
                <a:sym typeface="Wingdings" panose="05000000000000000000" pitchFamily="2" charset="2"/>
              </a:rPr>
              <a:t>La idea es que los mejores individuos pasen siempre a la siguiente generación. Parámetros que se deben configurar: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se deben seleccionar.</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deap.gel.ulaval.ca/doc/default/api/tools.html#deap.tools.selBest</a:t>
            </a:r>
            <a:endParaRPr lang="es-ES" dirty="0" smtClean="0">
              <a:sym typeface="Wingdings" panose="05000000000000000000" pitchFamily="2" charset="2"/>
            </a:endParaRPr>
          </a:p>
          <a:p>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Podemos combinarlo con alguno de los anteriores mecanismos de selección.</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singlemax2 (comprobar que con elitismo se mejora la selección basada en ruleta)</a:t>
            </a: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4506475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785652"/>
          </a:xfrm>
          <a:prstGeom prst="rect">
            <a:avLst/>
          </a:prstGeom>
        </p:spPr>
        <p:txBody>
          <a:bodyPr wrap="square">
            <a:spAutoFit/>
          </a:bodyPr>
          <a:lstStyle/>
          <a:p>
            <a:r>
              <a:rPr lang="es-ES" dirty="0" smtClean="0">
                <a:sym typeface="Wingdings" panose="05000000000000000000" pitchFamily="2" charset="2"/>
              </a:rPr>
              <a:t>Más detalles: </a:t>
            </a:r>
          </a:p>
          <a:p>
            <a:endParaRPr lang="es-ES" sz="12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Tipos de crossover</a:t>
            </a:r>
            <a:r>
              <a:rPr lang="es-ES" dirty="0">
                <a:solidFill>
                  <a:srgbClr val="FF0000"/>
                </a:solidFill>
                <a:sym typeface="Wingdings" panose="05000000000000000000" pitchFamily="2" charset="2"/>
              </a:rPr>
              <a:t>:</a:t>
            </a:r>
            <a:endParaRPr lang="es-ES" dirty="0" smtClean="0">
              <a:solidFill>
                <a:srgbClr val="FF0000"/>
              </a:solidFill>
              <a:sym typeface="Wingdings" panose="05000000000000000000" pitchFamily="2" charset="2"/>
            </a:endParaRPr>
          </a:p>
          <a:p>
            <a:endParaRPr lang="es-ES" sz="1200" dirty="0">
              <a:solidFill>
                <a:srgbClr val="FF0000"/>
              </a:solidFill>
              <a:sym typeface="Wingdings" panose="05000000000000000000" pitchFamily="2" charset="2"/>
            </a:endParaRPr>
          </a:p>
          <a:p>
            <a:pPr marL="342900" indent="-342900">
              <a:buFont typeface="+mj-lt"/>
              <a:buAutoNum type="arabicPeriod"/>
            </a:pPr>
            <a:r>
              <a:rPr lang="es-ES" dirty="0" smtClean="0">
                <a:sym typeface="Wingdings" panose="05000000000000000000" pitchFamily="2" charset="2"/>
              </a:rPr>
              <a:t>Crossover de un sólo punto de cruce:</a:t>
            </a:r>
          </a:p>
          <a:p>
            <a:endParaRPr lang="es-ES" sz="1200" dirty="0" smtClean="0">
              <a:sym typeface="Wingdings" panose="05000000000000000000" pitchFamily="2" charset="2"/>
            </a:endParaRPr>
          </a:p>
          <a:p>
            <a:r>
              <a:rPr lang="es-ES" dirty="0" err="1">
                <a:sym typeface="Wingdings" panose="05000000000000000000" pitchFamily="2" charset="2"/>
              </a:rPr>
              <a:t>deap.tools.cxOnePoint</a:t>
            </a:r>
            <a:r>
              <a:rPr lang="es-ES" dirty="0">
                <a:sym typeface="Wingdings" panose="05000000000000000000" pitchFamily="2" charset="2"/>
              </a:rPr>
              <a:t>(ind1, ind2)</a:t>
            </a:r>
            <a:endParaRPr lang="es-ES" dirty="0" smtClean="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deap.gel.ulaval.ca/doc/default/api/tools.html#deap.tools.cxOnePoint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8" name="Imagen 7"/>
          <p:cNvPicPr/>
          <p:nvPr/>
        </p:nvPicPr>
        <p:blipFill>
          <a:blip r:embed="rId4" cstate="print"/>
          <a:srcRect/>
          <a:stretch>
            <a:fillRect/>
          </a:stretch>
        </p:blipFill>
        <p:spPr bwMode="auto">
          <a:xfrm>
            <a:off x="1739900" y="3844924"/>
            <a:ext cx="6553200" cy="2695576"/>
          </a:xfrm>
          <a:prstGeom prst="rect">
            <a:avLst/>
          </a:prstGeom>
          <a:noFill/>
          <a:ln w="9525">
            <a:noFill/>
            <a:miter lim="800000"/>
            <a:headEnd/>
            <a:tailEnd/>
          </a:ln>
        </p:spPr>
      </p:pic>
    </p:spTree>
    <p:extLst>
      <p:ext uri="{BB962C8B-B14F-4D97-AF65-F5344CB8AC3E}">
        <p14:creationId xmlns:p14="http://schemas.microsoft.com/office/powerpoint/2010/main" val="790885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521678"/>
            <a:ext cx="9496976" cy="3231654"/>
          </a:xfrm>
          <a:prstGeom prst="rect">
            <a:avLst/>
          </a:prstGeom>
        </p:spPr>
        <p:txBody>
          <a:bodyPr wrap="square">
            <a:spAutoFit/>
          </a:bodyPr>
          <a:lstStyle/>
          <a:p>
            <a:endParaRPr lang="es-ES" sz="1200" dirty="0">
              <a:solidFill>
                <a:srgbClr val="FF0000"/>
              </a:solidFill>
              <a:sym typeface="Wingdings" panose="05000000000000000000" pitchFamily="2" charset="2"/>
            </a:endParaRPr>
          </a:p>
          <a:p>
            <a:r>
              <a:rPr lang="es-ES" dirty="0" smtClean="0">
                <a:sym typeface="Wingdings" panose="05000000000000000000" pitchFamily="2" charset="2"/>
              </a:rPr>
              <a:t>2- Crossover de dos puntos de cruce:</a:t>
            </a:r>
          </a:p>
          <a:p>
            <a:endParaRPr lang="es-ES" sz="1200" dirty="0" smtClean="0">
              <a:sym typeface="Wingdings" panose="05000000000000000000" pitchFamily="2" charset="2"/>
            </a:endParaRPr>
          </a:p>
          <a:p>
            <a:r>
              <a:rPr lang="es-ES" dirty="0" err="1" smtClean="0">
                <a:sym typeface="Wingdings" panose="05000000000000000000" pitchFamily="2" charset="2"/>
              </a:rPr>
              <a:t>deap.tools.cxTwoPoint</a:t>
            </a:r>
            <a:r>
              <a:rPr lang="es-ES" dirty="0" smtClean="0">
                <a:sym typeface="Wingdings" panose="05000000000000000000" pitchFamily="2" charset="2"/>
              </a:rPr>
              <a:t>(ind1</a:t>
            </a:r>
            <a:r>
              <a:rPr lang="es-ES" dirty="0">
                <a:sym typeface="Wingdings" panose="05000000000000000000" pitchFamily="2" charset="2"/>
              </a:rPr>
              <a:t>, ind2)</a:t>
            </a:r>
            <a:endParaRPr lang="es-ES" dirty="0" smtClean="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deap.gel.ulaval.ca/doc/default/api/tools.html#deap.tools.cxTwoPoint</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olidFill>
                  <a:srgbClr val="FF0000"/>
                </a:solidFill>
                <a:sym typeface="Wingdings" panose="05000000000000000000" pitchFamily="2" charset="2"/>
              </a:rPr>
              <a:t> Abrir onemax.py y cambiar el tipo de crossover</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2051" name="Imagen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000" y="3606800"/>
            <a:ext cx="6908801" cy="2869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37677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074" name="Imagen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237" y="4257675"/>
            <a:ext cx="3260502" cy="2241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p:cNvSpPr/>
          <p:nvPr/>
        </p:nvSpPr>
        <p:spPr>
          <a:xfrm>
            <a:off x="677334" y="1661378"/>
            <a:ext cx="9496976" cy="4524315"/>
          </a:xfrm>
          <a:prstGeom prst="rect">
            <a:avLst/>
          </a:prstGeom>
        </p:spPr>
        <p:txBody>
          <a:bodyPr wrap="square">
            <a:spAutoFit/>
          </a:bodyPr>
          <a:lstStyle/>
          <a:p>
            <a:r>
              <a:rPr lang="es-ES" dirty="0" smtClean="0">
                <a:sym typeface="Wingdings" panose="05000000000000000000" pitchFamily="2" charset="2"/>
              </a:rPr>
              <a:t>Más detalles: </a:t>
            </a:r>
          </a:p>
          <a:p>
            <a:endParaRPr lang="es-ES" sz="12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Tipos de Mutación: Depende mucho de la estructura del individuo si es una lista de bits</a:t>
            </a:r>
          </a:p>
          <a:p>
            <a:r>
              <a:rPr lang="es-ES" dirty="0" smtClean="0">
                <a:solidFill>
                  <a:srgbClr val="FF0000"/>
                </a:solidFill>
                <a:sym typeface="Wingdings" panose="05000000000000000000" pitchFamily="2" charset="2"/>
              </a:rPr>
              <a:t>o una lista de entero …</a:t>
            </a:r>
          </a:p>
          <a:p>
            <a:endParaRPr lang="es-ES" sz="1200" dirty="0">
              <a:solidFill>
                <a:srgbClr val="FF0000"/>
              </a:solidFill>
              <a:sym typeface="Wingdings" panose="05000000000000000000" pitchFamily="2" charset="2"/>
            </a:endParaRPr>
          </a:p>
          <a:p>
            <a:pPr marL="342900" indent="-342900">
              <a:buFont typeface="+mj-lt"/>
              <a:buAutoNum type="arabicPeriod"/>
            </a:pPr>
            <a:r>
              <a:rPr lang="es-ES" dirty="0" smtClean="0">
                <a:sym typeface="Wingdings" panose="05000000000000000000" pitchFamily="2" charset="2"/>
              </a:rPr>
              <a:t>Conmutar un bit (</a:t>
            </a:r>
            <a:r>
              <a:rPr lang="es-ES" dirty="0" err="1" smtClean="0"/>
              <a:t>mutFlipBit</a:t>
            </a:r>
            <a:r>
              <a:rPr lang="es-ES" dirty="0" smtClean="0"/>
              <a:t>)</a:t>
            </a:r>
            <a:r>
              <a:rPr lang="es-ES" dirty="0" smtClean="0">
                <a:sym typeface="Wingdings" panose="05000000000000000000" pitchFamily="2" charset="2"/>
              </a:rPr>
              <a:t>: Se conmuta los atributos del individuo con cierta probabilidad</a:t>
            </a:r>
          </a:p>
          <a:p>
            <a:endParaRPr lang="es-ES" sz="1200" dirty="0" smtClean="0">
              <a:sym typeface="Wingdings" panose="05000000000000000000" pitchFamily="2" charset="2"/>
            </a:endParaRPr>
          </a:p>
          <a:p>
            <a:r>
              <a:rPr lang="es-ES" dirty="0" err="1">
                <a:sym typeface="Wingdings" panose="05000000000000000000" pitchFamily="2" charset="2"/>
              </a:rPr>
              <a:t>tools.mutFlipBit</a:t>
            </a:r>
            <a:r>
              <a:rPr lang="es-ES" dirty="0">
                <a:sym typeface="Wingdings" panose="05000000000000000000" pitchFamily="2" charset="2"/>
              </a:rPr>
              <a:t>(individual, </a:t>
            </a:r>
            <a:r>
              <a:rPr lang="es-ES" dirty="0" err="1">
                <a:sym typeface="Wingdings" panose="05000000000000000000" pitchFamily="2" charset="2"/>
              </a:rPr>
              <a:t>indpb</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individuo, probabilidad</a:t>
            </a:r>
          </a:p>
          <a:p>
            <a:r>
              <a:rPr lang="es-ES" dirty="0">
                <a:sym typeface="Wingdings" panose="05000000000000000000" pitchFamily="2" charset="2"/>
                <a:hlinkClick r:id="rId4"/>
              </a:rPr>
              <a:t>http://</a:t>
            </a:r>
            <a:r>
              <a:rPr lang="es-ES" dirty="0" smtClean="0">
                <a:sym typeface="Wingdings" panose="05000000000000000000" pitchFamily="2" charset="2"/>
                <a:hlinkClick r:id="rId4"/>
              </a:rPr>
              <a:t>deap.gel.ulaval.ca/doc/default/api/tools.html#deap.tools.mutFlipBit</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spTree>
    <p:extLst>
      <p:ext uri="{BB962C8B-B14F-4D97-AF65-F5344CB8AC3E}">
        <p14:creationId xmlns:p14="http://schemas.microsoft.com/office/powerpoint/2010/main" val="24804377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7" name="Rectángulo 6"/>
          <p:cNvSpPr/>
          <p:nvPr/>
        </p:nvSpPr>
        <p:spPr>
          <a:xfrm>
            <a:off x="677334" y="1661378"/>
            <a:ext cx="9496976" cy="6186309"/>
          </a:xfrm>
          <a:prstGeom prst="rect">
            <a:avLst/>
          </a:prstGeom>
        </p:spPr>
        <p:txBody>
          <a:bodyPr wrap="square">
            <a:spAutoFit/>
          </a:bodyPr>
          <a:lstStyle/>
          <a:p>
            <a:endParaRPr lang="es-ES" sz="1200" dirty="0">
              <a:solidFill>
                <a:srgbClr val="FF0000"/>
              </a:solidFill>
              <a:sym typeface="Wingdings" panose="05000000000000000000" pitchFamily="2" charset="2"/>
            </a:endParaRPr>
          </a:p>
          <a:p>
            <a:endParaRPr lang="es-ES" sz="1200" dirty="0">
              <a:solidFill>
                <a:srgbClr val="FF0000"/>
              </a:solidFill>
              <a:sym typeface="Wingdings" panose="05000000000000000000" pitchFamily="2" charset="2"/>
            </a:endParaRPr>
          </a:p>
          <a:p>
            <a:r>
              <a:rPr lang="es-ES" dirty="0" smtClean="0">
                <a:sym typeface="Wingdings" panose="05000000000000000000" pitchFamily="2" charset="2"/>
              </a:rPr>
              <a:t>2. Conmutar índices (</a:t>
            </a:r>
            <a:r>
              <a:rPr lang="es-ES" dirty="0" err="1" smtClean="0"/>
              <a:t>mutFlipBit</a:t>
            </a:r>
            <a:r>
              <a:rPr lang="es-ES" dirty="0" smtClean="0"/>
              <a:t>)</a:t>
            </a:r>
            <a:r>
              <a:rPr lang="es-ES" dirty="0" smtClean="0">
                <a:sym typeface="Wingdings" panose="05000000000000000000" pitchFamily="2" charset="2"/>
              </a:rPr>
              <a:t>: Se cambia la posición de los atributos con cierta probabilidad</a:t>
            </a:r>
          </a:p>
          <a:p>
            <a:endParaRPr lang="es-ES" sz="1200" dirty="0" smtClean="0">
              <a:sym typeface="Wingdings" panose="05000000000000000000" pitchFamily="2" charset="2"/>
            </a:endParaRPr>
          </a:p>
          <a:p>
            <a:r>
              <a:rPr lang="es-ES" dirty="0" err="1">
                <a:sym typeface="Wingdings" panose="05000000000000000000" pitchFamily="2" charset="2"/>
              </a:rPr>
              <a:t>tools.mutShuffleIndexes</a:t>
            </a:r>
            <a:r>
              <a:rPr lang="es-ES" dirty="0">
                <a:sym typeface="Wingdings" panose="05000000000000000000" pitchFamily="2" charset="2"/>
              </a:rPr>
              <a:t>(individual, </a:t>
            </a:r>
            <a:r>
              <a:rPr lang="es-ES" dirty="0" err="1">
                <a:sym typeface="Wingdings" panose="05000000000000000000" pitchFamily="2" charset="2"/>
              </a:rPr>
              <a:t>indpb</a:t>
            </a:r>
            <a:r>
              <a:rPr lang="es-ES" dirty="0">
                <a:sym typeface="Wingdings" panose="05000000000000000000" pitchFamily="2" charset="2"/>
              </a:rPr>
              <a:t>) </a:t>
            </a:r>
            <a:r>
              <a:rPr lang="es-ES" dirty="0" smtClean="0">
                <a:solidFill>
                  <a:srgbClr val="0070C0"/>
                </a:solidFill>
                <a:sym typeface="Wingdings" panose="05000000000000000000" pitchFamily="2" charset="2"/>
              </a:rPr>
              <a:t># individuo, probabilidad</a:t>
            </a: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deap.gel.ulaval.ca/doc/default/api/tools.html#deap.tools.mutShuffleIndexes</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ym typeface="Wingdings" panose="05000000000000000000" pitchFamily="2" charset="2"/>
              </a:rPr>
              <a:t>3. Modificar un atributo entero (</a:t>
            </a:r>
            <a:r>
              <a:rPr lang="es-ES" dirty="0" err="1">
                <a:sym typeface="Wingdings" panose="05000000000000000000" pitchFamily="2" charset="2"/>
              </a:rPr>
              <a:t>mutUniformInt</a:t>
            </a:r>
            <a:r>
              <a:rPr lang="es-ES" dirty="0" smtClean="0">
                <a:sym typeface="Wingdings" panose="05000000000000000000" pitchFamily="2" charset="2"/>
              </a:rPr>
              <a:t>): Se cambia el atributo por otro comprendido entre dos valores con cierta probabilidad</a:t>
            </a:r>
          </a:p>
          <a:p>
            <a:endParaRPr lang="es-ES" dirty="0">
              <a:sym typeface="Wingdings" panose="05000000000000000000" pitchFamily="2" charset="2"/>
            </a:endParaRPr>
          </a:p>
          <a:p>
            <a:r>
              <a:rPr lang="es-ES" dirty="0" err="1">
                <a:sym typeface="Wingdings" panose="05000000000000000000" pitchFamily="2" charset="2"/>
              </a:rPr>
              <a:t>tools.mutUniformInt</a:t>
            </a:r>
            <a:r>
              <a:rPr lang="es-ES" dirty="0">
                <a:sym typeface="Wingdings" panose="05000000000000000000" pitchFamily="2" charset="2"/>
              </a:rPr>
              <a:t>(individual, </a:t>
            </a:r>
            <a:r>
              <a:rPr lang="es-ES" dirty="0" err="1">
                <a:sym typeface="Wingdings" panose="05000000000000000000" pitchFamily="2" charset="2"/>
              </a:rPr>
              <a:t>low</a:t>
            </a:r>
            <a:r>
              <a:rPr lang="es-ES" dirty="0">
                <a:sym typeface="Wingdings" panose="05000000000000000000" pitchFamily="2" charset="2"/>
              </a:rPr>
              <a:t>, up, </a:t>
            </a:r>
            <a:r>
              <a:rPr lang="es-ES" dirty="0" err="1">
                <a:sym typeface="Wingdings" panose="05000000000000000000" pitchFamily="2" charset="2"/>
              </a:rPr>
              <a:t>indpb</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individuo, límite inferior, límite superior, probabilidad</a:t>
            </a:r>
          </a:p>
          <a:p>
            <a:r>
              <a:rPr lang="es-ES" dirty="0">
                <a:sym typeface="Wingdings" panose="05000000000000000000" pitchFamily="2" charset="2"/>
                <a:hlinkClick r:id="rId4"/>
              </a:rPr>
              <a:t>http://</a:t>
            </a:r>
            <a:r>
              <a:rPr lang="es-ES" dirty="0" smtClean="0">
                <a:sym typeface="Wingdings" panose="05000000000000000000" pitchFamily="2" charset="2"/>
                <a:hlinkClick r:id="rId4"/>
              </a:rPr>
              <a:t>deap.gel.ulaval.ca/doc/default/api/tools.html#deap.tools.mutUniformInt</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spTree>
    <p:extLst>
      <p:ext uri="{BB962C8B-B14F-4D97-AF65-F5344CB8AC3E}">
        <p14:creationId xmlns:p14="http://schemas.microsoft.com/office/powerpoint/2010/main" val="16797345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13932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OTRA FORMA MÁS SENCILLA DE CODIFICAR EL EJEMPLO: Utilizar los algoritmos implementados en la clases algoritmos.</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deap.gel.ulaval.ca/doc/default/api/algo.html</a:t>
            </a:r>
            <a:endParaRPr lang="es-ES" dirty="0" smtClean="0">
              <a:sym typeface="Wingdings" panose="05000000000000000000" pitchFamily="2" charset="2"/>
            </a:endParaRPr>
          </a:p>
          <a:p>
            <a:endParaRPr lang="es-ES" dirty="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singlemaxsimple.py</a:t>
            </a:r>
          </a:p>
          <a:p>
            <a:pPr marL="285750" indent="-285750">
              <a:buFont typeface="Wingdings" panose="05000000000000000000" pitchFamily="2" charset="2"/>
              <a:buChar char="à"/>
            </a:pPr>
            <a:endParaRPr lang="es-ES" dirty="0">
              <a:solidFill>
                <a:srgbClr val="FF0000"/>
              </a:solidFill>
              <a:sym typeface="Wingdings" panose="05000000000000000000" pitchFamily="2" charset="2"/>
            </a:endParaRPr>
          </a:p>
          <a:p>
            <a:r>
              <a:rPr lang="es-ES" dirty="0" err="1" smtClean="0">
                <a:sym typeface="Wingdings" panose="05000000000000000000" pitchFamily="2" charset="2"/>
              </a:rPr>
              <a:t>HallOfFame</a:t>
            </a:r>
            <a:r>
              <a:rPr lang="es-ES" dirty="0" smtClean="0">
                <a:sym typeface="Wingdings" panose="05000000000000000000" pitchFamily="2" charset="2"/>
              </a:rPr>
              <a:t>: objeto que almacena el mejor individuo obtenido durante la evolución.</a:t>
            </a:r>
            <a:endParaRPr lang="es-ES" dirty="0">
              <a:sym typeface="Wingdings" panose="05000000000000000000" pitchFamily="2" charset="2"/>
            </a:endParaRP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deap.gel.ulaval.ca/doc/default/api/tools.html#deap.tools.HallOfFame</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876292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2585323"/>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smtClean="0">
                <a:sym typeface="Wingdings" panose="05000000000000000000" pitchFamily="2" charset="2"/>
              </a:rPr>
              <a:t>Principal novedad es que ahora tenemos más de un objetivo  Pareto dominancia (Pareto </a:t>
            </a:r>
            <a:r>
              <a:rPr lang="es-ES" dirty="0" err="1" smtClean="0">
                <a:sym typeface="Wingdings" panose="05000000000000000000" pitchFamily="2" charset="2"/>
              </a:rPr>
              <a:t>front</a:t>
            </a:r>
            <a:r>
              <a:rPr lang="es-ES" dirty="0" smtClean="0">
                <a:sym typeface="Wingdings" panose="05000000000000000000" pitchFamily="2" charset="2"/>
              </a:rPr>
              <a:t>).</a:t>
            </a:r>
          </a:p>
          <a:p>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multiobjetivo.py</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335584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5355312"/>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err="1" smtClean="0">
                <a:sym typeface="Wingdings" panose="05000000000000000000" pitchFamily="2" charset="2"/>
              </a:rPr>
              <a:t>Nondominated</a:t>
            </a:r>
            <a:r>
              <a:rPr lang="es-ES" dirty="0" smtClean="0">
                <a:sym typeface="Wingdings" panose="05000000000000000000" pitchFamily="2" charset="2"/>
              </a:rPr>
              <a:t> </a:t>
            </a:r>
            <a:r>
              <a:rPr lang="es-ES" dirty="0" err="1" smtClean="0">
                <a:sym typeface="Wingdings" panose="05000000000000000000" pitchFamily="2" charset="2"/>
              </a:rPr>
              <a:t>Sorting</a:t>
            </a:r>
            <a:r>
              <a:rPr lang="es-ES" dirty="0" smtClean="0">
                <a:sym typeface="Wingdings" panose="05000000000000000000" pitchFamily="2" charset="2"/>
              </a:rPr>
              <a:t> </a:t>
            </a:r>
            <a:r>
              <a:rPr lang="es-ES" dirty="0" err="1" smtClean="0">
                <a:sym typeface="Wingdings" panose="05000000000000000000" pitchFamily="2" charset="2"/>
              </a:rPr>
              <a:t>Genetic</a:t>
            </a:r>
            <a:r>
              <a:rPr lang="es-ES" dirty="0" smtClean="0">
                <a:sym typeface="Wingdings" panose="05000000000000000000" pitchFamily="2" charset="2"/>
              </a:rPr>
              <a:t> </a:t>
            </a:r>
            <a:r>
              <a:rPr lang="es-ES" dirty="0" err="1" smtClean="0">
                <a:sym typeface="Wingdings" panose="05000000000000000000" pitchFamily="2" charset="2"/>
              </a:rPr>
              <a:t>Algorithm</a:t>
            </a:r>
            <a:r>
              <a:rPr lang="es-ES" dirty="0" smtClean="0">
                <a:sym typeface="Wingdings" panose="05000000000000000000" pitchFamily="2" charset="2"/>
              </a:rPr>
              <a:t> II (NSGA-II):</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Es uno de los algoritmos genéticos más utilizados en investigación. Proporciona buenos resultados y es fácil de implementar.</a:t>
            </a:r>
          </a:p>
          <a:p>
            <a:pPr marL="285750" indent="-285750">
              <a:buFont typeface="Wingdings" panose="05000000000000000000" pitchFamily="2" charset="2"/>
              <a:buChar char="v"/>
            </a:pPr>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Propuesto en:</a:t>
            </a:r>
          </a:p>
          <a:p>
            <a:r>
              <a:rPr lang="es-ES" dirty="0" smtClean="0">
                <a:sym typeface="Wingdings" panose="05000000000000000000" pitchFamily="2" charset="2"/>
              </a:rPr>
              <a:t>K. </a:t>
            </a:r>
            <a:r>
              <a:rPr lang="es-ES" dirty="0" err="1" smtClean="0">
                <a:sym typeface="Wingdings" panose="05000000000000000000" pitchFamily="2" charset="2"/>
              </a:rPr>
              <a:t>Deb</a:t>
            </a:r>
            <a:r>
              <a:rPr lang="es-ES" dirty="0" smtClean="0">
                <a:sym typeface="Wingdings" panose="05000000000000000000" pitchFamily="2" charset="2"/>
              </a:rPr>
              <a:t>, A. </a:t>
            </a:r>
            <a:r>
              <a:rPr lang="es-ES" dirty="0" err="1" smtClean="0">
                <a:sym typeface="Wingdings" panose="05000000000000000000" pitchFamily="2" charset="2"/>
              </a:rPr>
              <a:t>Pratap</a:t>
            </a:r>
            <a:r>
              <a:rPr lang="es-ES" dirty="0" smtClean="0">
                <a:sym typeface="Wingdings" panose="05000000000000000000" pitchFamily="2" charset="2"/>
              </a:rPr>
              <a:t>, S. </a:t>
            </a:r>
            <a:r>
              <a:rPr lang="es-ES" dirty="0" err="1" smtClean="0">
                <a:sym typeface="Wingdings" panose="05000000000000000000" pitchFamily="2" charset="2"/>
              </a:rPr>
              <a:t>Agarwal</a:t>
            </a:r>
            <a:r>
              <a:rPr lang="es-ES" dirty="0" smtClean="0">
                <a:sym typeface="Wingdings" panose="05000000000000000000" pitchFamily="2" charset="2"/>
              </a:rPr>
              <a:t>, and T. </a:t>
            </a:r>
            <a:r>
              <a:rPr lang="es-ES" dirty="0" err="1" smtClean="0">
                <a:sym typeface="Wingdings" panose="05000000000000000000" pitchFamily="2" charset="2"/>
              </a:rPr>
              <a:t>Meyarivan</a:t>
            </a:r>
            <a:r>
              <a:rPr lang="es-ES" dirty="0" smtClean="0">
                <a:sym typeface="Wingdings" panose="05000000000000000000" pitchFamily="2" charset="2"/>
              </a:rPr>
              <a:t>. “A </a:t>
            </a:r>
            <a:r>
              <a:rPr lang="es-ES" dirty="0" err="1" smtClean="0">
                <a:sym typeface="Wingdings" panose="05000000000000000000" pitchFamily="2" charset="2"/>
              </a:rPr>
              <a:t>Fast</a:t>
            </a:r>
            <a:r>
              <a:rPr lang="es-ES" dirty="0" smtClean="0">
                <a:sym typeface="Wingdings" panose="05000000000000000000" pitchFamily="2" charset="2"/>
              </a:rPr>
              <a:t> and </a:t>
            </a:r>
            <a:r>
              <a:rPr lang="es-ES" dirty="0" err="1" smtClean="0">
                <a:sym typeface="Wingdings" panose="05000000000000000000" pitchFamily="2" charset="2"/>
              </a:rPr>
              <a:t>Elistist</a:t>
            </a:r>
            <a:r>
              <a:rPr lang="es-ES" dirty="0" smtClean="0">
                <a:sym typeface="Wingdings" panose="05000000000000000000" pitchFamily="2" charset="2"/>
              </a:rPr>
              <a:t> </a:t>
            </a:r>
            <a:r>
              <a:rPr lang="es-ES" dirty="0" err="1" smtClean="0">
                <a:sym typeface="Wingdings" panose="05000000000000000000" pitchFamily="2" charset="2"/>
              </a:rPr>
              <a:t>Multiobjective</a:t>
            </a:r>
            <a:r>
              <a:rPr lang="es-ES" dirty="0" smtClean="0">
                <a:sym typeface="Wingdings" panose="05000000000000000000" pitchFamily="2" charset="2"/>
              </a:rPr>
              <a:t> </a:t>
            </a:r>
            <a:r>
              <a:rPr lang="es-ES" dirty="0" err="1" smtClean="0">
                <a:sym typeface="Wingdings" panose="05000000000000000000" pitchFamily="2" charset="2"/>
              </a:rPr>
              <a:t>Genetic</a:t>
            </a:r>
            <a:r>
              <a:rPr lang="es-ES" dirty="0" smtClean="0">
                <a:sym typeface="Wingdings" panose="05000000000000000000" pitchFamily="2" charset="2"/>
              </a:rPr>
              <a:t> </a:t>
            </a:r>
            <a:r>
              <a:rPr lang="es-ES" dirty="0" err="1" smtClean="0">
                <a:sym typeface="Wingdings" panose="05000000000000000000" pitchFamily="2" charset="2"/>
              </a:rPr>
              <a:t>Algorithm</a:t>
            </a:r>
            <a:r>
              <a:rPr lang="es-ES" dirty="0" smtClean="0">
                <a:sym typeface="Wingdings" panose="05000000000000000000" pitchFamily="2" charset="2"/>
              </a:rPr>
              <a:t>: NSGA-II. IEEE </a:t>
            </a:r>
            <a:r>
              <a:rPr lang="es-ES" dirty="0" err="1" smtClean="0">
                <a:sym typeface="Wingdings" panose="05000000000000000000" pitchFamily="2" charset="2"/>
              </a:rPr>
              <a:t>Transaction</a:t>
            </a:r>
            <a:r>
              <a:rPr lang="es-ES" dirty="0" smtClean="0">
                <a:sym typeface="Wingdings" panose="05000000000000000000" pitchFamily="2" charset="2"/>
              </a:rPr>
              <a:t> </a:t>
            </a:r>
            <a:r>
              <a:rPr lang="es-ES" dirty="0" err="1" smtClean="0">
                <a:sym typeface="Wingdings" panose="05000000000000000000" pitchFamily="2" charset="2"/>
              </a:rPr>
              <a:t>on</a:t>
            </a:r>
            <a:r>
              <a:rPr lang="es-ES" dirty="0" smtClean="0">
                <a:sym typeface="Wingdings" panose="05000000000000000000" pitchFamily="2" charset="2"/>
              </a:rPr>
              <a:t> </a:t>
            </a:r>
            <a:r>
              <a:rPr lang="es-ES" dirty="0" err="1" smtClean="0">
                <a:sym typeface="Wingdings" panose="05000000000000000000" pitchFamily="2" charset="2"/>
              </a:rPr>
              <a:t>Evolutionary</a:t>
            </a:r>
            <a:r>
              <a:rPr lang="es-ES" dirty="0" smtClean="0">
                <a:sym typeface="Wingdings" panose="05000000000000000000" pitchFamily="2" charset="2"/>
              </a:rPr>
              <a:t> </a:t>
            </a:r>
            <a:r>
              <a:rPr lang="es-ES" dirty="0" err="1" smtClean="0">
                <a:sym typeface="Wingdings" panose="05000000000000000000" pitchFamily="2" charset="2"/>
              </a:rPr>
              <a:t>Computation</a:t>
            </a:r>
            <a:r>
              <a:rPr lang="es-ES" dirty="0" smtClean="0">
                <a:sym typeface="Wingdings" panose="05000000000000000000" pitchFamily="2" charset="2"/>
              </a:rPr>
              <a:t>, Vol. 6, 2002.</a:t>
            </a:r>
          </a:p>
          <a:p>
            <a:endParaRPr lang="es-ES" dirty="0">
              <a:sym typeface="Wingdings" panose="05000000000000000000" pitchFamily="2" charset="2"/>
            </a:endParaRPr>
          </a:p>
          <a:p>
            <a:pPr marL="285750" indent="-285750">
              <a:buFont typeface="Wingdings" panose="05000000000000000000" pitchFamily="2" charset="2"/>
              <a:buChar char="à"/>
            </a:pPr>
            <a:r>
              <a:rPr lang="es-ES" dirty="0" err="1" smtClean="0">
                <a:sym typeface="Wingdings" panose="05000000000000000000" pitchFamily="2" charset="2"/>
              </a:rPr>
              <a:t>Fast</a:t>
            </a:r>
            <a:r>
              <a:rPr lang="es-ES" dirty="0" smtClean="0">
                <a:sym typeface="Wingdings" panose="05000000000000000000" pitchFamily="2" charset="2"/>
              </a:rPr>
              <a:t>: Porque se propone un algoritmo para comparar las soluciones del Pareto </a:t>
            </a:r>
            <a:r>
              <a:rPr lang="es-ES" dirty="0" err="1" smtClean="0">
                <a:sym typeface="Wingdings" panose="05000000000000000000" pitchFamily="2" charset="2"/>
              </a:rPr>
              <a:t>front</a:t>
            </a:r>
            <a:r>
              <a:rPr lang="es-ES" dirty="0" smtClean="0">
                <a:sym typeface="Wingdings" panose="05000000000000000000" pitchFamily="2" charset="2"/>
              </a:rPr>
              <a:t> de forma rápida.</a:t>
            </a:r>
          </a:p>
          <a:p>
            <a:pPr marL="285750" indent="-285750">
              <a:buFont typeface="Wingdings" panose="05000000000000000000" pitchFamily="2" charset="2"/>
              <a:buChar char="à"/>
            </a:pPr>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Garantizar que dos soluciones en el Pareto </a:t>
            </a:r>
            <a:r>
              <a:rPr lang="es-ES" dirty="0" err="1" smtClean="0">
                <a:sym typeface="Wingdings" panose="05000000000000000000" pitchFamily="2" charset="2"/>
              </a:rPr>
              <a:t>front</a:t>
            </a:r>
            <a:r>
              <a:rPr lang="es-ES" dirty="0" smtClean="0">
                <a:sym typeface="Wingdings" panose="05000000000000000000" pitchFamily="2" charset="2"/>
              </a:rPr>
              <a:t> estén distanciadas</a:t>
            </a:r>
            <a:endParaRPr lang="es-ES" dirty="0">
              <a:sym typeface="Wingdings" panose="05000000000000000000" pitchFamily="2" charset="2"/>
            </a:endParaRPr>
          </a:p>
          <a:p>
            <a:pPr marL="285750" indent="-285750">
              <a:buFont typeface="Wingdings" panose="05000000000000000000" pitchFamily="2" charset="2"/>
              <a:buChar char="v"/>
            </a:pPr>
            <a:endParaRPr lang="es-ES" dirty="0" smtClean="0">
              <a:sym typeface="Wingdings" panose="05000000000000000000" pitchFamily="2" charset="2"/>
            </a:endParaRPr>
          </a:p>
          <a:p>
            <a:pPr marL="285750" indent="-285750">
              <a:buFont typeface="Wingdings" panose="05000000000000000000" pitchFamily="2" charset="2"/>
              <a:buChar char="v"/>
            </a:pPr>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8121477" y="5153025"/>
            <a:ext cx="2305050" cy="1704975"/>
          </a:xfrm>
          <a:prstGeom prst="rect">
            <a:avLst/>
          </a:prstGeom>
        </p:spPr>
      </p:pic>
    </p:spTree>
    <p:extLst>
      <p:ext uri="{BB962C8B-B14F-4D97-AF65-F5344CB8AC3E}">
        <p14:creationId xmlns:p14="http://schemas.microsoft.com/office/powerpoint/2010/main" val="16661427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416320"/>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err="1" smtClean="0">
                <a:sym typeface="Wingdings" panose="05000000000000000000" pitchFamily="2" charset="2"/>
              </a:rPr>
              <a:t>Nondominated</a:t>
            </a:r>
            <a:r>
              <a:rPr lang="es-ES" dirty="0" smtClean="0">
                <a:sym typeface="Wingdings" panose="05000000000000000000" pitchFamily="2" charset="2"/>
              </a:rPr>
              <a:t> </a:t>
            </a:r>
            <a:r>
              <a:rPr lang="es-ES" dirty="0" err="1" smtClean="0">
                <a:sym typeface="Wingdings" panose="05000000000000000000" pitchFamily="2" charset="2"/>
              </a:rPr>
              <a:t>Sorting</a:t>
            </a:r>
            <a:r>
              <a:rPr lang="es-ES" dirty="0" smtClean="0">
                <a:sym typeface="Wingdings" panose="05000000000000000000" pitchFamily="2" charset="2"/>
              </a:rPr>
              <a:t> </a:t>
            </a:r>
            <a:r>
              <a:rPr lang="es-ES" dirty="0" err="1" smtClean="0">
                <a:sym typeface="Wingdings" panose="05000000000000000000" pitchFamily="2" charset="2"/>
              </a:rPr>
              <a:t>Genetic</a:t>
            </a:r>
            <a:r>
              <a:rPr lang="es-ES" dirty="0" smtClean="0">
                <a:sym typeface="Wingdings" panose="05000000000000000000" pitchFamily="2" charset="2"/>
              </a:rPr>
              <a:t> </a:t>
            </a:r>
            <a:r>
              <a:rPr lang="es-ES" dirty="0" err="1" smtClean="0">
                <a:sym typeface="Wingdings" panose="05000000000000000000" pitchFamily="2" charset="2"/>
              </a:rPr>
              <a:t>Algorithm</a:t>
            </a:r>
            <a:r>
              <a:rPr lang="es-ES" dirty="0" smtClean="0">
                <a:sym typeface="Wingdings" panose="05000000000000000000" pitchFamily="2" charset="2"/>
              </a:rPr>
              <a:t> II (NSGA-II):</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Creación de las nuevas generaciones: 1) Consideramos la población actual y la previa, 2) Ordenamos por ranking basado en dominancia y 3) aplicamos la condiciones de distancia.</a:t>
            </a:r>
          </a:p>
          <a:p>
            <a:endParaRPr lang="es-ES" dirty="0">
              <a:sym typeface="Wingdings" panose="05000000000000000000" pitchFamily="2" charset="2"/>
            </a:endParaRPr>
          </a:p>
          <a:p>
            <a:endParaRPr lang="es-ES" dirty="0" smtClean="0">
              <a:sym typeface="Wingdings" panose="05000000000000000000" pitchFamily="2" charset="2"/>
            </a:endParaRPr>
          </a:p>
          <a:p>
            <a:pPr marL="285750" indent="-285750">
              <a:buFont typeface="Wingdings" panose="05000000000000000000" pitchFamily="2" charset="2"/>
              <a:buChar char="v"/>
            </a:pPr>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8" name="Imagen 7"/>
          <p:cNvPicPr>
            <a:picLocks noChangeAspect="1"/>
          </p:cNvPicPr>
          <p:nvPr/>
        </p:nvPicPr>
        <p:blipFill>
          <a:blip r:embed="rId3"/>
          <a:stretch>
            <a:fillRect/>
          </a:stretch>
        </p:blipFill>
        <p:spPr>
          <a:xfrm>
            <a:off x="2656164" y="3631910"/>
            <a:ext cx="4639008" cy="2691617"/>
          </a:xfrm>
          <a:prstGeom prst="rect">
            <a:avLst/>
          </a:prstGeom>
        </p:spPr>
      </p:pic>
    </p:spTree>
    <p:extLst>
      <p:ext uri="{BB962C8B-B14F-4D97-AF65-F5344CB8AC3E}">
        <p14:creationId xmlns:p14="http://schemas.microsoft.com/office/powerpoint/2010/main" val="17650166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230832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sz="1400" dirty="0" smtClean="0">
              <a:sym typeface="Wingdings" panose="05000000000000000000" pitchFamily="2" charset="2"/>
            </a:endParaRPr>
          </a:p>
          <a:p>
            <a:r>
              <a:rPr lang="es-ES" dirty="0" err="1" smtClean="0">
                <a:sym typeface="Wingdings" panose="05000000000000000000" pitchFamily="2" charset="2"/>
              </a:rPr>
              <a:t>Benchmarks</a:t>
            </a:r>
            <a:r>
              <a:rPr lang="es-ES" dirty="0" smtClean="0">
                <a:sym typeface="Wingdings" panose="05000000000000000000" pitchFamily="2" charset="2"/>
              </a:rPr>
              <a:t>  Funciones que podemos utilizar para comprobar el funcionamiento de nuestros algoritmos genéticos.</a:t>
            </a:r>
          </a:p>
          <a:p>
            <a:r>
              <a:rPr lang="es-ES" dirty="0" smtClean="0">
                <a:sym typeface="Wingdings" panose="05000000000000000000" pitchFamily="2" charset="2"/>
              </a:rPr>
              <a:t> </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1284947" y="2782225"/>
            <a:ext cx="8285270" cy="3903247"/>
          </a:xfrm>
          <a:prstGeom prst="rect">
            <a:avLst/>
          </a:prstGeom>
        </p:spPr>
      </p:pic>
    </p:spTree>
    <p:extLst>
      <p:ext uri="{BB962C8B-B14F-4D97-AF65-F5344CB8AC3E}">
        <p14:creationId xmlns:p14="http://schemas.microsoft.com/office/powerpoint/2010/main" val="21142761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970318"/>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smtClean="0">
                <a:sym typeface="Wingdings" panose="05000000000000000000" pitchFamily="2" charset="2"/>
              </a:rPr>
              <a:t>Alguna consideraciones sobre el crossover y </a:t>
            </a:r>
            <a:r>
              <a:rPr lang="es-ES" dirty="0" err="1" smtClean="0">
                <a:sym typeface="Wingdings" panose="05000000000000000000" pitchFamily="2" charset="2"/>
              </a:rPr>
              <a:t>mutation</a:t>
            </a:r>
            <a:endParaRPr lang="es-ES" dirty="0">
              <a:sym typeface="Wingdings" panose="05000000000000000000" pitchFamily="2" charset="2"/>
            </a:endParaRPr>
          </a:p>
          <a:p>
            <a:endParaRPr lang="es-ES" dirty="0" smtClean="0">
              <a:solidFill>
                <a:srgbClr val="FF0000"/>
              </a:solidFill>
              <a:sym typeface="Wingdings" panose="05000000000000000000" pitchFamily="2" charset="2"/>
            </a:endParaRPr>
          </a:p>
          <a:p>
            <a:r>
              <a:rPr lang="es-ES" dirty="0" smtClean="0">
                <a:sym typeface="Wingdings" panose="05000000000000000000" pitchFamily="2" charset="2"/>
              </a:rPr>
              <a:t>Crossover:</a:t>
            </a: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deap.gel.ulaval.ca/doc/default/api/tools.html#deap.tools.cxSimulatedBinaryBounded</a:t>
            </a:r>
            <a:endParaRPr lang="es-ES" dirty="0" smtClean="0">
              <a:sym typeface="Wingdings" panose="05000000000000000000" pitchFamily="2" charset="2"/>
            </a:endParaRPr>
          </a:p>
          <a:p>
            <a:endParaRPr lang="es-ES" dirty="0">
              <a:sym typeface="Wingdings" panose="05000000000000000000" pitchFamily="2" charset="2"/>
            </a:endParaRPr>
          </a:p>
          <a:p>
            <a:r>
              <a:rPr lang="es-ES" dirty="0" err="1" smtClean="0">
                <a:sym typeface="Wingdings" panose="05000000000000000000" pitchFamily="2" charset="2"/>
              </a:rPr>
              <a:t>Mutation</a:t>
            </a:r>
            <a:r>
              <a:rPr lang="es-ES" dirty="0" smtClean="0">
                <a:sym typeface="Wingdings" panose="05000000000000000000" pitchFamily="2" charset="2"/>
              </a:rPr>
              <a:t>:</a:t>
            </a: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deap.gel.ulaval.ca/doc/default/api/tools.html#deap.tools.mutPolynomialBounded</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6534508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524315"/>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smtClean="0">
                <a:solidFill>
                  <a:srgbClr val="FF0000"/>
                </a:solidFill>
                <a:sym typeface="Wingdings" panose="05000000000000000000" pitchFamily="2" charset="2"/>
              </a:rPr>
              <a:t>Funciones lambda: </a:t>
            </a:r>
            <a:r>
              <a:rPr lang="es-ES" dirty="0" smtClean="0">
                <a:sym typeface="Wingdings" panose="05000000000000000000" pitchFamily="2" charset="2"/>
              </a:rPr>
              <a:t>Otra forma de definir funciones de forma muy rápida</a:t>
            </a:r>
            <a:endParaRPr lang="es-ES" dirty="0">
              <a:sym typeface="Wingdings" panose="05000000000000000000" pitchFamily="2" charset="2"/>
            </a:endParaRPr>
          </a:p>
          <a:p>
            <a:endParaRPr lang="es-ES" dirty="0" smtClean="0">
              <a:solidFill>
                <a:srgbClr val="FF0000"/>
              </a:solidFill>
              <a:sym typeface="Wingdings" panose="05000000000000000000" pitchFamily="2" charset="2"/>
            </a:endParaRPr>
          </a:p>
          <a:p>
            <a:r>
              <a:rPr lang="en-US" dirty="0">
                <a:sym typeface="Wingdings" panose="05000000000000000000" pitchFamily="2" charset="2"/>
              </a:rPr>
              <a:t>&gt;&gt;&gt; </a:t>
            </a:r>
            <a:r>
              <a:rPr lang="en-US" dirty="0" err="1">
                <a:sym typeface="Wingdings" panose="05000000000000000000" pitchFamily="2" charset="2"/>
              </a:rPr>
              <a:t>def</a:t>
            </a:r>
            <a:r>
              <a:rPr lang="en-US" dirty="0">
                <a:sym typeface="Wingdings" panose="05000000000000000000" pitchFamily="2" charset="2"/>
              </a:rPr>
              <a:t> f(x):</a:t>
            </a:r>
          </a:p>
          <a:p>
            <a:r>
              <a:rPr lang="en-US" dirty="0">
                <a:sym typeface="Wingdings" panose="05000000000000000000" pitchFamily="2" charset="2"/>
              </a:rPr>
              <a:t>...     return x*2</a:t>
            </a:r>
          </a:p>
          <a:p>
            <a:r>
              <a:rPr lang="en-US" dirty="0">
                <a:sym typeface="Wingdings" panose="05000000000000000000" pitchFamily="2" charset="2"/>
              </a:rPr>
              <a:t>...     </a:t>
            </a:r>
          </a:p>
          <a:p>
            <a:r>
              <a:rPr lang="en-US" dirty="0">
                <a:sym typeface="Wingdings" panose="05000000000000000000" pitchFamily="2" charset="2"/>
              </a:rPr>
              <a:t>&gt;&gt;&gt; f(3)</a:t>
            </a:r>
          </a:p>
          <a:p>
            <a:r>
              <a:rPr lang="en-US" dirty="0">
                <a:sym typeface="Wingdings" panose="05000000000000000000" pitchFamily="2" charset="2"/>
              </a:rPr>
              <a:t>6</a:t>
            </a:r>
          </a:p>
          <a:p>
            <a:r>
              <a:rPr lang="en-US" dirty="0">
                <a:sym typeface="Wingdings" panose="05000000000000000000" pitchFamily="2" charset="2"/>
              </a:rPr>
              <a:t>&gt;&gt;&gt; g = lambda x: x*2  </a:t>
            </a:r>
          </a:p>
          <a:p>
            <a:r>
              <a:rPr lang="en-US" dirty="0">
                <a:sym typeface="Wingdings" panose="05000000000000000000" pitchFamily="2" charset="2"/>
              </a:rPr>
              <a:t>&gt;&gt;&gt; g(3)</a:t>
            </a:r>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r>
              <a:rPr lang="es-ES" dirty="0" err="1" smtClean="0">
                <a:solidFill>
                  <a:srgbClr val="FF0000"/>
                </a:solidFill>
                <a:sym typeface="Wingdings" panose="05000000000000000000" pitchFamily="2" charset="2"/>
              </a:rPr>
              <a:t>Statistic</a:t>
            </a:r>
            <a:r>
              <a:rPr lang="es-ES" dirty="0" smtClean="0">
                <a:solidFill>
                  <a:srgbClr val="FF0000"/>
                </a:solidFill>
                <a:sym typeface="Wingdings" panose="05000000000000000000" pitchFamily="2" charset="2"/>
              </a:rPr>
              <a:t>: </a:t>
            </a:r>
            <a:r>
              <a:rPr lang="es-ES" dirty="0" smtClean="0">
                <a:sym typeface="Wingdings" panose="05000000000000000000" pitchFamily="2" charset="2"/>
              </a:rPr>
              <a:t>Objeto que sirve para obtener estadísticas</a:t>
            </a:r>
          </a:p>
          <a:p>
            <a:r>
              <a:rPr lang="es-ES" dirty="0">
                <a:solidFill>
                  <a:srgbClr val="FF0000"/>
                </a:solidFill>
                <a:sym typeface="Wingdings" panose="05000000000000000000" pitchFamily="2" charset="2"/>
                <a:hlinkClick r:id="rId2"/>
              </a:rPr>
              <a:t>http://</a:t>
            </a:r>
            <a:r>
              <a:rPr lang="es-ES" dirty="0" smtClean="0">
                <a:solidFill>
                  <a:srgbClr val="FF0000"/>
                </a:solidFill>
                <a:sym typeface="Wingdings" panose="05000000000000000000" pitchFamily="2" charset="2"/>
                <a:hlinkClick r:id="rId2"/>
              </a:rPr>
              <a:t>deap.gel.ulaval.ca/doc/default/api/tools.html#statistics</a:t>
            </a:r>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8523051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err="1" smtClean="0">
                <a:solidFill>
                  <a:srgbClr val="FF0000"/>
                </a:solidFill>
                <a:sym typeface="Wingdings" panose="05000000000000000000" pitchFamily="2" charset="2"/>
              </a:rPr>
              <a:t>Logbook</a:t>
            </a:r>
            <a:r>
              <a:rPr lang="es-ES" dirty="0" smtClean="0">
                <a:solidFill>
                  <a:srgbClr val="FF0000"/>
                </a:solidFill>
                <a:sym typeface="Wingdings" panose="05000000000000000000" pitchFamily="2" charset="2"/>
              </a:rPr>
              <a:t>: </a:t>
            </a:r>
            <a:r>
              <a:rPr lang="es-ES" dirty="0" smtClean="0">
                <a:sym typeface="Wingdings" panose="05000000000000000000" pitchFamily="2" charset="2"/>
              </a:rPr>
              <a:t>Para guardar eventos de la evolución del algoritmo genético.</a:t>
            </a:r>
            <a:endParaRPr lang="es-ES" dirty="0">
              <a:sym typeface="Wingdings" panose="05000000000000000000" pitchFamily="2" charset="2"/>
            </a:endParaRPr>
          </a:p>
          <a:p>
            <a:r>
              <a:rPr lang="es-ES" dirty="0">
                <a:solidFill>
                  <a:srgbClr val="FF0000"/>
                </a:solidFill>
                <a:sym typeface="Wingdings" panose="05000000000000000000" pitchFamily="2" charset="2"/>
                <a:hlinkClick r:id="rId2"/>
              </a:rPr>
              <a:t>http://</a:t>
            </a:r>
            <a:r>
              <a:rPr lang="es-ES" dirty="0" smtClean="0">
                <a:solidFill>
                  <a:srgbClr val="FF0000"/>
                </a:solidFill>
                <a:sym typeface="Wingdings" panose="05000000000000000000" pitchFamily="2" charset="2"/>
                <a:hlinkClick r:id="rId2"/>
              </a:rPr>
              <a:t>deap.gel.ulaval.ca/doc/default/api/tools.html#logbook</a:t>
            </a:r>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a:p>
            <a:r>
              <a:rPr lang="es-ES" dirty="0" err="1" smtClean="0">
                <a:solidFill>
                  <a:srgbClr val="FF0000"/>
                </a:solidFill>
                <a:sym typeface="Wingdings" panose="05000000000000000000" pitchFamily="2" charset="2"/>
              </a:rPr>
              <a:t>Convergence</a:t>
            </a:r>
            <a:r>
              <a:rPr lang="es-ES" dirty="0" smtClean="0">
                <a:solidFill>
                  <a:srgbClr val="FF0000"/>
                </a:solidFill>
                <a:sym typeface="Wingdings" panose="05000000000000000000" pitchFamily="2" charset="2"/>
              </a:rPr>
              <a:t> and </a:t>
            </a:r>
            <a:r>
              <a:rPr lang="es-ES" dirty="0" err="1" smtClean="0">
                <a:solidFill>
                  <a:srgbClr val="FF0000"/>
                </a:solidFill>
                <a:sym typeface="Wingdings" panose="05000000000000000000" pitchFamily="2" charset="2"/>
              </a:rPr>
              <a:t>diversity</a:t>
            </a:r>
            <a:r>
              <a:rPr lang="es-ES" dirty="0" smtClean="0">
                <a:solidFill>
                  <a:srgbClr val="FF0000"/>
                </a:solidFill>
                <a:sym typeface="Wingdings" panose="05000000000000000000" pitchFamily="2" charset="2"/>
              </a:rPr>
              <a:t>: </a:t>
            </a:r>
            <a:r>
              <a:rPr lang="es-ES" dirty="0" smtClean="0">
                <a:sym typeface="Wingdings" panose="05000000000000000000" pitchFamily="2" charset="2"/>
              </a:rPr>
              <a:t>básicamente miden como de cerca está el Pareto </a:t>
            </a:r>
            <a:r>
              <a:rPr lang="es-ES" dirty="0" err="1" smtClean="0">
                <a:sym typeface="Wingdings" panose="05000000000000000000" pitchFamily="2" charset="2"/>
              </a:rPr>
              <a:t>front</a:t>
            </a:r>
            <a:r>
              <a:rPr lang="es-ES" dirty="0" smtClean="0">
                <a:sym typeface="Wingdings" panose="05000000000000000000" pitchFamily="2" charset="2"/>
              </a:rPr>
              <a:t> que hemos obtenido del óptimo. En caso reales estas funciones son poco prácticas porque no conoceremos cual es el Pareto </a:t>
            </a:r>
            <a:r>
              <a:rPr lang="es-ES" dirty="0" err="1" smtClean="0">
                <a:sym typeface="Wingdings" panose="05000000000000000000" pitchFamily="2" charset="2"/>
              </a:rPr>
              <a:t>front</a:t>
            </a:r>
            <a:r>
              <a:rPr lang="es-ES" dirty="0" smtClean="0">
                <a:sym typeface="Wingdings" panose="05000000000000000000" pitchFamily="2" charset="2"/>
              </a:rPr>
              <a:t> óptimo.</a:t>
            </a:r>
          </a:p>
          <a:p>
            <a:r>
              <a:rPr lang="es-ES" dirty="0" smtClean="0">
                <a:sym typeface="Wingdings" panose="05000000000000000000" pitchFamily="2" charset="2"/>
                <a:hlinkClick r:id="rId3"/>
              </a:rPr>
              <a:t>http</a:t>
            </a:r>
            <a:r>
              <a:rPr lang="es-ES" dirty="0">
                <a:sym typeface="Wingdings" panose="05000000000000000000" pitchFamily="2" charset="2"/>
                <a:hlinkClick r:id="rId3"/>
              </a:rPr>
              <a:t>://</a:t>
            </a:r>
            <a:r>
              <a:rPr lang="es-ES" dirty="0" smtClean="0">
                <a:sym typeface="Wingdings" panose="05000000000000000000" pitchFamily="2" charset="2"/>
                <a:hlinkClick r:id="rId3"/>
              </a:rPr>
              <a:t>deap.gel.ulaval.ca/doc/default/api/benchmarks.html?highlight=diversity#deap.benchmarks.tools.diversity</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732928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18576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sz="1400" dirty="0" smtClean="0">
              <a:sym typeface="Wingdings" panose="05000000000000000000" pitchFamily="2" charset="2"/>
            </a:endParaRPr>
          </a:p>
          <a:p>
            <a:r>
              <a:rPr lang="es-ES" b="1" dirty="0" smtClean="0">
                <a:solidFill>
                  <a:srgbClr val="FF0000"/>
                </a:solidFill>
                <a:sym typeface="Wingdings" panose="05000000000000000000" pitchFamily="2" charset="2"/>
              </a:rPr>
              <a:t>Algunas consideraciones de los algoritmos genéticos </a:t>
            </a:r>
            <a:r>
              <a:rPr lang="es-ES" b="1" dirty="0" err="1" smtClean="0">
                <a:solidFill>
                  <a:srgbClr val="FF0000"/>
                </a:solidFill>
                <a:sym typeface="Wingdings" panose="05000000000000000000" pitchFamily="2" charset="2"/>
              </a:rPr>
              <a:t>multi</a:t>
            </a:r>
            <a:r>
              <a:rPr lang="es-ES" b="1" dirty="0">
                <a:solidFill>
                  <a:srgbClr val="FF0000"/>
                </a:solidFill>
                <a:sym typeface="Wingdings" panose="05000000000000000000" pitchFamily="2" charset="2"/>
              </a:rPr>
              <a:t> </a:t>
            </a:r>
            <a:r>
              <a:rPr lang="es-ES" b="1" dirty="0" smtClean="0">
                <a:solidFill>
                  <a:srgbClr val="FF0000"/>
                </a:solidFill>
                <a:sym typeface="Wingdings" panose="05000000000000000000" pitchFamily="2" charset="2"/>
              </a:rPr>
              <a:t>objetivos:</a:t>
            </a:r>
          </a:p>
          <a:p>
            <a:endParaRPr lang="es-ES" b="1" dirty="0">
              <a:solidFill>
                <a:srgbClr val="FF0000"/>
              </a:solidFill>
              <a:sym typeface="Wingdings" panose="05000000000000000000" pitchFamily="2" charset="2"/>
            </a:endParaRPr>
          </a:p>
          <a:p>
            <a:r>
              <a:rPr lang="es-ES" b="1" dirty="0" smtClean="0">
                <a:sym typeface="Wingdings" panose="05000000000000000000" pitchFamily="2" charset="2"/>
              </a:rPr>
              <a:t> A veces el Pareto </a:t>
            </a:r>
            <a:r>
              <a:rPr lang="es-ES" b="1" dirty="0" err="1" smtClean="0">
                <a:sym typeface="Wingdings" panose="05000000000000000000" pitchFamily="2" charset="2"/>
              </a:rPr>
              <a:t>front</a:t>
            </a:r>
            <a:r>
              <a:rPr lang="es-ES" b="1" dirty="0" smtClean="0">
                <a:sym typeface="Wingdings" panose="05000000000000000000" pitchFamily="2" charset="2"/>
              </a:rPr>
              <a:t> es difícil de interpretar. </a:t>
            </a:r>
          </a:p>
          <a:p>
            <a:endParaRPr lang="es-ES" b="1" dirty="0">
              <a:sym typeface="Wingdings" panose="05000000000000000000" pitchFamily="2" charset="2"/>
            </a:endParaRPr>
          </a:p>
          <a:p>
            <a:pPr marL="285750" indent="-285750">
              <a:buFont typeface="Wingdings" panose="05000000000000000000" pitchFamily="2" charset="2"/>
              <a:buChar char="à"/>
            </a:pPr>
            <a:r>
              <a:rPr lang="es-ES" b="1" dirty="0" smtClean="0">
                <a:sym typeface="Wingdings" panose="05000000000000000000" pitchFamily="2" charset="2"/>
              </a:rPr>
              <a:t>Si tenemos variables redundantes es difícil interpretar como afecta cada variable a las métricas que queremos optimizar.</a:t>
            </a:r>
          </a:p>
          <a:p>
            <a:pPr marL="285750" indent="-285750">
              <a:buFont typeface="Wingdings" panose="05000000000000000000" pitchFamily="2" charset="2"/>
              <a:buChar char="à"/>
            </a:pPr>
            <a:endParaRPr lang="es-ES" b="1" dirty="0">
              <a:sym typeface="Wingdings" panose="05000000000000000000" pitchFamily="2" charset="2"/>
            </a:endParaRPr>
          </a:p>
          <a:p>
            <a:pPr marL="285750" indent="-285750">
              <a:buFont typeface="Wingdings" panose="05000000000000000000" pitchFamily="2" charset="2"/>
              <a:buChar char="à"/>
            </a:pPr>
            <a:r>
              <a:rPr lang="es-ES" b="1" dirty="0" smtClean="0">
                <a:sym typeface="Wingdings" panose="05000000000000000000" pitchFamily="2" charset="2"/>
              </a:rPr>
              <a:t>El Pareto </a:t>
            </a:r>
            <a:r>
              <a:rPr lang="es-ES" b="1" dirty="0" err="1" smtClean="0">
                <a:sym typeface="Wingdings" panose="05000000000000000000" pitchFamily="2" charset="2"/>
              </a:rPr>
              <a:t>front</a:t>
            </a:r>
            <a:r>
              <a:rPr lang="es-ES" b="1" dirty="0" smtClean="0">
                <a:sym typeface="Wingdings" panose="05000000000000000000" pitchFamily="2" charset="2"/>
              </a:rPr>
              <a:t> recoge todas las posible soluciones óptimas. Dependiendo del diseñador seleccionará unas u otras. </a:t>
            </a:r>
          </a:p>
          <a:p>
            <a:r>
              <a:rPr lang="es-ES" dirty="0" smtClean="0">
                <a:sym typeface="Wingdings" panose="05000000000000000000" pitchFamily="2" charset="2"/>
              </a:rPr>
              <a:t> </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646286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416320"/>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endParaRPr lang="es-ES" dirty="0" smtClean="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Algoritmo que se basa en la evolución de un conjunto de partículas. En este caso no tenemos operadores genéticos. Los partículas se van movimiento por el espacio de soluciones. Los movimientos están influenciados por varios parámetros:</a:t>
            </a:r>
          </a:p>
          <a:p>
            <a:pPr marL="742950" lvl="1" indent="-285750">
              <a:buFont typeface="Wingdings" panose="05000000000000000000" pitchFamily="2" charset="2"/>
              <a:buChar char="v"/>
            </a:pPr>
            <a:r>
              <a:rPr lang="es-ES" dirty="0" smtClean="0">
                <a:sym typeface="Wingdings" panose="05000000000000000000" pitchFamily="2" charset="2"/>
              </a:rPr>
              <a:t>La mejor posición obtenida por la partícula.</a:t>
            </a:r>
          </a:p>
          <a:p>
            <a:pPr marL="742950" lvl="1" indent="-285750">
              <a:buFont typeface="Wingdings" panose="05000000000000000000" pitchFamily="2" charset="2"/>
              <a:buChar char="v"/>
            </a:pPr>
            <a:r>
              <a:rPr lang="es-ES" dirty="0" smtClean="0">
                <a:sym typeface="Wingdings" panose="05000000000000000000" pitchFamily="2" charset="2"/>
              </a:rPr>
              <a:t>La posición de la mejor partícula. </a:t>
            </a:r>
          </a:p>
          <a:p>
            <a:endParaRPr lang="es-ES" dirty="0" smtClean="0">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1026" name="Picture 2" descr="https://cssanalytics.files.wordpress.com/2013/09/pso-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253" y="3944222"/>
            <a:ext cx="3861387" cy="2727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4117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pPr marL="285750" indent="-285750">
              <a:buFont typeface="Wingdings" panose="05000000000000000000" pitchFamily="2" charset="2"/>
              <a:buChar char="à"/>
            </a:pPr>
            <a:endParaRPr lang="es-ES" dirty="0" smtClean="0">
              <a:sym typeface="Wingdings" panose="05000000000000000000" pitchFamily="2" charset="2"/>
            </a:endParaRPr>
          </a:p>
          <a:p>
            <a:r>
              <a:rPr lang="es-ES" dirty="0" smtClean="0">
                <a:sym typeface="Wingdings" panose="05000000000000000000" pitchFamily="2" charset="2"/>
              </a:rPr>
              <a:t>Operadores del algoritmo PSO:</a:t>
            </a:r>
          </a:p>
          <a:p>
            <a:pPr marL="742950" lvl="1" indent="-285750">
              <a:buFont typeface="Wingdings" panose="05000000000000000000" pitchFamily="2" charset="2"/>
              <a:buChar char="v"/>
            </a:pPr>
            <a:endParaRPr lang="es-ES" dirty="0" smtClean="0">
              <a:sym typeface="Wingdings" panose="05000000000000000000" pitchFamily="2" charset="2"/>
            </a:endParaRPr>
          </a:p>
          <a:p>
            <a:pPr marL="742950" lvl="1" indent="-285750">
              <a:buFont typeface="Wingdings" panose="05000000000000000000" pitchFamily="2" charset="2"/>
              <a:buChar char="v"/>
            </a:pPr>
            <a:r>
              <a:rPr lang="es-ES" dirty="0" smtClean="0">
                <a:sym typeface="Wingdings" panose="05000000000000000000" pitchFamily="2" charset="2"/>
              </a:rPr>
              <a:t>Inicializador</a:t>
            </a:r>
          </a:p>
          <a:p>
            <a:pPr marL="742950" lvl="1" indent="-285750">
              <a:buFont typeface="Wingdings" panose="05000000000000000000" pitchFamily="2" charset="2"/>
              <a:buChar char="v"/>
            </a:pPr>
            <a:r>
              <a:rPr lang="es-ES" dirty="0" smtClean="0">
                <a:sym typeface="Wingdings" panose="05000000000000000000" pitchFamily="2" charset="2"/>
              </a:rPr>
              <a:t>Actualizador</a:t>
            </a:r>
          </a:p>
          <a:p>
            <a:pPr marL="742950" lvl="1" indent="-285750">
              <a:buFont typeface="Wingdings" panose="05000000000000000000" pitchFamily="2" charset="2"/>
              <a:buChar char="v"/>
            </a:pPr>
            <a:r>
              <a:rPr lang="es-ES" dirty="0" smtClean="0">
                <a:sym typeface="Wingdings" panose="05000000000000000000" pitchFamily="2" charset="2"/>
              </a:rPr>
              <a:t>Evaluador </a:t>
            </a:r>
          </a:p>
          <a:p>
            <a:endParaRPr lang="es-ES" dirty="0" smtClean="0">
              <a:sym typeface="Wingdings" panose="05000000000000000000" pitchFamily="2" charset="2"/>
            </a:endParaRPr>
          </a:p>
          <a:p>
            <a:r>
              <a:rPr lang="es-ES" dirty="0" smtClean="0">
                <a:sym typeface="Wingdings" panose="05000000000000000000" pitchFamily="2" charset="2"/>
              </a:rPr>
              <a:t>Paso 1: </a:t>
            </a:r>
            <a:r>
              <a:rPr lang="es-ES" dirty="0" smtClean="0">
                <a:solidFill>
                  <a:srgbClr val="FF0000"/>
                </a:solidFill>
                <a:sym typeface="Wingdings" panose="05000000000000000000" pitchFamily="2" charset="2"/>
              </a:rPr>
              <a:t>Definir la partícula y el tipo de problema de optimización </a:t>
            </a:r>
          </a:p>
          <a:p>
            <a:endParaRPr lang="es-ES" dirty="0" smtClean="0">
              <a:solidFill>
                <a:srgbClr val="FF0000"/>
              </a:solidFill>
              <a:sym typeface="Wingdings" panose="05000000000000000000" pitchFamily="2" charset="2"/>
            </a:endParaRPr>
          </a:p>
          <a:p>
            <a:r>
              <a:rPr lang="es-ES" dirty="0" err="1">
                <a:sym typeface="Wingdings" panose="05000000000000000000" pitchFamily="2" charset="2"/>
              </a:rPr>
              <a:t>creator.create</a:t>
            </a:r>
            <a:r>
              <a:rPr lang="es-ES" dirty="0">
                <a:sym typeface="Wingdings" panose="05000000000000000000" pitchFamily="2" charset="2"/>
              </a:rPr>
              <a:t>("</a:t>
            </a:r>
            <a:r>
              <a:rPr lang="es-ES" dirty="0" err="1">
                <a:sym typeface="Wingdings" panose="05000000000000000000" pitchFamily="2" charset="2"/>
              </a:rPr>
              <a:t>FitnessMax</a:t>
            </a:r>
            <a:r>
              <a:rPr lang="es-ES" dirty="0">
                <a:sym typeface="Wingdings" panose="05000000000000000000" pitchFamily="2" charset="2"/>
              </a:rPr>
              <a:t>", </a:t>
            </a:r>
            <a:r>
              <a:rPr lang="es-ES" dirty="0" err="1">
                <a:sym typeface="Wingdings" panose="05000000000000000000" pitchFamily="2" charset="2"/>
              </a:rPr>
              <a:t>base.Fitness</a:t>
            </a:r>
            <a:r>
              <a:rPr lang="es-ES" dirty="0">
                <a:sym typeface="Wingdings" panose="05000000000000000000" pitchFamily="2" charset="2"/>
              </a:rPr>
              <a:t>, </a:t>
            </a:r>
            <a:r>
              <a:rPr lang="es-ES" dirty="0" err="1">
                <a:sym typeface="Wingdings" panose="05000000000000000000" pitchFamily="2" charset="2"/>
              </a:rPr>
              <a:t>weights</a:t>
            </a:r>
            <a:r>
              <a:rPr lang="es-ES" dirty="0">
                <a:sym typeface="Wingdings" panose="05000000000000000000" pitchFamily="2" charset="2"/>
              </a:rPr>
              <a:t>=(1.0,))</a:t>
            </a:r>
          </a:p>
          <a:p>
            <a:r>
              <a:rPr lang="es-ES" dirty="0" err="1">
                <a:sym typeface="Wingdings" panose="05000000000000000000" pitchFamily="2" charset="2"/>
              </a:rPr>
              <a:t>creator.create</a:t>
            </a:r>
            <a:r>
              <a:rPr lang="es-ES" dirty="0">
                <a:sym typeface="Wingdings" panose="05000000000000000000" pitchFamily="2" charset="2"/>
              </a:rPr>
              <a:t>("</a:t>
            </a:r>
            <a:r>
              <a:rPr lang="es-ES" dirty="0" err="1">
                <a:sym typeface="Wingdings" panose="05000000000000000000" pitchFamily="2" charset="2"/>
              </a:rPr>
              <a:t>Particle</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 </a:t>
            </a:r>
            <a:r>
              <a:rPr lang="es-ES" dirty="0" err="1">
                <a:sym typeface="Wingdings" panose="05000000000000000000" pitchFamily="2" charset="2"/>
              </a:rPr>
              <a:t>fitness</a:t>
            </a:r>
            <a:r>
              <a:rPr lang="es-ES" dirty="0">
                <a:sym typeface="Wingdings" panose="05000000000000000000" pitchFamily="2" charset="2"/>
              </a:rPr>
              <a:t>=</a:t>
            </a:r>
            <a:r>
              <a:rPr lang="es-ES" dirty="0" err="1">
                <a:sym typeface="Wingdings" panose="05000000000000000000" pitchFamily="2" charset="2"/>
              </a:rPr>
              <a:t>creator.FitnessMax</a:t>
            </a:r>
            <a:r>
              <a:rPr lang="es-ES" dirty="0">
                <a:sym typeface="Wingdings" panose="05000000000000000000" pitchFamily="2" charset="2"/>
              </a:rPr>
              <a:t>, </a:t>
            </a:r>
            <a:r>
              <a:rPr lang="es-ES" dirty="0" err="1">
                <a:sym typeface="Wingdings" panose="05000000000000000000" pitchFamily="2" charset="2"/>
              </a:rPr>
              <a:t>speed</a:t>
            </a:r>
            <a:r>
              <a:rPr lang="es-ES" dirty="0">
                <a:sym typeface="Wingdings" panose="05000000000000000000" pitchFamily="2" charset="2"/>
              </a:rPr>
              <a:t>=</a:t>
            </a:r>
            <a:r>
              <a:rPr lang="es-ES" dirty="0" err="1">
                <a:sym typeface="Wingdings" panose="05000000000000000000" pitchFamily="2" charset="2"/>
              </a:rPr>
              <a:t>list</a:t>
            </a:r>
            <a:r>
              <a:rPr lang="es-ES" dirty="0">
                <a:sym typeface="Wingdings" panose="05000000000000000000" pitchFamily="2" charset="2"/>
              </a:rPr>
              <a:t>, </a:t>
            </a:r>
            <a:r>
              <a:rPr lang="es-ES" dirty="0" smtClean="0">
                <a:sym typeface="Wingdings" panose="05000000000000000000" pitchFamily="2" charset="2"/>
              </a:rPr>
              <a:t> </a:t>
            </a:r>
            <a:r>
              <a:rPr lang="es-ES" dirty="0" err="1" smtClean="0">
                <a:sym typeface="Wingdings" panose="05000000000000000000" pitchFamily="2" charset="2"/>
              </a:rPr>
              <a:t>smin</a:t>
            </a:r>
            <a:r>
              <a:rPr lang="es-ES" dirty="0" smtClean="0">
                <a:sym typeface="Wingdings" panose="05000000000000000000" pitchFamily="2" charset="2"/>
              </a:rPr>
              <a:t>=</a:t>
            </a:r>
            <a:r>
              <a:rPr lang="es-ES" dirty="0" err="1" smtClean="0">
                <a:sym typeface="Wingdings" panose="05000000000000000000" pitchFamily="2" charset="2"/>
              </a:rPr>
              <a:t>None</a:t>
            </a:r>
            <a:r>
              <a:rPr lang="es-ES" dirty="0">
                <a:sym typeface="Wingdings" panose="05000000000000000000" pitchFamily="2" charset="2"/>
              </a:rPr>
              <a:t>, </a:t>
            </a:r>
            <a:r>
              <a:rPr lang="es-ES" dirty="0" err="1">
                <a:sym typeface="Wingdings" panose="05000000000000000000" pitchFamily="2" charset="2"/>
              </a:rPr>
              <a:t>smax</a:t>
            </a:r>
            <a:r>
              <a:rPr lang="es-ES" dirty="0">
                <a:sym typeface="Wingdings" panose="05000000000000000000" pitchFamily="2" charset="2"/>
              </a:rPr>
              <a:t>=</a:t>
            </a:r>
            <a:r>
              <a:rPr lang="es-ES" dirty="0" err="1">
                <a:sym typeface="Wingdings" panose="05000000000000000000" pitchFamily="2" charset="2"/>
              </a:rPr>
              <a:t>None</a:t>
            </a:r>
            <a:r>
              <a:rPr lang="es-ES" dirty="0">
                <a:sym typeface="Wingdings" panose="05000000000000000000" pitchFamily="2" charset="2"/>
              </a:rPr>
              <a:t>, </a:t>
            </a:r>
            <a:r>
              <a:rPr lang="es-ES" dirty="0" err="1">
                <a:sym typeface="Wingdings" panose="05000000000000000000" pitchFamily="2" charset="2"/>
              </a:rPr>
              <a:t>best</a:t>
            </a:r>
            <a:r>
              <a:rPr lang="es-ES" dirty="0">
                <a:sym typeface="Wingdings" panose="05000000000000000000" pitchFamily="2" charset="2"/>
              </a:rPr>
              <a:t>=</a:t>
            </a:r>
            <a:r>
              <a:rPr lang="es-ES" dirty="0" err="1">
                <a:sym typeface="Wingdings" panose="05000000000000000000" pitchFamily="2" charset="2"/>
              </a:rPr>
              <a:t>None</a:t>
            </a:r>
            <a:r>
              <a:rPr lang="es-ES" dirty="0" smtClean="0">
                <a:sym typeface="Wingdings" panose="05000000000000000000" pitchFamily="2" charset="2"/>
              </a:rPr>
              <a:t>) </a:t>
            </a:r>
            <a:r>
              <a:rPr lang="es-ES" dirty="0" smtClean="0">
                <a:solidFill>
                  <a:srgbClr val="00B0F0"/>
                </a:solidFill>
                <a:sym typeface="Wingdings" panose="05000000000000000000" pitchFamily="2" charset="2"/>
              </a:rPr>
              <a:t># ahora tenemos un vector de velocidad, velocidad mínima, velocidad máxima, y el mejor estado en el que ha estado la </a:t>
            </a:r>
            <a:r>
              <a:rPr lang="es-ES" dirty="0" err="1" smtClean="0">
                <a:solidFill>
                  <a:srgbClr val="00B0F0"/>
                </a:solidFill>
                <a:sym typeface="Wingdings" panose="05000000000000000000" pitchFamily="2" charset="2"/>
              </a:rPr>
              <a:t>partíicula</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8479869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13932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Paso 2: </a:t>
            </a:r>
            <a:r>
              <a:rPr lang="es-ES" dirty="0" smtClean="0">
                <a:solidFill>
                  <a:srgbClr val="FF0000"/>
                </a:solidFill>
                <a:sym typeface="Wingdings" panose="05000000000000000000" pitchFamily="2" charset="2"/>
              </a:rPr>
              <a:t>Definir el inicializador de partículas</a:t>
            </a:r>
          </a:p>
          <a:p>
            <a:endParaRPr lang="es-ES" dirty="0" smtClean="0">
              <a:solidFill>
                <a:srgbClr val="FF0000"/>
              </a:solidFill>
              <a:sym typeface="Wingdings" panose="05000000000000000000" pitchFamily="2" charset="2"/>
            </a:endParaRPr>
          </a:p>
          <a:p>
            <a:r>
              <a:rPr lang="es-ES" dirty="0" err="1">
                <a:sym typeface="Wingdings" panose="05000000000000000000" pitchFamily="2" charset="2"/>
              </a:rPr>
              <a:t>def</a:t>
            </a:r>
            <a:r>
              <a:rPr lang="es-ES" dirty="0">
                <a:sym typeface="Wingdings" panose="05000000000000000000" pitchFamily="2" charset="2"/>
              </a:rPr>
              <a:t> </a:t>
            </a:r>
            <a:r>
              <a:rPr lang="es-ES" dirty="0" err="1">
                <a:sym typeface="Wingdings" panose="05000000000000000000" pitchFamily="2" charset="2"/>
              </a:rPr>
              <a:t>generate</a:t>
            </a:r>
            <a:r>
              <a:rPr lang="es-ES" dirty="0">
                <a:sym typeface="Wingdings" panose="05000000000000000000" pitchFamily="2" charset="2"/>
              </a:rPr>
              <a:t>(</a:t>
            </a:r>
            <a:r>
              <a:rPr lang="es-ES" dirty="0" err="1">
                <a:sym typeface="Wingdings" panose="05000000000000000000" pitchFamily="2" charset="2"/>
              </a:rPr>
              <a:t>size</a:t>
            </a:r>
            <a:r>
              <a:rPr lang="es-ES" dirty="0">
                <a:sym typeface="Wingdings" panose="05000000000000000000" pitchFamily="2" charset="2"/>
              </a:rPr>
              <a:t>, </a:t>
            </a:r>
            <a:r>
              <a:rPr lang="es-ES" dirty="0" err="1">
                <a:sym typeface="Wingdings" panose="05000000000000000000" pitchFamily="2" charset="2"/>
              </a:rPr>
              <a:t>pmin</a:t>
            </a:r>
            <a:r>
              <a:rPr lang="es-ES" dirty="0">
                <a:sym typeface="Wingdings" panose="05000000000000000000" pitchFamily="2" charset="2"/>
              </a:rPr>
              <a:t>, </a:t>
            </a:r>
            <a:r>
              <a:rPr lang="es-ES" dirty="0" err="1">
                <a:sym typeface="Wingdings" panose="05000000000000000000" pitchFamily="2" charset="2"/>
              </a:rPr>
              <a:t>pmax</a:t>
            </a:r>
            <a:r>
              <a:rPr lang="es-ES" dirty="0">
                <a:sym typeface="Wingdings" panose="05000000000000000000" pitchFamily="2" charset="2"/>
              </a:rPr>
              <a:t>, </a:t>
            </a:r>
            <a:r>
              <a:rPr lang="es-ES" dirty="0" err="1">
                <a:sym typeface="Wingdings" panose="05000000000000000000" pitchFamily="2" charset="2"/>
              </a:rPr>
              <a:t>smin</a:t>
            </a:r>
            <a:r>
              <a:rPr lang="es-ES" dirty="0">
                <a:sym typeface="Wingdings" panose="05000000000000000000" pitchFamily="2" charset="2"/>
              </a:rPr>
              <a:t>, </a:t>
            </a:r>
            <a:r>
              <a:rPr lang="es-ES" dirty="0" err="1">
                <a:sym typeface="Wingdings" panose="05000000000000000000" pitchFamily="2" charset="2"/>
              </a:rPr>
              <a:t>smax</a:t>
            </a:r>
            <a:r>
              <a:rPr lang="es-ES" dirty="0">
                <a:sym typeface="Wingdings" panose="05000000000000000000" pitchFamily="2" charset="2"/>
              </a:rPr>
              <a:t>):</a:t>
            </a:r>
          </a:p>
          <a:p>
            <a:r>
              <a:rPr lang="es-ES" dirty="0">
                <a:sym typeface="Wingdings" panose="05000000000000000000" pitchFamily="2" charset="2"/>
              </a:rPr>
              <a:t>    </a:t>
            </a:r>
            <a:r>
              <a:rPr lang="es-ES" dirty="0" err="1">
                <a:sym typeface="Wingdings" panose="05000000000000000000" pitchFamily="2" charset="2"/>
              </a:rPr>
              <a:t>part</a:t>
            </a:r>
            <a:r>
              <a:rPr lang="es-ES" dirty="0">
                <a:sym typeface="Wingdings" panose="05000000000000000000" pitchFamily="2" charset="2"/>
              </a:rPr>
              <a:t> = </a:t>
            </a:r>
            <a:r>
              <a:rPr lang="es-ES" dirty="0" err="1">
                <a:sym typeface="Wingdings" panose="05000000000000000000" pitchFamily="2" charset="2"/>
              </a:rPr>
              <a:t>creator.Particle</a:t>
            </a:r>
            <a:r>
              <a:rPr lang="es-ES" dirty="0">
                <a:sym typeface="Wingdings" panose="05000000000000000000" pitchFamily="2" charset="2"/>
              </a:rPr>
              <a:t>(</a:t>
            </a:r>
            <a:r>
              <a:rPr lang="es-ES" dirty="0" err="1">
                <a:sym typeface="Wingdings" panose="05000000000000000000" pitchFamily="2" charset="2"/>
              </a:rPr>
              <a:t>random.uniform</a:t>
            </a:r>
            <a:r>
              <a:rPr lang="es-ES" dirty="0">
                <a:sym typeface="Wingdings" panose="05000000000000000000" pitchFamily="2" charset="2"/>
              </a:rPr>
              <a:t>(</a:t>
            </a:r>
            <a:r>
              <a:rPr lang="es-ES" dirty="0" err="1">
                <a:sym typeface="Wingdings" panose="05000000000000000000" pitchFamily="2" charset="2"/>
              </a:rPr>
              <a:t>pmin</a:t>
            </a:r>
            <a:r>
              <a:rPr lang="es-ES" dirty="0">
                <a:sym typeface="Wingdings" panose="05000000000000000000" pitchFamily="2" charset="2"/>
              </a:rPr>
              <a:t>, </a:t>
            </a:r>
            <a:r>
              <a:rPr lang="es-ES" dirty="0" err="1">
                <a:sym typeface="Wingdings" panose="05000000000000000000" pitchFamily="2" charset="2"/>
              </a:rPr>
              <a:t>pmax</a:t>
            </a:r>
            <a:r>
              <a:rPr lang="es-ES" dirty="0">
                <a:sym typeface="Wingdings" panose="05000000000000000000" pitchFamily="2" charset="2"/>
              </a:rPr>
              <a:t>) </a:t>
            </a:r>
            <a:r>
              <a:rPr lang="es-ES" dirty="0" err="1">
                <a:sym typeface="Wingdings" panose="05000000000000000000" pitchFamily="2" charset="2"/>
              </a:rPr>
              <a:t>for</a:t>
            </a:r>
            <a:r>
              <a:rPr lang="es-ES" dirty="0">
                <a:sym typeface="Wingdings" panose="05000000000000000000" pitchFamily="2" charset="2"/>
              </a:rPr>
              <a:t> _ in </a:t>
            </a:r>
            <a:r>
              <a:rPr lang="es-ES" dirty="0" err="1">
                <a:sym typeface="Wingdings" panose="05000000000000000000" pitchFamily="2" charset="2"/>
              </a:rPr>
              <a:t>range</a:t>
            </a:r>
            <a:r>
              <a:rPr lang="es-ES" dirty="0">
                <a:sym typeface="Wingdings" panose="05000000000000000000" pitchFamily="2" charset="2"/>
              </a:rPr>
              <a:t>(</a:t>
            </a:r>
            <a:r>
              <a:rPr lang="es-ES" dirty="0" err="1">
                <a:sym typeface="Wingdings" panose="05000000000000000000" pitchFamily="2" charset="2"/>
              </a:rPr>
              <a:t>size</a:t>
            </a:r>
            <a:r>
              <a:rPr lang="es-ES" dirty="0">
                <a:sym typeface="Wingdings" panose="05000000000000000000" pitchFamily="2" charset="2"/>
              </a:rPr>
              <a:t>)) </a:t>
            </a:r>
          </a:p>
          <a:p>
            <a:r>
              <a:rPr lang="es-ES" dirty="0">
                <a:sym typeface="Wingdings" panose="05000000000000000000" pitchFamily="2" charset="2"/>
              </a:rPr>
              <a:t>    </a:t>
            </a:r>
            <a:r>
              <a:rPr lang="es-ES" dirty="0" err="1">
                <a:sym typeface="Wingdings" panose="05000000000000000000" pitchFamily="2" charset="2"/>
              </a:rPr>
              <a:t>part.speed</a:t>
            </a:r>
            <a:r>
              <a:rPr lang="es-ES" dirty="0">
                <a:sym typeface="Wingdings" panose="05000000000000000000" pitchFamily="2" charset="2"/>
              </a:rPr>
              <a:t> = [</a:t>
            </a:r>
            <a:r>
              <a:rPr lang="es-ES" dirty="0" err="1">
                <a:sym typeface="Wingdings" panose="05000000000000000000" pitchFamily="2" charset="2"/>
              </a:rPr>
              <a:t>random.uniform</a:t>
            </a:r>
            <a:r>
              <a:rPr lang="es-ES" dirty="0">
                <a:sym typeface="Wingdings" panose="05000000000000000000" pitchFamily="2" charset="2"/>
              </a:rPr>
              <a:t>(</a:t>
            </a:r>
            <a:r>
              <a:rPr lang="es-ES" dirty="0" err="1">
                <a:sym typeface="Wingdings" panose="05000000000000000000" pitchFamily="2" charset="2"/>
              </a:rPr>
              <a:t>smin</a:t>
            </a:r>
            <a:r>
              <a:rPr lang="es-ES" dirty="0">
                <a:sym typeface="Wingdings" panose="05000000000000000000" pitchFamily="2" charset="2"/>
              </a:rPr>
              <a:t>, </a:t>
            </a:r>
            <a:r>
              <a:rPr lang="es-ES" dirty="0" err="1">
                <a:sym typeface="Wingdings" panose="05000000000000000000" pitchFamily="2" charset="2"/>
              </a:rPr>
              <a:t>smax</a:t>
            </a:r>
            <a:r>
              <a:rPr lang="es-ES" dirty="0">
                <a:sym typeface="Wingdings" panose="05000000000000000000" pitchFamily="2" charset="2"/>
              </a:rPr>
              <a:t>) </a:t>
            </a:r>
            <a:r>
              <a:rPr lang="es-ES" dirty="0" err="1">
                <a:sym typeface="Wingdings" panose="05000000000000000000" pitchFamily="2" charset="2"/>
              </a:rPr>
              <a:t>for</a:t>
            </a:r>
            <a:r>
              <a:rPr lang="es-ES" dirty="0">
                <a:sym typeface="Wingdings" panose="05000000000000000000" pitchFamily="2" charset="2"/>
              </a:rPr>
              <a:t> _ in </a:t>
            </a:r>
            <a:r>
              <a:rPr lang="es-ES" dirty="0" err="1">
                <a:sym typeface="Wingdings" panose="05000000000000000000" pitchFamily="2" charset="2"/>
              </a:rPr>
              <a:t>range</a:t>
            </a:r>
            <a:r>
              <a:rPr lang="es-ES" dirty="0">
                <a:sym typeface="Wingdings" panose="05000000000000000000" pitchFamily="2" charset="2"/>
              </a:rPr>
              <a:t>(</a:t>
            </a:r>
            <a:r>
              <a:rPr lang="es-ES" dirty="0" err="1">
                <a:sym typeface="Wingdings" panose="05000000000000000000" pitchFamily="2" charset="2"/>
              </a:rPr>
              <a:t>size</a:t>
            </a:r>
            <a:r>
              <a:rPr lang="es-ES" dirty="0">
                <a:sym typeface="Wingdings" panose="05000000000000000000" pitchFamily="2" charset="2"/>
              </a:rPr>
              <a:t>)]</a:t>
            </a:r>
          </a:p>
          <a:p>
            <a:r>
              <a:rPr lang="es-ES" dirty="0">
                <a:sym typeface="Wingdings" panose="05000000000000000000" pitchFamily="2" charset="2"/>
              </a:rPr>
              <a:t>    </a:t>
            </a:r>
            <a:r>
              <a:rPr lang="es-ES" dirty="0" err="1">
                <a:sym typeface="Wingdings" panose="05000000000000000000" pitchFamily="2" charset="2"/>
              </a:rPr>
              <a:t>part.smin</a:t>
            </a:r>
            <a:r>
              <a:rPr lang="es-ES" dirty="0">
                <a:sym typeface="Wingdings" panose="05000000000000000000" pitchFamily="2" charset="2"/>
              </a:rPr>
              <a:t> = </a:t>
            </a:r>
            <a:r>
              <a:rPr lang="es-ES" dirty="0" err="1">
                <a:sym typeface="Wingdings" panose="05000000000000000000" pitchFamily="2" charset="2"/>
              </a:rPr>
              <a:t>smin</a:t>
            </a:r>
            <a:endParaRPr lang="es-ES" dirty="0">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part.smax</a:t>
            </a:r>
            <a:r>
              <a:rPr lang="es-ES" dirty="0">
                <a:sym typeface="Wingdings" panose="05000000000000000000" pitchFamily="2" charset="2"/>
              </a:rPr>
              <a:t> = </a:t>
            </a:r>
            <a:r>
              <a:rPr lang="es-ES" dirty="0" err="1">
                <a:sym typeface="Wingdings" panose="05000000000000000000" pitchFamily="2" charset="2"/>
              </a:rPr>
              <a:t>smax</a:t>
            </a:r>
            <a:endParaRPr lang="es-ES" dirty="0">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return</a:t>
            </a:r>
            <a:r>
              <a:rPr lang="es-ES" dirty="0">
                <a:sym typeface="Wingdings" panose="05000000000000000000" pitchFamily="2" charset="2"/>
              </a:rPr>
              <a:t> </a:t>
            </a:r>
            <a:r>
              <a:rPr lang="es-ES" dirty="0" err="1" smtClean="0">
                <a:sym typeface="Wingdings" panose="05000000000000000000" pitchFamily="2" charset="2"/>
              </a:rPr>
              <a:t>part</a:t>
            </a:r>
            <a:r>
              <a:rPr lang="es-ES" dirty="0" smtClean="0">
                <a:sym typeface="Wingdings" panose="05000000000000000000" pitchFamily="2" charset="2"/>
              </a:rPr>
              <a:t> </a:t>
            </a:r>
            <a:r>
              <a:rPr lang="es-ES" dirty="0" smtClean="0">
                <a:solidFill>
                  <a:srgbClr val="00B0F0"/>
                </a:solidFill>
                <a:sym typeface="Wingdings" panose="05000000000000000000" pitchFamily="2" charset="2"/>
              </a:rPr>
              <a:t># devolvemos la partícula</a:t>
            </a: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7968866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endParaRPr lang="es-ES" sz="800" dirty="0" smtClean="0">
              <a:sym typeface="Wingdings" panose="05000000000000000000" pitchFamily="2" charset="2"/>
            </a:endParaRPr>
          </a:p>
          <a:p>
            <a:r>
              <a:rPr lang="es-ES" dirty="0" smtClean="0">
                <a:sym typeface="Wingdings" panose="05000000000000000000" pitchFamily="2" charset="2"/>
              </a:rPr>
              <a:t>Paso 3: </a:t>
            </a:r>
            <a:r>
              <a:rPr lang="es-ES" dirty="0" smtClean="0">
                <a:solidFill>
                  <a:srgbClr val="FF0000"/>
                </a:solidFill>
                <a:sym typeface="Wingdings" panose="05000000000000000000" pitchFamily="2" charset="2"/>
              </a:rPr>
              <a:t>Definir el actualizador de la partícula</a:t>
            </a:r>
          </a:p>
          <a:p>
            <a:endParaRPr lang="es-ES" sz="1000" dirty="0" smtClean="0">
              <a:solidFill>
                <a:srgbClr val="FF0000"/>
              </a:solidFill>
              <a:sym typeface="Wingdings" panose="05000000000000000000" pitchFamily="2" charset="2"/>
            </a:endParaRPr>
          </a:p>
          <a:p>
            <a:r>
              <a:rPr lang="es-ES" sz="1400" dirty="0" err="1">
                <a:sym typeface="Wingdings" panose="05000000000000000000" pitchFamily="2" charset="2"/>
              </a:rPr>
              <a:t>def</a:t>
            </a:r>
            <a:r>
              <a:rPr lang="es-ES" sz="1400" dirty="0">
                <a:sym typeface="Wingdings" panose="05000000000000000000" pitchFamily="2" charset="2"/>
              </a:rPr>
              <a:t> </a:t>
            </a:r>
            <a:r>
              <a:rPr lang="es-ES" sz="1400" dirty="0" err="1">
                <a:sym typeface="Wingdings" panose="05000000000000000000" pitchFamily="2" charset="2"/>
              </a:rPr>
              <a:t>updateParticle</a:t>
            </a:r>
            <a:r>
              <a:rPr lang="es-ES" sz="1400" dirty="0">
                <a:sym typeface="Wingdings" panose="05000000000000000000" pitchFamily="2" charset="2"/>
              </a:rPr>
              <a:t>(</a:t>
            </a:r>
            <a:r>
              <a:rPr lang="es-ES" sz="1400" dirty="0" err="1">
                <a:sym typeface="Wingdings" panose="05000000000000000000" pitchFamily="2" charset="2"/>
              </a:rPr>
              <a:t>part</a:t>
            </a:r>
            <a:r>
              <a:rPr lang="es-ES" sz="1400" dirty="0">
                <a:sym typeface="Wingdings" panose="05000000000000000000" pitchFamily="2" charset="2"/>
              </a:rPr>
              <a:t>, </a:t>
            </a:r>
            <a:r>
              <a:rPr lang="es-ES" sz="1400" dirty="0" err="1">
                <a:sym typeface="Wingdings" panose="05000000000000000000" pitchFamily="2" charset="2"/>
              </a:rPr>
              <a:t>best</a:t>
            </a:r>
            <a:r>
              <a:rPr lang="es-ES" sz="1400" dirty="0">
                <a:sym typeface="Wingdings" panose="05000000000000000000" pitchFamily="2" charset="2"/>
              </a:rPr>
              <a:t>, phi1, phi2):</a:t>
            </a:r>
          </a:p>
          <a:p>
            <a:r>
              <a:rPr lang="es-ES" sz="1400" dirty="0">
                <a:solidFill>
                  <a:srgbClr val="FFC000"/>
                </a:solidFill>
                <a:sym typeface="Wingdings" panose="05000000000000000000" pitchFamily="2" charset="2"/>
              </a:rPr>
              <a:t>    u1 = (</a:t>
            </a:r>
            <a:r>
              <a:rPr lang="es-ES" sz="1400" dirty="0" err="1">
                <a:solidFill>
                  <a:srgbClr val="FFC000"/>
                </a:solidFill>
                <a:sym typeface="Wingdings" panose="05000000000000000000" pitchFamily="2" charset="2"/>
              </a:rPr>
              <a:t>random.uniform</a:t>
            </a:r>
            <a:r>
              <a:rPr lang="es-ES" sz="1400" dirty="0">
                <a:solidFill>
                  <a:srgbClr val="FFC000"/>
                </a:solidFill>
                <a:sym typeface="Wingdings" panose="05000000000000000000" pitchFamily="2" charset="2"/>
              </a:rPr>
              <a:t>(0, phi1) </a:t>
            </a:r>
            <a:r>
              <a:rPr lang="es-ES" sz="1400" dirty="0" err="1">
                <a:solidFill>
                  <a:srgbClr val="FFC000"/>
                </a:solidFill>
                <a:sym typeface="Wingdings" panose="05000000000000000000" pitchFamily="2" charset="2"/>
              </a:rPr>
              <a:t>for</a:t>
            </a:r>
            <a:r>
              <a:rPr lang="es-ES" sz="1400" dirty="0">
                <a:solidFill>
                  <a:srgbClr val="FFC000"/>
                </a:solidFill>
                <a:sym typeface="Wingdings" panose="05000000000000000000" pitchFamily="2" charset="2"/>
              </a:rPr>
              <a:t> _ in </a:t>
            </a:r>
            <a:r>
              <a:rPr lang="es-ES" sz="1400" dirty="0" err="1">
                <a:solidFill>
                  <a:srgbClr val="FFC000"/>
                </a:solidFill>
                <a:sym typeface="Wingdings" panose="05000000000000000000" pitchFamily="2" charset="2"/>
              </a:rPr>
              <a:t>range</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len</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part</a:t>
            </a:r>
            <a:r>
              <a:rPr lang="es-ES" sz="1400" dirty="0">
                <a:solidFill>
                  <a:srgbClr val="FFC000"/>
                </a:solidFill>
                <a:sym typeface="Wingdings" panose="05000000000000000000" pitchFamily="2" charset="2"/>
              </a:rPr>
              <a:t>)))</a:t>
            </a:r>
          </a:p>
          <a:p>
            <a:r>
              <a:rPr lang="es-ES" sz="1400" dirty="0">
                <a:sym typeface="Wingdings" panose="05000000000000000000" pitchFamily="2" charset="2"/>
              </a:rPr>
              <a:t>    </a:t>
            </a:r>
            <a:r>
              <a:rPr lang="es-ES" sz="1400" dirty="0">
                <a:solidFill>
                  <a:srgbClr val="FFC000"/>
                </a:solidFill>
                <a:sym typeface="Wingdings" panose="05000000000000000000" pitchFamily="2" charset="2"/>
              </a:rPr>
              <a:t>u2 = (</a:t>
            </a:r>
            <a:r>
              <a:rPr lang="es-ES" sz="1400" dirty="0" err="1">
                <a:solidFill>
                  <a:srgbClr val="FFC000"/>
                </a:solidFill>
                <a:sym typeface="Wingdings" panose="05000000000000000000" pitchFamily="2" charset="2"/>
              </a:rPr>
              <a:t>random.uniform</a:t>
            </a:r>
            <a:r>
              <a:rPr lang="es-ES" sz="1400" dirty="0">
                <a:solidFill>
                  <a:srgbClr val="FFC000"/>
                </a:solidFill>
                <a:sym typeface="Wingdings" panose="05000000000000000000" pitchFamily="2" charset="2"/>
              </a:rPr>
              <a:t>(0, phi2) </a:t>
            </a:r>
            <a:r>
              <a:rPr lang="es-ES" sz="1400" dirty="0" err="1">
                <a:solidFill>
                  <a:srgbClr val="FFC000"/>
                </a:solidFill>
                <a:sym typeface="Wingdings" panose="05000000000000000000" pitchFamily="2" charset="2"/>
              </a:rPr>
              <a:t>for</a:t>
            </a:r>
            <a:r>
              <a:rPr lang="es-ES" sz="1400" dirty="0">
                <a:solidFill>
                  <a:srgbClr val="FFC000"/>
                </a:solidFill>
                <a:sym typeface="Wingdings" panose="05000000000000000000" pitchFamily="2" charset="2"/>
              </a:rPr>
              <a:t> _ in </a:t>
            </a:r>
            <a:r>
              <a:rPr lang="es-ES" sz="1400" dirty="0" err="1">
                <a:solidFill>
                  <a:srgbClr val="FFC000"/>
                </a:solidFill>
                <a:sym typeface="Wingdings" panose="05000000000000000000" pitchFamily="2" charset="2"/>
              </a:rPr>
              <a:t>range</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len</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part</a:t>
            </a:r>
            <a:r>
              <a:rPr lang="es-ES" sz="1400" dirty="0">
                <a:solidFill>
                  <a:srgbClr val="FFC000"/>
                </a:solidFill>
                <a:sym typeface="Wingdings" panose="05000000000000000000" pitchFamily="2" charset="2"/>
              </a:rPr>
              <a:t>)))</a:t>
            </a:r>
          </a:p>
          <a:p>
            <a:r>
              <a:rPr lang="es-ES" sz="1400" dirty="0">
                <a:sym typeface="Wingdings" panose="05000000000000000000" pitchFamily="2" charset="2"/>
              </a:rPr>
              <a:t>    </a:t>
            </a:r>
            <a:r>
              <a:rPr lang="es-ES" sz="1400" dirty="0">
                <a:solidFill>
                  <a:srgbClr val="7030A0"/>
                </a:solidFill>
                <a:sym typeface="Wingdings" panose="05000000000000000000" pitchFamily="2" charset="2"/>
              </a:rPr>
              <a:t>v_u1 =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operator.mul</a:t>
            </a:r>
            <a:r>
              <a:rPr lang="es-ES" sz="1400" dirty="0">
                <a:solidFill>
                  <a:srgbClr val="7030A0"/>
                </a:solidFill>
                <a:sym typeface="Wingdings" panose="05000000000000000000" pitchFamily="2" charset="2"/>
              </a:rPr>
              <a:t>, u1,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operator.sub</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part.best</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part</a:t>
            </a:r>
            <a:r>
              <a:rPr lang="es-ES" sz="1400" dirty="0">
                <a:solidFill>
                  <a:srgbClr val="7030A0"/>
                </a:solidFill>
                <a:sym typeface="Wingdings" panose="05000000000000000000" pitchFamily="2" charset="2"/>
              </a:rPr>
              <a:t>))</a:t>
            </a:r>
          </a:p>
          <a:p>
            <a:r>
              <a:rPr lang="es-ES" sz="1400" dirty="0">
                <a:sym typeface="Wingdings" panose="05000000000000000000" pitchFamily="2" charset="2"/>
              </a:rPr>
              <a:t>    </a:t>
            </a:r>
            <a:r>
              <a:rPr lang="es-ES" sz="1400" dirty="0">
                <a:solidFill>
                  <a:srgbClr val="7030A0"/>
                </a:solidFill>
                <a:sym typeface="Wingdings" panose="05000000000000000000" pitchFamily="2" charset="2"/>
              </a:rPr>
              <a:t>v_u2 =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operator.mul</a:t>
            </a:r>
            <a:r>
              <a:rPr lang="es-ES" sz="1400" dirty="0">
                <a:solidFill>
                  <a:srgbClr val="7030A0"/>
                </a:solidFill>
                <a:sym typeface="Wingdings" panose="05000000000000000000" pitchFamily="2" charset="2"/>
              </a:rPr>
              <a:t>, u2,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operator.sub</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best</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part</a:t>
            </a:r>
            <a:r>
              <a:rPr lang="es-ES" sz="1400" dirty="0">
                <a:solidFill>
                  <a:srgbClr val="7030A0"/>
                </a:solidFill>
                <a:sym typeface="Wingdings" panose="05000000000000000000" pitchFamily="2" charset="2"/>
              </a:rPr>
              <a:t>))</a:t>
            </a:r>
          </a:p>
          <a:p>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 = </a:t>
            </a:r>
            <a:r>
              <a:rPr lang="es-ES" sz="1400" dirty="0" err="1">
                <a:sym typeface="Wingdings" panose="05000000000000000000" pitchFamily="2" charset="2"/>
              </a:rPr>
              <a:t>list</a:t>
            </a:r>
            <a:r>
              <a:rPr lang="es-ES" sz="1400" dirty="0">
                <a:sym typeface="Wingdings" panose="05000000000000000000" pitchFamily="2" charset="2"/>
              </a:rPr>
              <a:t>(</a:t>
            </a:r>
            <a:r>
              <a:rPr lang="es-ES" sz="1400" dirty="0" err="1">
                <a:sym typeface="Wingdings" panose="05000000000000000000" pitchFamily="2" charset="2"/>
              </a:rPr>
              <a:t>map</a:t>
            </a:r>
            <a:r>
              <a:rPr lang="es-ES" sz="1400" dirty="0">
                <a:sym typeface="Wingdings" panose="05000000000000000000" pitchFamily="2" charset="2"/>
              </a:rPr>
              <a:t>(</a:t>
            </a:r>
            <a:r>
              <a:rPr lang="es-ES" sz="1400" dirty="0" err="1">
                <a:sym typeface="Wingdings" panose="05000000000000000000" pitchFamily="2" charset="2"/>
              </a:rPr>
              <a:t>operator.add</a:t>
            </a:r>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 </a:t>
            </a:r>
            <a:r>
              <a:rPr lang="es-ES" sz="1400" dirty="0" err="1">
                <a:sym typeface="Wingdings" panose="05000000000000000000" pitchFamily="2" charset="2"/>
              </a:rPr>
              <a:t>map</a:t>
            </a:r>
            <a:r>
              <a:rPr lang="es-ES" sz="1400" dirty="0">
                <a:sym typeface="Wingdings" panose="05000000000000000000" pitchFamily="2" charset="2"/>
              </a:rPr>
              <a:t>(</a:t>
            </a:r>
            <a:r>
              <a:rPr lang="es-ES" sz="1400" dirty="0" err="1">
                <a:sym typeface="Wingdings" panose="05000000000000000000" pitchFamily="2" charset="2"/>
              </a:rPr>
              <a:t>operator.add</a:t>
            </a:r>
            <a:r>
              <a:rPr lang="es-ES" sz="1400" dirty="0">
                <a:sym typeface="Wingdings" panose="05000000000000000000" pitchFamily="2" charset="2"/>
              </a:rPr>
              <a:t>, v_u1, v_u2</a:t>
            </a:r>
            <a:r>
              <a:rPr lang="es-ES" sz="1400" dirty="0" smtClean="0">
                <a:sym typeface="Wingdings" panose="05000000000000000000" pitchFamily="2" charset="2"/>
              </a:rPr>
              <a:t>))) </a:t>
            </a:r>
            <a:r>
              <a:rPr lang="es-ES" sz="1400" dirty="0" smtClean="0">
                <a:solidFill>
                  <a:srgbClr val="0070C0"/>
                </a:solidFill>
                <a:sym typeface="Wingdings" panose="05000000000000000000" pitchFamily="2" charset="2"/>
              </a:rPr>
              <a:t># Suma completa</a:t>
            </a:r>
            <a:endParaRPr lang="es-ES" sz="1400" dirty="0">
              <a:solidFill>
                <a:srgbClr val="0070C0"/>
              </a:solidFill>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for</a:t>
            </a:r>
            <a:r>
              <a:rPr lang="es-ES" sz="1400" dirty="0">
                <a:sym typeface="Wingdings" panose="05000000000000000000" pitchFamily="2" charset="2"/>
              </a:rPr>
              <a:t> i, </a:t>
            </a:r>
            <a:r>
              <a:rPr lang="es-ES" sz="1400" dirty="0" err="1">
                <a:sym typeface="Wingdings" panose="05000000000000000000" pitchFamily="2" charset="2"/>
              </a:rPr>
              <a:t>speed</a:t>
            </a:r>
            <a:r>
              <a:rPr lang="es-ES" sz="1400" dirty="0">
                <a:sym typeface="Wingdings" panose="05000000000000000000" pitchFamily="2" charset="2"/>
              </a:rPr>
              <a:t> in </a:t>
            </a:r>
            <a:r>
              <a:rPr lang="es-ES" sz="1400" dirty="0" err="1">
                <a:sym typeface="Wingdings" panose="05000000000000000000" pitchFamily="2" charset="2"/>
              </a:rPr>
              <a:t>enumerate</a:t>
            </a:r>
            <a:r>
              <a:rPr lang="es-ES" sz="1400" dirty="0">
                <a:sym typeface="Wingdings" panose="05000000000000000000" pitchFamily="2" charset="2"/>
              </a:rPr>
              <a:t>(</a:t>
            </a:r>
            <a:r>
              <a:rPr lang="es-ES" sz="1400" dirty="0" err="1">
                <a:sym typeface="Wingdings" panose="05000000000000000000" pitchFamily="2" charset="2"/>
              </a:rPr>
              <a:t>part.speed</a:t>
            </a:r>
            <a:r>
              <a:rPr lang="es-ES" sz="1400" dirty="0" smtClean="0">
                <a:sym typeface="Wingdings" panose="05000000000000000000" pitchFamily="2" charset="2"/>
              </a:rPr>
              <a:t>): </a:t>
            </a:r>
            <a:r>
              <a:rPr lang="es-ES" sz="1400" dirty="0" smtClean="0">
                <a:solidFill>
                  <a:srgbClr val="0070C0"/>
                </a:solidFill>
                <a:sym typeface="Wingdings" panose="05000000000000000000" pitchFamily="2" charset="2"/>
              </a:rPr>
              <a:t># Comprobamos los límites de velocidad</a:t>
            </a:r>
            <a:endParaRPr lang="es-ES" sz="1400" dirty="0">
              <a:solidFill>
                <a:srgbClr val="0070C0"/>
              </a:solidFill>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if</a:t>
            </a:r>
            <a:r>
              <a:rPr lang="es-ES" sz="1400" dirty="0">
                <a:sym typeface="Wingdings" panose="05000000000000000000" pitchFamily="2" charset="2"/>
              </a:rPr>
              <a:t> </a:t>
            </a:r>
            <a:r>
              <a:rPr lang="es-ES" sz="1400" dirty="0" err="1">
                <a:sym typeface="Wingdings" panose="05000000000000000000" pitchFamily="2" charset="2"/>
              </a:rPr>
              <a:t>speed</a:t>
            </a:r>
            <a:r>
              <a:rPr lang="es-ES" sz="1400" dirty="0">
                <a:sym typeface="Wingdings" panose="05000000000000000000" pitchFamily="2" charset="2"/>
              </a:rPr>
              <a:t> &lt; </a:t>
            </a:r>
            <a:r>
              <a:rPr lang="es-ES" sz="1400" dirty="0" err="1">
                <a:sym typeface="Wingdings" panose="05000000000000000000" pitchFamily="2" charset="2"/>
              </a:rPr>
              <a:t>part.smin</a:t>
            </a:r>
            <a:r>
              <a:rPr lang="es-ES" sz="1400" dirty="0">
                <a:sym typeface="Wingdings" panose="05000000000000000000" pitchFamily="2" charset="2"/>
              </a:rPr>
              <a:t>:</a:t>
            </a:r>
          </a:p>
          <a:p>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[i] = </a:t>
            </a:r>
            <a:r>
              <a:rPr lang="es-ES" sz="1400" dirty="0" err="1">
                <a:sym typeface="Wingdings" panose="05000000000000000000" pitchFamily="2" charset="2"/>
              </a:rPr>
              <a:t>part.smin</a:t>
            </a:r>
            <a:endParaRPr lang="es-ES" sz="1400" dirty="0">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elif</a:t>
            </a:r>
            <a:r>
              <a:rPr lang="es-ES" sz="1400" dirty="0">
                <a:sym typeface="Wingdings" panose="05000000000000000000" pitchFamily="2" charset="2"/>
              </a:rPr>
              <a:t> </a:t>
            </a:r>
            <a:r>
              <a:rPr lang="es-ES" sz="1400" dirty="0" err="1">
                <a:sym typeface="Wingdings" panose="05000000000000000000" pitchFamily="2" charset="2"/>
              </a:rPr>
              <a:t>speed</a:t>
            </a:r>
            <a:r>
              <a:rPr lang="es-ES" sz="1400" dirty="0">
                <a:sym typeface="Wingdings" panose="05000000000000000000" pitchFamily="2" charset="2"/>
              </a:rPr>
              <a:t> &gt; </a:t>
            </a:r>
            <a:r>
              <a:rPr lang="es-ES" sz="1400" dirty="0" err="1">
                <a:sym typeface="Wingdings" panose="05000000000000000000" pitchFamily="2" charset="2"/>
              </a:rPr>
              <a:t>part.smax</a:t>
            </a:r>
            <a:r>
              <a:rPr lang="es-ES" sz="1400" dirty="0">
                <a:sym typeface="Wingdings" panose="05000000000000000000" pitchFamily="2" charset="2"/>
              </a:rPr>
              <a:t>:</a:t>
            </a:r>
          </a:p>
          <a:p>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[i] = </a:t>
            </a:r>
            <a:r>
              <a:rPr lang="es-ES" sz="1400" dirty="0" err="1">
                <a:sym typeface="Wingdings" panose="05000000000000000000" pitchFamily="2" charset="2"/>
              </a:rPr>
              <a:t>part.smax</a:t>
            </a:r>
            <a:endParaRPr lang="es-ES" sz="1400" dirty="0">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part</a:t>
            </a:r>
            <a:r>
              <a:rPr lang="es-ES" sz="1400" dirty="0">
                <a:sym typeface="Wingdings" panose="05000000000000000000" pitchFamily="2" charset="2"/>
              </a:rPr>
              <a:t>[:] = </a:t>
            </a:r>
            <a:r>
              <a:rPr lang="es-ES" sz="1400" dirty="0" err="1">
                <a:solidFill>
                  <a:srgbClr val="00B050"/>
                </a:solidFill>
                <a:sym typeface="Wingdings" panose="05000000000000000000" pitchFamily="2" charset="2"/>
              </a:rPr>
              <a:t>list</a:t>
            </a:r>
            <a:r>
              <a:rPr lang="es-ES" sz="1400" dirty="0">
                <a:solidFill>
                  <a:srgbClr val="00B050"/>
                </a:solidFill>
                <a:sym typeface="Wingdings" panose="05000000000000000000" pitchFamily="2" charset="2"/>
              </a:rPr>
              <a:t>(</a:t>
            </a:r>
            <a:r>
              <a:rPr lang="es-ES" sz="1400" dirty="0" err="1">
                <a:solidFill>
                  <a:srgbClr val="00B050"/>
                </a:solidFill>
                <a:sym typeface="Wingdings" panose="05000000000000000000" pitchFamily="2" charset="2"/>
              </a:rPr>
              <a:t>map</a:t>
            </a:r>
            <a:r>
              <a:rPr lang="es-ES" sz="1400" dirty="0">
                <a:solidFill>
                  <a:srgbClr val="00B050"/>
                </a:solidFill>
                <a:sym typeface="Wingdings" panose="05000000000000000000" pitchFamily="2" charset="2"/>
              </a:rPr>
              <a:t>(</a:t>
            </a:r>
            <a:r>
              <a:rPr lang="es-ES" sz="1400" dirty="0" err="1">
                <a:solidFill>
                  <a:srgbClr val="00B050"/>
                </a:solidFill>
                <a:sym typeface="Wingdings" panose="05000000000000000000" pitchFamily="2" charset="2"/>
              </a:rPr>
              <a:t>operator.add</a:t>
            </a:r>
            <a:r>
              <a:rPr lang="es-ES" sz="1400" dirty="0">
                <a:solidFill>
                  <a:srgbClr val="00B050"/>
                </a:solidFill>
                <a:sym typeface="Wingdings" panose="05000000000000000000" pitchFamily="2" charset="2"/>
              </a:rPr>
              <a:t>, </a:t>
            </a:r>
            <a:r>
              <a:rPr lang="es-ES" sz="1400" dirty="0" err="1">
                <a:solidFill>
                  <a:srgbClr val="00B050"/>
                </a:solidFill>
                <a:sym typeface="Wingdings" panose="05000000000000000000" pitchFamily="2" charset="2"/>
              </a:rPr>
              <a:t>part</a:t>
            </a:r>
            <a:r>
              <a:rPr lang="es-ES" sz="1400" dirty="0">
                <a:solidFill>
                  <a:srgbClr val="00B050"/>
                </a:solidFill>
                <a:sym typeface="Wingdings" panose="05000000000000000000" pitchFamily="2" charset="2"/>
              </a:rPr>
              <a:t>, </a:t>
            </a:r>
            <a:r>
              <a:rPr lang="es-ES" sz="1400" dirty="0" err="1">
                <a:solidFill>
                  <a:srgbClr val="00B050"/>
                </a:solidFill>
                <a:sym typeface="Wingdings" panose="05000000000000000000" pitchFamily="2" charset="2"/>
              </a:rPr>
              <a:t>part.speed</a:t>
            </a:r>
            <a:r>
              <a:rPr lang="es-ES" sz="1400" dirty="0" smtClean="0">
                <a:solidFill>
                  <a:srgbClr val="00B050"/>
                </a:solidFill>
                <a:sym typeface="Wingdings" panose="05000000000000000000" pitchFamily="2" charset="2"/>
              </a:rPr>
              <a:t>))</a:t>
            </a:r>
          </a:p>
          <a:p>
            <a:endParaRPr lang="es-ES" sz="1400" dirty="0">
              <a:sym typeface="Wingdings" panose="05000000000000000000" pitchFamily="2" charset="2"/>
            </a:endParaRPr>
          </a:p>
          <a:p>
            <a:r>
              <a:rPr lang="es-ES" sz="1400" dirty="0" smtClean="0">
                <a:sym typeface="Wingdings" panose="05000000000000000000" pitchFamily="2" charset="2"/>
              </a:rPr>
              <a:t>Recordar: Como se actualiza la velocidad y posición de una partícula</a:t>
            </a:r>
          </a:p>
          <a:p>
            <a:r>
              <a:rPr lang="es-ES" sz="1400" dirty="0" smtClean="0">
                <a:solidFill>
                  <a:srgbClr val="FF0000"/>
                </a:solidFill>
                <a:sym typeface="Wingdings" panose="05000000000000000000" pitchFamily="2" charset="2"/>
              </a:rPr>
              <a:t>Velocidad </a:t>
            </a:r>
            <a:r>
              <a:rPr lang="es-ES" sz="1400" dirty="0" smtClean="0">
                <a:sym typeface="Wingdings" panose="05000000000000000000" pitchFamily="2" charset="2"/>
              </a:rPr>
              <a:t> V (t+1) = V(t) + </a:t>
            </a:r>
            <a:r>
              <a:rPr lang="es-ES" sz="1400" dirty="0" smtClean="0">
                <a:solidFill>
                  <a:srgbClr val="FFC000"/>
                </a:solidFill>
                <a:sym typeface="Wingdings" panose="05000000000000000000" pitchFamily="2" charset="2"/>
              </a:rPr>
              <a:t>c1rand1</a:t>
            </a:r>
            <a:r>
              <a:rPr lang="es-ES" sz="1400" dirty="0" smtClean="0">
                <a:solidFill>
                  <a:srgbClr val="7030A0"/>
                </a:solidFill>
                <a:sym typeface="Wingdings" panose="05000000000000000000" pitchFamily="2" charset="2"/>
              </a:rPr>
              <a:t>(</a:t>
            </a:r>
            <a:r>
              <a:rPr lang="es-ES" sz="1400" dirty="0" err="1" smtClean="0">
                <a:solidFill>
                  <a:srgbClr val="7030A0"/>
                </a:solidFill>
                <a:sym typeface="Wingdings" panose="05000000000000000000" pitchFamily="2" charset="2"/>
              </a:rPr>
              <a:t>Pid</a:t>
            </a:r>
            <a:r>
              <a:rPr lang="es-ES" sz="1400" dirty="0" smtClean="0">
                <a:solidFill>
                  <a:srgbClr val="7030A0"/>
                </a:solidFill>
                <a:sym typeface="Wingdings" panose="05000000000000000000" pitchFamily="2" charset="2"/>
              </a:rPr>
              <a:t> – S(t))</a:t>
            </a:r>
            <a:r>
              <a:rPr lang="es-ES" sz="1400" dirty="0" smtClean="0">
                <a:sym typeface="Wingdings" panose="05000000000000000000" pitchFamily="2" charset="2"/>
              </a:rPr>
              <a:t> + </a:t>
            </a:r>
            <a:r>
              <a:rPr lang="es-ES" sz="1400" dirty="0" smtClean="0">
                <a:solidFill>
                  <a:srgbClr val="FFC000"/>
                </a:solidFill>
                <a:sym typeface="Wingdings" panose="05000000000000000000" pitchFamily="2" charset="2"/>
              </a:rPr>
              <a:t>c2rand2</a:t>
            </a:r>
            <a:r>
              <a:rPr lang="es-ES" sz="1400" dirty="0" smtClean="0">
                <a:solidFill>
                  <a:srgbClr val="7030A0"/>
                </a:solidFill>
                <a:sym typeface="Wingdings" panose="05000000000000000000" pitchFamily="2" charset="2"/>
              </a:rPr>
              <a:t>(</a:t>
            </a:r>
            <a:r>
              <a:rPr lang="es-ES" sz="1400" dirty="0" err="1" smtClean="0">
                <a:solidFill>
                  <a:srgbClr val="7030A0"/>
                </a:solidFill>
                <a:sym typeface="Wingdings" panose="05000000000000000000" pitchFamily="2" charset="2"/>
              </a:rPr>
              <a:t>Pgd</a:t>
            </a:r>
            <a:r>
              <a:rPr lang="es-ES" sz="1400" dirty="0" smtClean="0">
                <a:solidFill>
                  <a:srgbClr val="7030A0"/>
                </a:solidFill>
                <a:sym typeface="Wingdings" panose="05000000000000000000" pitchFamily="2" charset="2"/>
              </a:rPr>
              <a:t> – S(t))</a:t>
            </a:r>
            <a:r>
              <a:rPr lang="es-ES" sz="1400" dirty="0" smtClean="0">
                <a:sym typeface="Wingdings" panose="05000000000000000000" pitchFamily="2" charset="2"/>
              </a:rPr>
              <a:t>  S(t) es la posición de la partícula, </a:t>
            </a:r>
            <a:r>
              <a:rPr lang="es-ES" sz="1400" dirty="0" err="1" smtClean="0">
                <a:sym typeface="Wingdings" panose="05000000000000000000" pitchFamily="2" charset="2"/>
              </a:rPr>
              <a:t>Pid</a:t>
            </a:r>
            <a:r>
              <a:rPr lang="es-ES" sz="1400" dirty="0" smtClean="0">
                <a:sym typeface="Wingdings" panose="05000000000000000000" pitchFamily="2" charset="2"/>
              </a:rPr>
              <a:t> su mejor posición y </a:t>
            </a:r>
            <a:r>
              <a:rPr lang="es-ES" sz="1400" dirty="0" err="1" smtClean="0">
                <a:sym typeface="Wingdings" panose="05000000000000000000" pitchFamily="2" charset="2"/>
              </a:rPr>
              <a:t>Pgd</a:t>
            </a:r>
            <a:r>
              <a:rPr lang="es-ES" sz="1400" dirty="0" smtClean="0">
                <a:sym typeface="Wingdings" panose="05000000000000000000" pitchFamily="2" charset="2"/>
              </a:rPr>
              <a:t> la posición de la mejor partícula  </a:t>
            </a:r>
          </a:p>
          <a:p>
            <a:endParaRPr lang="es-ES" sz="1400" dirty="0">
              <a:sym typeface="Wingdings" panose="05000000000000000000" pitchFamily="2" charset="2"/>
            </a:endParaRPr>
          </a:p>
          <a:p>
            <a:r>
              <a:rPr lang="es-ES" sz="1400" dirty="0" smtClean="0">
                <a:solidFill>
                  <a:srgbClr val="FF0000"/>
                </a:solidFill>
                <a:sym typeface="Wingdings" panose="05000000000000000000" pitchFamily="2" charset="2"/>
              </a:rPr>
              <a:t>Posición  </a:t>
            </a:r>
            <a:r>
              <a:rPr lang="es-ES" sz="1400" dirty="0" smtClean="0">
                <a:sym typeface="Wingdings" panose="05000000000000000000" pitchFamily="2" charset="2"/>
              </a:rPr>
              <a:t>S(t+1) = </a:t>
            </a:r>
            <a:r>
              <a:rPr lang="es-ES" sz="1400" dirty="0" smtClean="0">
                <a:solidFill>
                  <a:srgbClr val="00B050"/>
                </a:solidFill>
                <a:sym typeface="Wingdings" panose="05000000000000000000" pitchFamily="2" charset="2"/>
              </a:rPr>
              <a:t>S(t) + V(t)</a:t>
            </a: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3308998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6186309"/>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endParaRPr lang="es-ES" sz="800" dirty="0" smtClean="0">
              <a:sym typeface="Wingdings" panose="05000000000000000000" pitchFamily="2" charset="2"/>
            </a:endParaRPr>
          </a:p>
          <a:p>
            <a:r>
              <a:rPr lang="es-ES" dirty="0" smtClean="0">
                <a:solidFill>
                  <a:srgbClr val="FF0000"/>
                </a:solidFill>
                <a:sym typeface="Wingdings" panose="05000000000000000000" pitchFamily="2" charset="2"/>
              </a:rPr>
              <a:t> Abrir basic_pso.py</a:t>
            </a:r>
          </a:p>
          <a:p>
            <a:endParaRPr lang="es-ES" sz="1000" dirty="0" smtClean="0">
              <a:solidFill>
                <a:srgbClr val="FF0000"/>
              </a:solidFill>
              <a:sym typeface="Wingdings" panose="05000000000000000000" pitchFamily="2" charset="2"/>
            </a:endParaRPr>
          </a:p>
          <a:p>
            <a:r>
              <a:rPr lang="es-ES" dirty="0" smtClean="0">
                <a:sym typeface="Wingdings" panose="05000000000000000000" pitchFamily="2" charset="2"/>
              </a:rPr>
              <a:t>Más detalles:</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Módulo </a:t>
            </a:r>
            <a:r>
              <a:rPr lang="es-ES" dirty="0" err="1" smtClean="0">
                <a:sym typeface="Wingdings" panose="05000000000000000000" pitchFamily="2" charset="2"/>
              </a:rPr>
              <a:t>operator</a:t>
            </a:r>
            <a:r>
              <a:rPr lang="es-ES" dirty="0" smtClean="0">
                <a:sym typeface="Wingdings" panose="05000000000000000000" pitchFamily="2" charset="2"/>
              </a:rPr>
              <a:t>:</a:t>
            </a:r>
          </a:p>
          <a:p>
            <a:r>
              <a:rPr lang="es-ES" dirty="0">
                <a:sym typeface="Wingdings" panose="05000000000000000000" pitchFamily="2" charset="2"/>
                <a:hlinkClick r:id="rId2"/>
              </a:rPr>
              <a:t>https://</a:t>
            </a:r>
            <a:r>
              <a:rPr lang="es-ES" dirty="0" smtClean="0">
                <a:sym typeface="Wingdings" panose="05000000000000000000" pitchFamily="2" charset="2"/>
                <a:hlinkClick r:id="rId2"/>
              </a:rPr>
              <a:t>docs.python.org/2/library/operator.html</a:t>
            </a:r>
            <a:endParaRPr lang="es-ES" dirty="0" smtClean="0">
              <a:sym typeface="Wingdings" panose="05000000000000000000" pitchFamily="2" charset="2"/>
            </a:endParaRP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Función que queremos optimizar</a:t>
            </a: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deap.gel.ulaval.ca/doc/default/api/benchmarks.html#deap.benchmarks.h1</a:t>
            </a:r>
            <a:endParaRPr lang="es-ES" dirty="0" smtClean="0">
              <a:sym typeface="Wingdings" panose="05000000000000000000" pitchFamily="2" charset="2"/>
            </a:endParaRP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Si queremos saber el tiempo que tarda el algoritmo podemos utilizar el comando time de Linux  Probar time </a:t>
            </a:r>
            <a:r>
              <a:rPr lang="es-ES" dirty="0" err="1" smtClean="0">
                <a:sym typeface="Wingdings" panose="05000000000000000000" pitchFamily="2" charset="2"/>
              </a:rPr>
              <a:t>python</a:t>
            </a:r>
            <a:r>
              <a:rPr lang="es-ES" dirty="0" smtClean="0">
                <a:sym typeface="Wingdings" panose="05000000000000000000" pitchFamily="2" charset="2"/>
              </a:rPr>
              <a:t> </a:t>
            </a:r>
            <a:r>
              <a:rPr lang="es-ES" dirty="0" err="1" smtClean="0">
                <a:sym typeface="Wingdings" panose="05000000000000000000" pitchFamily="2" charset="2"/>
              </a:rPr>
              <a:t>basic_pso.ppy</a:t>
            </a:r>
            <a:endParaRPr lang="es-ES" dirty="0" smtClean="0">
              <a:sym typeface="Wingdings" panose="05000000000000000000" pitchFamily="2" charset="2"/>
            </a:endParaRPr>
          </a:p>
          <a:p>
            <a:pPr marL="285750" indent="-285750">
              <a:buFont typeface="Wingdings" panose="05000000000000000000" pitchFamily="2" charset="2"/>
              <a:buChar char="v"/>
            </a:pPr>
            <a:endParaRPr lang="es-ES" dirty="0">
              <a:sym typeface="Wingdings" panose="05000000000000000000" pitchFamily="2" charset="2"/>
            </a:endParaRPr>
          </a:p>
          <a:p>
            <a:r>
              <a:rPr lang="en-US" dirty="0">
                <a:sym typeface="Wingdings" panose="05000000000000000000" pitchFamily="2" charset="2"/>
              </a:rPr>
              <a:t>real	0m0.912s</a:t>
            </a:r>
          </a:p>
          <a:p>
            <a:r>
              <a:rPr lang="en-US" dirty="0">
                <a:sym typeface="Wingdings" panose="05000000000000000000" pitchFamily="2" charset="2"/>
              </a:rPr>
              <a:t>user	0m0.404s</a:t>
            </a:r>
          </a:p>
          <a:p>
            <a:r>
              <a:rPr lang="en-US" dirty="0">
                <a:sym typeface="Wingdings" panose="05000000000000000000" pitchFamily="2" charset="2"/>
              </a:rPr>
              <a:t>sys	0m0.036s</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140917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678204"/>
          </a:xfrm>
          <a:prstGeom prst="rect">
            <a:avLst/>
          </a:prstGeom>
        </p:spPr>
        <p:txBody>
          <a:bodyPr wrap="square">
            <a:spAutoFit/>
          </a:bodyPr>
          <a:lstStyle/>
          <a:p>
            <a:r>
              <a:rPr lang="es-ES" dirty="0" smtClean="0">
                <a:sym typeface="Wingdings" panose="05000000000000000000" pitchFamily="2" charset="2"/>
              </a:rPr>
              <a:t>PROCESAMIENTO PARALELO CON DEAP</a:t>
            </a:r>
            <a:endParaRPr lang="es-ES" dirty="0">
              <a:sym typeface="Wingdings" panose="05000000000000000000" pitchFamily="2" charset="2"/>
            </a:endParaRPr>
          </a:p>
          <a:p>
            <a:endParaRPr lang="es-ES" sz="1000" dirty="0" smtClean="0">
              <a:solidFill>
                <a:srgbClr val="FF0000"/>
              </a:solidFill>
              <a:sym typeface="Wingdings" panose="05000000000000000000" pitchFamily="2" charset="2"/>
            </a:endParaRPr>
          </a:p>
          <a:p>
            <a:r>
              <a:rPr lang="es-ES" dirty="0" smtClean="0">
                <a:sym typeface="Wingdings" panose="05000000000000000000" pitchFamily="2" charset="2"/>
              </a:rPr>
              <a:t>Si tenemos un PC, portátil o estación de trabajo con varios núcleos podemos realizar procesamiento paralelo  Es muy sencillo paralelizar la ejecución de un algoritmo genético ya que cada individuo o partícula puede ser evaluado independientemente.</a:t>
            </a:r>
          </a:p>
          <a:p>
            <a:endParaRPr lang="es-ES" dirty="0">
              <a:sym typeface="Wingdings" panose="05000000000000000000" pitchFamily="2" charset="2"/>
            </a:endParaRPr>
          </a:p>
          <a:p>
            <a:r>
              <a:rPr lang="es-ES" dirty="0" err="1"/>
              <a:t>Scalable</a:t>
            </a:r>
            <a:r>
              <a:rPr lang="es-ES" dirty="0"/>
              <a:t> </a:t>
            </a:r>
            <a:r>
              <a:rPr lang="es-ES" dirty="0" err="1"/>
              <a:t>Concurent</a:t>
            </a:r>
            <a:r>
              <a:rPr lang="es-ES" dirty="0"/>
              <a:t> </a:t>
            </a:r>
            <a:r>
              <a:rPr lang="es-ES" dirty="0" err="1"/>
              <a:t>Operations</a:t>
            </a:r>
            <a:r>
              <a:rPr lang="es-ES" dirty="0"/>
              <a:t> in Python (SCOOP</a:t>
            </a:r>
            <a:r>
              <a:rPr lang="es-ES" dirty="0" smtClean="0"/>
              <a:t>)</a:t>
            </a:r>
          </a:p>
          <a:p>
            <a:r>
              <a:rPr lang="es-ES" dirty="0">
                <a:hlinkClick r:id="rId2"/>
              </a:rPr>
              <a:t>http://</a:t>
            </a:r>
            <a:r>
              <a:rPr lang="es-ES" dirty="0" smtClean="0">
                <a:hlinkClick r:id="rId2"/>
              </a:rPr>
              <a:t>scoop.readthedocs.org/en/latest/usage.html</a:t>
            </a:r>
            <a:endParaRPr lang="es-ES" dirty="0" smtClean="0"/>
          </a:p>
          <a:p>
            <a:endParaRPr lang="es-ES" dirty="0"/>
          </a:p>
          <a:p>
            <a:endParaRPr lang="es-ES" dirty="0" smtClean="0"/>
          </a:p>
          <a:p>
            <a:endParaRPr lang="es-ES" dirty="0"/>
          </a:p>
          <a:p>
            <a:endParaRPr lang="es-ES" dirty="0"/>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0742988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955203"/>
          </a:xfrm>
          <a:prstGeom prst="rect">
            <a:avLst/>
          </a:prstGeom>
        </p:spPr>
        <p:txBody>
          <a:bodyPr wrap="square">
            <a:spAutoFit/>
          </a:bodyPr>
          <a:lstStyle/>
          <a:p>
            <a:r>
              <a:rPr lang="es-ES" dirty="0" smtClean="0">
                <a:sym typeface="Wingdings" panose="05000000000000000000" pitchFamily="2" charset="2"/>
              </a:rPr>
              <a:t>UTILIZAR DEAP CON OTRAS APLICACIONES  </a:t>
            </a:r>
            <a:r>
              <a:rPr lang="es-ES" dirty="0" err="1" smtClean="0">
                <a:sym typeface="Wingdings" panose="05000000000000000000" pitchFamily="2" charset="2"/>
              </a:rPr>
              <a:t>Simulation</a:t>
            </a:r>
            <a:r>
              <a:rPr lang="es-ES" dirty="0" smtClean="0">
                <a:sym typeface="Wingdings" panose="05000000000000000000" pitchFamily="2" charset="2"/>
              </a:rPr>
              <a:t> Framework</a:t>
            </a:r>
            <a:endParaRPr lang="es-ES" dirty="0">
              <a:sym typeface="Wingdings" panose="05000000000000000000" pitchFamily="2" charset="2"/>
            </a:endParaRPr>
          </a:p>
          <a:p>
            <a:endParaRPr lang="es-ES" sz="1000" dirty="0" smtClean="0">
              <a:solidFill>
                <a:srgbClr val="FF0000"/>
              </a:solidFill>
              <a:sym typeface="Wingdings" panose="05000000000000000000" pitchFamily="2" charset="2"/>
            </a:endParaRPr>
          </a:p>
          <a:p>
            <a:r>
              <a:rPr lang="es-ES" dirty="0" smtClean="0"/>
              <a:t>La </a:t>
            </a:r>
            <a:r>
              <a:rPr lang="es-ES" dirty="0" err="1" smtClean="0"/>
              <a:t>fitness</a:t>
            </a:r>
            <a:r>
              <a:rPr lang="es-ES" dirty="0" smtClean="0"/>
              <a:t> </a:t>
            </a:r>
            <a:r>
              <a:rPr lang="es-ES" dirty="0" err="1" smtClean="0"/>
              <a:t>function</a:t>
            </a:r>
            <a:r>
              <a:rPr lang="es-ES" dirty="0" smtClean="0"/>
              <a:t> puede se la ejecución de otro programa. Es decir, no es un función que nosotros definimos en Python, es otro programa que queremos lanzar desde Python y cuyo resultado define el </a:t>
            </a:r>
            <a:r>
              <a:rPr lang="es-ES" dirty="0" err="1" smtClean="0"/>
              <a:t>fitness</a:t>
            </a:r>
            <a:r>
              <a:rPr lang="es-ES" dirty="0" smtClean="0"/>
              <a:t> del individuo.</a:t>
            </a:r>
          </a:p>
          <a:p>
            <a:endParaRPr lang="es-ES" dirty="0"/>
          </a:p>
          <a:p>
            <a:r>
              <a:rPr lang="es-ES" dirty="0" smtClean="0"/>
              <a:t>Ejemplo: Queremos optimizar el funcionamiento de una red de sensores </a:t>
            </a:r>
            <a:r>
              <a:rPr lang="es-ES" dirty="0"/>
              <a:t>(NS-2, es simulador de redes inalámbricas)</a:t>
            </a:r>
            <a:endParaRPr lang="es-ES" dirty="0" smtClean="0"/>
          </a:p>
          <a:p>
            <a:endParaRPr lang="es-ES" dirty="0" smtClean="0"/>
          </a:p>
          <a:p>
            <a:r>
              <a:rPr lang="es-ES" dirty="0" smtClean="0"/>
              <a:t>Parámetros de diseño: La posición de los nodos de la red.</a:t>
            </a:r>
            <a:endParaRPr lang="es-ES" dirty="0"/>
          </a:p>
          <a:p>
            <a:endParaRPr lang="es-ES" dirty="0"/>
          </a:p>
          <a:p>
            <a:r>
              <a:rPr lang="es-ES" dirty="0" err="1"/>
              <a:t>Fitness</a:t>
            </a:r>
            <a:r>
              <a:rPr lang="es-ES" dirty="0"/>
              <a:t> </a:t>
            </a:r>
            <a:r>
              <a:rPr lang="es-ES" dirty="0" err="1"/>
              <a:t>Function</a:t>
            </a:r>
            <a:r>
              <a:rPr lang="es-ES" dirty="0"/>
              <a:t>: </a:t>
            </a:r>
            <a:r>
              <a:rPr lang="es-ES" dirty="0" smtClean="0"/>
              <a:t>Corremos la simulación con los parámetros de diseño y obtenemos el resultado. LO ÚNICO QUE NECESITAMOS ES QUE NOS DEVUELVA LA TUPLA (objetivo1, objetivo2)</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7307213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401205"/>
          </a:xfrm>
          <a:prstGeom prst="rect">
            <a:avLst/>
          </a:prstGeom>
        </p:spPr>
        <p:txBody>
          <a:bodyPr wrap="square">
            <a:spAutoFit/>
          </a:bodyPr>
          <a:lstStyle/>
          <a:p>
            <a:r>
              <a:rPr lang="es-ES" dirty="0" smtClean="0">
                <a:sym typeface="Wingdings" panose="05000000000000000000" pitchFamily="2" charset="2"/>
              </a:rPr>
              <a:t>UTILIZAR DEAP CON OTRAS APLICACIONES  </a:t>
            </a:r>
            <a:r>
              <a:rPr lang="es-ES" dirty="0" err="1" smtClean="0">
                <a:sym typeface="Wingdings" panose="05000000000000000000" pitchFamily="2" charset="2"/>
              </a:rPr>
              <a:t>Simulation</a:t>
            </a:r>
            <a:r>
              <a:rPr lang="es-ES" dirty="0" smtClean="0">
                <a:sym typeface="Wingdings" panose="05000000000000000000" pitchFamily="2" charset="2"/>
              </a:rPr>
              <a:t> Framework</a:t>
            </a:r>
            <a:endParaRPr lang="es-ES" dirty="0">
              <a:sym typeface="Wingdings" panose="05000000000000000000" pitchFamily="2" charset="2"/>
            </a:endParaRPr>
          </a:p>
          <a:p>
            <a:endParaRPr lang="es-ES" sz="1000" dirty="0" smtClean="0">
              <a:solidFill>
                <a:srgbClr val="FF0000"/>
              </a:solidFill>
              <a:sym typeface="Wingdings" panose="05000000000000000000" pitchFamily="2" charset="2"/>
            </a:endParaRPr>
          </a:p>
          <a:p>
            <a:r>
              <a:rPr lang="es-ES" dirty="0" smtClean="0">
                <a:sym typeface="Wingdings" panose="05000000000000000000" pitchFamily="2" charset="2"/>
              </a:rPr>
              <a:t>Módulo </a:t>
            </a:r>
            <a:r>
              <a:rPr lang="es-ES" dirty="0" err="1" smtClean="0">
                <a:sym typeface="Wingdings" panose="05000000000000000000" pitchFamily="2" charset="2"/>
              </a:rPr>
              <a:t>subprocess</a:t>
            </a:r>
            <a:r>
              <a:rPr lang="es-ES" dirty="0" smtClean="0">
                <a:sym typeface="Wingdings" panose="05000000000000000000" pitchFamily="2" charset="2"/>
              </a:rPr>
              <a:t>: Permite crea procesos hijos que se pueden encargar de la ejecución del programa que genera el </a:t>
            </a:r>
            <a:r>
              <a:rPr lang="es-ES" dirty="0" err="1" smtClean="0">
                <a:sym typeface="Wingdings" panose="05000000000000000000" pitchFamily="2" charset="2"/>
              </a:rPr>
              <a:t>fitness</a:t>
            </a:r>
            <a:r>
              <a:rPr lang="es-ES" dirty="0" smtClean="0">
                <a:sym typeface="Wingdings" panose="05000000000000000000" pitchFamily="2" charset="2"/>
              </a:rPr>
              <a:t> de individuo o de la partícula.</a:t>
            </a:r>
          </a:p>
          <a:p>
            <a:endParaRPr lang="es-ES" dirty="0">
              <a:sym typeface="Wingdings" panose="05000000000000000000" pitchFamily="2" charset="2"/>
            </a:endParaRPr>
          </a:p>
          <a:p>
            <a:r>
              <a:rPr lang="es-ES" dirty="0">
                <a:sym typeface="Wingdings" panose="05000000000000000000" pitchFamily="2" charset="2"/>
                <a:hlinkClick r:id="rId2"/>
              </a:rPr>
              <a:t>https://</a:t>
            </a:r>
            <a:r>
              <a:rPr lang="es-ES" dirty="0" smtClean="0">
                <a:sym typeface="Wingdings" panose="05000000000000000000" pitchFamily="2" charset="2"/>
                <a:hlinkClick r:id="rId2"/>
              </a:rPr>
              <a:t>docs.python.org/2/library/subprocess.html</a:t>
            </a:r>
            <a:endParaRPr lang="es-ES" dirty="0" smtClean="0">
              <a:sym typeface="Wingdings" panose="05000000000000000000" pitchFamily="2" charset="2"/>
            </a:endParaRPr>
          </a:p>
          <a:p>
            <a:endParaRPr lang="es-ES" dirty="0">
              <a:sym typeface="Wingdings" panose="05000000000000000000" pitchFamily="2" charset="2"/>
            </a:endParaRPr>
          </a:p>
          <a:p>
            <a:r>
              <a:rPr lang="en-US" dirty="0" err="1" smtClean="0">
                <a:sym typeface="Wingdings" panose="05000000000000000000" pitchFamily="2" charset="2"/>
              </a:rPr>
              <a:t>Ejemplo</a:t>
            </a:r>
            <a:r>
              <a:rPr lang="en-US" dirty="0" smtClean="0">
                <a:sym typeface="Wingdings" panose="05000000000000000000" pitchFamily="2" charset="2"/>
              </a:rPr>
              <a:t>:</a:t>
            </a:r>
          </a:p>
          <a:p>
            <a:endParaRPr lang="en-US" dirty="0" smtClean="0">
              <a:sym typeface="Wingdings" panose="05000000000000000000" pitchFamily="2" charset="2"/>
            </a:endParaRPr>
          </a:p>
          <a:p>
            <a:r>
              <a:rPr lang="en-US" dirty="0" err="1" smtClean="0">
                <a:sym typeface="Wingdings" panose="05000000000000000000" pitchFamily="2" charset="2"/>
              </a:rPr>
              <a:t>subprocess.Popen</a:t>
            </a:r>
            <a:r>
              <a:rPr lang="en-US" dirty="0" smtClean="0">
                <a:sym typeface="Wingdings" panose="05000000000000000000" pitchFamily="2" charset="2"/>
              </a:rPr>
              <a:t>(</a:t>
            </a:r>
            <a:r>
              <a:rPr lang="en-US" dirty="0" err="1" smtClean="0">
                <a:sym typeface="Wingdings" panose="05000000000000000000" pitchFamily="2" charset="2"/>
              </a:rPr>
              <a:t>programa</a:t>
            </a:r>
            <a:r>
              <a:rPr lang="en-US" dirty="0" smtClean="0">
                <a:sym typeface="Wingdings" panose="05000000000000000000" pitchFamily="2" charset="2"/>
              </a:rPr>
              <a:t> y </a:t>
            </a:r>
            <a:r>
              <a:rPr lang="en-US" dirty="0" err="1" smtClean="0">
                <a:sym typeface="Wingdings" panose="05000000000000000000" pitchFamily="2" charset="2"/>
              </a:rPr>
              <a:t>argumentos</a:t>
            </a:r>
            <a:r>
              <a:rPr lang="en-US" dirty="0" smtClean="0">
                <a:sym typeface="Wingdings" panose="05000000000000000000" pitchFamily="2" charset="2"/>
              </a:rPr>
              <a:t>, executable=“/bin/bash”, shell=True, </a:t>
            </a:r>
            <a:r>
              <a:rPr lang="en-US" dirty="0" err="1" smtClean="0">
                <a:sym typeface="Wingdings" panose="05000000000000000000" pitchFamily="2" charset="2"/>
              </a:rPr>
              <a:t>stdout</a:t>
            </a:r>
            <a:r>
              <a:rPr lang="en-US" dirty="0" smtClean="0">
                <a:sym typeface="Wingdings" panose="05000000000000000000" pitchFamily="2" charset="2"/>
              </a:rPr>
              <a:t> = </a:t>
            </a:r>
            <a:r>
              <a:rPr lang="en-US" dirty="0" err="1" smtClean="0">
                <a:sym typeface="Wingdings" panose="05000000000000000000" pitchFamily="2" charset="2"/>
              </a:rPr>
              <a:t>subprocess.PIPE</a:t>
            </a:r>
            <a:r>
              <a:rPr lang="en-US" dirty="0" smtClean="0">
                <a:sym typeface="Wingdings" panose="05000000000000000000" pitchFamily="2" charset="2"/>
              </a:rPr>
              <a:t>, </a:t>
            </a:r>
            <a:r>
              <a:rPr lang="en-US" dirty="0" err="1" smtClean="0">
                <a:sym typeface="Wingdings" panose="05000000000000000000" pitchFamily="2" charset="2"/>
              </a:rPr>
              <a:t>stderr</a:t>
            </a:r>
            <a:r>
              <a:rPr lang="en-US" dirty="0" smtClean="0">
                <a:sym typeface="Wingdings" panose="05000000000000000000" pitchFamily="2" charset="2"/>
              </a:rPr>
              <a:t> = </a:t>
            </a:r>
            <a:r>
              <a:rPr lang="en-US" dirty="0" err="1" smtClean="0">
                <a:sym typeface="Wingdings" panose="05000000000000000000" pitchFamily="2" charset="2"/>
              </a:rPr>
              <a:t>subprocess.STDOUT</a:t>
            </a:r>
            <a:r>
              <a:rPr lang="en-US" dirty="0" smtClean="0">
                <a:sym typeface="Wingdings" panose="05000000000000000000" pitchFamily="2" charset="2"/>
              </a:rPr>
              <a:t>)</a:t>
            </a:r>
          </a:p>
          <a:p>
            <a:endParaRPr lang="en-U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79917011"/>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4776</TotalTime>
  <Words>6393</Words>
  <Application>Microsoft Office PowerPoint</Application>
  <PresentationFormat>Panorámica</PresentationFormat>
  <Paragraphs>1390</Paragraphs>
  <Slides>83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83</vt:i4>
      </vt:variant>
    </vt:vector>
  </HeadingPairs>
  <TitlesOfParts>
    <vt:vector size="89" baseType="lpstr">
      <vt:lpstr>Adobe Fan Heiti Std B</vt:lpstr>
      <vt:lpstr>Arial</vt:lpstr>
      <vt:lpstr>Trebuchet MS</vt:lpstr>
      <vt:lpstr>Wingdings</vt:lpstr>
      <vt:lpstr>Wingdings 3</vt:lpstr>
      <vt:lpstr>Faceta</vt:lpstr>
      <vt:lpstr>INTRODUCCIÓN Y APLICACIÓN DE TÉCNICAS DE OPTIMIZACIÓN BASADAS EN INTELIGENCIA COMPUTACIONAL EN PYTHON </vt:lpstr>
      <vt:lpstr>Índice</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Índice</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Y APLICACIÓN DE TÉCNICAS DE OPTIMIZACIÓN BASADAS EN INTELIGENCIA COMPUTACIONAL EN PYTHON</dc:title>
  <dc:creator>dany</dc:creator>
  <cp:lastModifiedBy>dany</cp:lastModifiedBy>
  <cp:revision>225</cp:revision>
  <dcterms:created xsi:type="dcterms:W3CDTF">2015-10-01T16:18:09Z</dcterms:created>
  <dcterms:modified xsi:type="dcterms:W3CDTF">2015-10-27T14:44:19Z</dcterms:modified>
</cp:coreProperties>
</file>